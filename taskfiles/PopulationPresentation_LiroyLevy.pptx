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8" r:id="rId4"/>
    <p:sldId id="269" r:id="rId5"/>
    <p:sldId id="273" r:id="rId6"/>
    <p:sldId id="274" r:id="rId7"/>
    <p:sldId id="275" r:id="rId8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738" autoAdjust="0"/>
  </p:normalViewPr>
  <p:slideViewPr>
    <p:cSldViewPr>
      <p:cViewPr varScale="1">
        <p:scale>
          <a:sx n="107" d="100"/>
          <a:sy n="107" d="100"/>
        </p:scale>
        <p:origin x="2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-1692" y="-9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'population of county'!$A$2:$A$13</c:f>
              <c:numCache>
                <c:formatCode>General</c:formatCode>
                <c:ptCount val="12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</c:numCache>
            </c:numRef>
          </c:xVal>
          <c:yVal>
            <c:numRef>
              <c:f>'population of county'!$B$2:$B$13</c:f>
              <c:numCache>
                <c:formatCode>General</c:formatCode>
                <c:ptCount val="12"/>
                <c:pt idx="0">
                  <c:v>196000</c:v>
                </c:pt>
                <c:pt idx="1">
                  <c:v>329000</c:v>
                </c:pt>
                <c:pt idx="2">
                  <c:v>363000</c:v>
                </c:pt>
                <c:pt idx="3">
                  <c:v>427000</c:v>
                </c:pt>
                <c:pt idx="4">
                  <c:v>531000</c:v>
                </c:pt>
                <c:pt idx="5">
                  <c:v>689000</c:v>
                </c:pt>
                <c:pt idx="6">
                  <c:v>954000</c:v>
                </c:pt>
                <c:pt idx="7">
                  <c:v>1017055</c:v>
                </c:pt>
                <c:pt idx="8">
                  <c:v>1309400</c:v>
                </c:pt>
                <c:pt idx="9">
                  <c:v>1519933</c:v>
                </c:pt>
                <c:pt idx="10">
                  <c:v>1821204</c:v>
                </c:pt>
                <c:pt idx="11">
                  <c:v>2064614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0F0-4596-A7D9-7A7D3BEAB4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71321088"/>
        <c:axId val="1471321504"/>
      </c:scatterChart>
      <c:valAx>
        <c:axId val="1471321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county'!$A$1</c:f>
              <c:strCache>
                <c:ptCount val="1"/>
                <c:pt idx="0">
                  <c:v>Years since 1900</c:v>
                </c:pt>
              </c:strCache>
            </c:strRef>
          </c:tx>
          <c:layout>
            <c:manualLayout>
              <c:xMode val="edge"/>
              <c:yMode val="edge"/>
              <c:x val="0.49957419668733388"/>
              <c:y val="0.908631269957754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504"/>
        <c:crosses val="autoZero"/>
        <c:crossBetween val="midCat"/>
      </c:valAx>
      <c:valAx>
        <c:axId val="147132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088"/>
        <c:crosses val="autoZero"/>
        <c:crossBetween val="midCat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9977587185947052"/>
                  <c:y val="-0.13879265091863516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baseline="0"/>
                      <a:t>y = 16860x + 7825.8</a:t>
                    </a:r>
                    <a:br>
                      <a:rPr lang="en-US" sz="1600" baseline="0"/>
                    </a:br>
                    <a:r>
                      <a:rPr lang="en-US" sz="1600" baseline="0"/>
                      <a:t>R² = 0.9512</a:t>
                    </a:r>
                    <a:endParaRPr lang="en-US" sz="160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'population of county'!$A$2:$A$13</c:f>
              <c:numCache>
                <c:formatCode>General</c:formatCode>
                <c:ptCount val="12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</c:numCache>
            </c:numRef>
          </c:xVal>
          <c:yVal>
            <c:numRef>
              <c:f>'population of county'!$B$2:$B$13</c:f>
              <c:numCache>
                <c:formatCode>General</c:formatCode>
                <c:ptCount val="12"/>
                <c:pt idx="0">
                  <c:v>196000</c:v>
                </c:pt>
                <c:pt idx="1">
                  <c:v>329000</c:v>
                </c:pt>
                <c:pt idx="2">
                  <c:v>363000</c:v>
                </c:pt>
                <c:pt idx="3">
                  <c:v>427000</c:v>
                </c:pt>
                <c:pt idx="4">
                  <c:v>531000</c:v>
                </c:pt>
                <c:pt idx="5">
                  <c:v>689000</c:v>
                </c:pt>
                <c:pt idx="6">
                  <c:v>954000</c:v>
                </c:pt>
                <c:pt idx="7">
                  <c:v>1017055</c:v>
                </c:pt>
                <c:pt idx="8">
                  <c:v>1309400</c:v>
                </c:pt>
                <c:pt idx="9">
                  <c:v>1519933</c:v>
                </c:pt>
                <c:pt idx="10">
                  <c:v>1821204</c:v>
                </c:pt>
                <c:pt idx="11">
                  <c:v>2064614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7EA-46A2-A89E-4CE6C72B6A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71321088"/>
        <c:axId val="1471321504"/>
      </c:scatterChart>
      <c:valAx>
        <c:axId val="1471321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county'!$A$1</c:f>
              <c:strCache>
                <c:ptCount val="1"/>
                <c:pt idx="0">
                  <c:v>Years since 1900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504"/>
        <c:crosses val="autoZero"/>
        <c:crossBetween val="midCat"/>
      </c:valAx>
      <c:valAx>
        <c:axId val="147132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088"/>
        <c:crosses val="autoZero"/>
        <c:crossBetween val="midCat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1"/>
            <c:trendlineLbl>
              <c:layout>
                <c:manualLayout>
                  <c:x val="-5.1037504488084029E-2"/>
                  <c:y val="-6.1968702274936033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baseline="0" dirty="0"/>
                      <a:t>y = 120.02x</a:t>
                    </a:r>
                    <a:r>
                      <a:rPr lang="en-US" sz="1600" baseline="30000" dirty="0"/>
                      <a:t>2</a:t>
                    </a:r>
                    <a:r>
                      <a:rPr lang="en-US" sz="1600" baseline="0" dirty="0"/>
                      <a:t> + 3657.8x + 227855</a:t>
                    </a:r>
                    <a:br>
                      <a:rPr lang="en-US" sz="1600" baseline="0" dirty="0"/>
                    </a:br>
                    <a:r>
                      <a:rPr lang="en-US" sz="1600" baseline="0" dirty="0"/>
                      <a:t>R² = 0.9962</a:t>
                    </a:r>
                    <a:endParaRPr lang="en-US" sz="1600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'population of county'!$A$2:$A$13</c:f>
              <c:numCache>
                <c:formatCode>General</c:formatCode>
                <c:ptCount val="12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</c:numCache>
            </c:numRef>
          </c:xVal>
          <c:yVal>
            <c:numRef>
              <c:f>'population of county'!$B$2:$B$13</c:f>
              <c:numCache>
                <c:formatCode>General</c:formatCode>
                <c:ptCount val="12"/>
                <c:pt idx="0">
                  <c:v>196000</c:v>
                </c:pt>
                <c:pt idx="1">
                  <c:v>329000</c:v>
                </c:pt>
                <c:pt idx="2">
                  <c:v>363000</c:v>
                </c:pt>
                <c:pt idx="3">
                  <c:v>427000</c:v>
                </c:pt>
                <c:pt idx="4">
                  <c:v>531000</c:v>
                </c:pt>
                <c:pt idx="5">
                  <c:v>689000</c:v>
                </c:pt>
                <c:pt idx="6">
                  <c:v>954000</c:v>
                </c:pt>
                <c:pt idx="7">
                  <c:v>1017055</c:v>
                </c:pt>
                <c:pt idx="8">
                  <c:v>1309400</c:v>
                </c:pt>
                <c:pt idx="9">
                  <c:v>1519933</c:v>
                </c:pt>
                <c:pt idx="10">
                  <c:v>1821204</c:v>
                </c:pt>
                <c:pt idx="11">
                  <c:v>2064614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AE5-4FE2-917A-07E004B938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71321088"/>
        <c:axId val="1471321504"/>
      </c:scatterChart>
      <c:valAx>
        <c:axId val="1471321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county'!$A$1</c:f>
              <c:strCache>
                <c:ptCount val="1"/>
                <c:pt idx="0">
                  <c:v>Years since 1900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504"/>
        <c:crosses val="autoZero"/>
        <c:crossBetween val="midCat"/>
      </c:valAx>
      <c:valAx>
        <c:axId val="147132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088"/>
        <c:crosses val="autoZero"/>
        <c:crossBetween val="midCat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1"/>
            <c:dispEq val="1"/>
            <c:trendlineLbl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000" baseline="0" dirty="0"/>
                      <a:t>y = 236712e</a:t>
                    </a:r>
                    <a:r>
                      <a:rPr lang="en-US" sz="2000" baseline="30000" dirty="0"/>
                      <a:t>0.0207x</a:t>
                    </a:r>
                    <a:br>
                      <a:rPr lang="en-US" sz="2000" baseline="0" dirty="0"/>
                    </a:br>
                    <a:r>
                      <a:rPr lang="en-US" sz="2000" baseline="0" dirty="0"/>
                      <a:t>R² = 0.986</a:t>
                    </a:r>
                    <a:endParaRPr lang="en-US" sz="2000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'population of county'!$A$2:$A$13</c:f>
              <c:numCache>
                <c:formatCode>General</c:formatCode>
                <c:ptCount val="12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</c:numCache>
            </c:numRef>
          </c:xVal>
          <c:yVal>
            <c:numRef>
              <c:f>'population of county'!$B$2:$B$13</c:f>
              <c:numCache>
                <c:formatCode>General</c:formatCode>
                <c:ptCount val="12"/>
                <c:pt idx="0">
                  <c:v>196000</c:v>
                </c:pt>
                <c:pt idx="1">
                  <c:v>329000</c:v>
                </c:pt>
                <c:pt idx="2">
                  <c:v>363000</c:v>
                </c:pt>
                <c:pt idx="3">
                  <c:v>427000</c:v>
                </c:pt>
                <c:pt idx="4">
                  <c:v>531000</c:v>
                </c:pt>
                <c:pt idx="5">
                  <c:v>689000</c:v>
                </c:pt>
                <c:pt idx="6">
                  <c:v>954000</c:v>
                </c:pt>
                <c:pt idx="7">
                  <c:v>1017055</c:v>
                </c:pt>
                <c:pt idx="8">
                  <c:v>1309400</c:v>
                </c:pt>
                <c:pt idx="9">
                  <c:v>1519933</c:v>
                </c:pt>
                <c:pt idx="10">
                  <c:v>1821204</c:v>
                </c:pt>
                <c:pt idx="11">
                  <c:v>2064614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E99-42AF-9B22-C4F3F49E5C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71321088"/>
        <c:axId val="1471321504"/>
      </c:scatterChart>
      <c:valAx>
        <c:axId val="1471321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county'!$A$1</c:f>
              <c:strCache>
                <c:ptCount val="1"/>
                <c:pt idx="0">
                  <c:v>Years since 1900</c:v>
                </c:pt>
              </c:strCache>
            </c:strRef>
          </c:tx>
          <c:layout>
            <c:manualLayout>
              <c:xMode val="edge"/>
              <c:yMode val="edge"/>
              <c:x val="0.49957419668733388"/>
              <c:y val="0.908631269957754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504"/>
        <c:crosses val="autoZero"/>
        <c:crossBetween val="midCat"/>
      </c:valAx>
      <c:valAx>
        <c:axId val="147132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'population of county'!$B$1</c:f>
              <c:strCache>
                <c:ptCount val="1"/>
                <c:pt idx="0">
                  <c:v>New Mexico Population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1321088"/>
        <c:crosses val="autoZero"/>
        <c:crossBetween val="midCat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3E087-9505-BDF0-A234-A8F4D37AC5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C7904A-BF62-7BFC-8A42-7CE8F95B245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732F53E-DEA1-47B6-92C1-1E5625BCB505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16D5DC-85C4-DA73-AB93-62414821A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352800" y="533400"/>
            <a:ext cx="5588000" cy="4191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13D0100-CF59-CE87-7C10-C4513F471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4800" y="609600"/>
            <a:ext cx="2743200" cy="4191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9ADE6-1FD4-AF72-A0B2-7B75D46511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E459D-7212-BE69-73F9-568D27747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77C32EE-666B-44C9-8E6F-A27EB3FE793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95F1F9D0-0ABD-D4AC-790A-6E7061E4FC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A3DC8B68-AB41-B55D-64E7-C0B0B94A20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DABC17EF-F908-1F95-FADB-CF53BE9FD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DBB1B1-6CE7-4D8E-9841-3A4FD1AEBF4C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3E87B66-D580-4591-E654-D2D0EC7297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ECA99BF-3180-4C71-AE56-A942775429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BAC77FEA-15F9-CA01-D70B-C5D77E7E2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BBF5FED-B58A-44B1-830C-1AC3CDF1D9D5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09C69C87-26BD-98B8-911D-5663E8F30D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5D2AB564-9E79-4626-2E39-98331226C6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C7A6B82E-6BFA-6BA0-7B6C-A619467BC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91BD4D-9C78-4BC8-B932-EE6A19D8EFBD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4CE91ADF-2061-D641-4EBC-6825BF97A2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CDE1FF28-868C-36C2-0377-AC148452F7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7DAC6569-4837-4C3C-DC41-99E68C25C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698A4F-4803-4AA6-8687-263384BA8C9A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4F998A7-DBD2-3437-B4AB-F4E6E7C3E9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6D1051A-D6F7-F82F-930A-1D65E8EB23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3C2313C6-3E45-0C91-B009-AAD83A91F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EF1A535-CCE6-4C8B-87E5-DB21C1BFB95D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568924F5-8A22-D8A7-8895-8FCED8E2F2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73886D7-450D-BB0E-310F-72F2586196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B1E6B211-AF02-3318-358F-FF1F94EC5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E11EF6-A810-4D42-8EDD-4BCBF364F47F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450B-3438-41E6-DB8F-78DC8AC95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7EEA5-A687-4306-A32C-125A63D6F7CE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EF0F6-B0E6-BA2B-E031-31F8C8BB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18D10-C351-5437-A5E1-F9B7F0EE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0FF9A-DC59-4396-AF7E-C1B52E9D53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87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92AD1F-8665-1A02-D73F-198DDDE4DAB0}"/>
              </a:ext>
            </a:extLst>
          </p:cNvPr>
          <p:cNvCxnSpPr/>
          <p:nvPr userDrawn="1"/>
        </p:nvCxnSpPr>
        <p:spPr>
          <a:xfrm>
            <a:off x="0" y="501650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896"/>
            <a:ext cx="8229600" cy="403304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9437"/>
            <a:ext cx="8229600" cy="55927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C7D79A4-133B-0606-6D70-81C0F844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01DB5-1062-4766-94D7-09EEF3416EA4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A9D1509-9046-B82F-37B7-18AEB862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2F76D5F-6EDB-67D6-FA8C-D2C4E5F2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CC1AC-8254-4B32-B156-787B39E559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79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58472-F8F3-A1C3-425A-14C58AB1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0A9B3-ADC1-4861-888B-8F9A5CEEE0AB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0066-2458-DED5-2164-BB674B09F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CF74-3FFB-A720-613F-391849D0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92ADD7-4D95-4031-96DB-0DFB3B56C7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204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55EDD1-BEF8-EF86-2C28-85CD917AA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A2965-9170-44ED-B0CD-B33078BB4956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DD8460-EFD2-55FD-7F6F-24A2D893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3493692-2F7F-CE18-1614-670AF1DC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E1CE9B-4F26-403D-A2F6-93AE5C4764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92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9CBF9C-B3AF-AF3D-3CD1-CF5E34AF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3D469-E0BF-4196-AC96-AEFD7222579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4835CE3-7B1B-D593-3C6A-7C159B6F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8C7ACA-7257-5169-78C8-96CEA8E6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302A0-E76F-42FA-8025-ED2E16129D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2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6B14657-A37E-3157-B22F-83BBA5B9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9006A-ECC1-4F3C-9EAE-41C11A40E6F7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0ACA14-C2EE-1739-6F10-C150B986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446E9E-F7B5-9784-04A0-D0E9D4CD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B57F6F-06DF-45C7-AB05-562BE843DB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70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13FF7FC-549B-ACEE-0A41-77B4E538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5B6D9-9A07-4B6D-BE4C-B662137D2A68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012CFD-8B72-5EDF-19AA-B59A781C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6EE2B4-54DC-DA2B-D49C-76B105A5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B5C594-15DA-4694-9A58-2D49CAE563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89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C76BFD-8CA7-D10B-4F92-74DDDA78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45F3D-784A-49BE-8BAD-9BD5953763AA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D14142-2265-46D3-AB9E-BBCB35992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5C95C3-C18C-90B0-35C6-3117BD06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528D0A-1182-49C1-9CB4-AA8A80EAAC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88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81B8F2-8B90-090E-E284-19055DD4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DDF5A-3FC5-4CD2-B23B-71E61568673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7C882A-C3F2-24A6-0962-C4C3669A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D6F52B9-48CE-FD40-BB0D-B48219E1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1FB030-32D4-400A-8781-2E4C819850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24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243B8-DC7D-D14A-0402-0BB16EDB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1E65F-F639-4174-9D48-2F34B7D5BD6B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E586C-BF57-8D3C-0B32-EA04CF98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0114C-B6CB-D39F-A79E-6396A8BD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32DCFC-536D-4DD9-BD9B-2F5A127E87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70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2085C-6AD5-B350-8448-DC54F3C6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60972-EA4C-42F4-833C-3F71542DC2C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F1EE5-CE94-C0AA-AA36-CC867605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CB3F0-DC42-A280-1AAB-1442A922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72E02D-0D7E-44FD-A2CF-B957AB5578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9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88CCAAF-EA1A-AE9C-D811-3FFBAA0AD2C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CFF53B7-D018-CCAC-E5C7-C387DE9B66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13CBF-4E15-7066-4040-C52193D1F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28D7D09-890C-42BE-8568-FE92FA15DC6D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827D6-944E-8E63-2E47-42185D1C2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3736-9FAD-C7B8-5C40-FC7A01F5D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CF36004-E88A-4E4B-8BD9-49462E7A23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004E27-36AE-134A-AE2A-2EE99B2DC11F}"/>
              </a:ext>
            </a:extLst>
          </p:cNvPr>
          <p:cNvSpPr/>
          <p:nvPr/>
        </p:nvSpPr>
        <p:spPr>
          <a:xfrm>
            <a:off x="-2514600" y="0"/>
            <a:ext cx="23622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DIRECTIONS: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Replace [Your Name]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with your name.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Replace [State or County]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with the state or county you chose to explore.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75" name="Title 1">
            <a:extLst>
              <a:ext uri="{FF2B5EF4-FFF2-40B4-BE49-F238E27FC236}">
                <a16:creationId xmlns:a16="http://schemas.microsoft.com/office/drawing/2014/main" id="{FCE85F04-2E09-17ED-C1A1-DF63E7F1E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762000"/>
            <a:ext cx="5791200" cy="1470025"/>
          </a:xfrm>
        </p:spPr>
        <p:txBody>
          <a:bodyPr/>
          <a:lstStyle/>
          <a:p>
            <a:pPr eaLnBrk="1" hangingPunct="1"/>
            <a:r>
              <a:rPr lang="en-US" altLang="en-US" sz="5400"/>
              <a:t>Population Analysis</a:t>
            </a:r>
            <a:br>
              <a:rPr lang="en-US" altLang="en-US" sz="5400"/>
            </a:br>
            <a:endParaRPr lang="en-US" altLang="en-US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DFC8B-7867-3D00-DBF4-972FBDCFD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975" y="1752600"/>
            <a:ext cx="76962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Liroy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Levy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031B98-9A32-33AC-9216-3579ECA11796}"/>
              </a:ext>
            </a:extLst>
          </p:cNvPr>
          <p:cNvSpPr txBox="1">
            <a:spLocks/>
          </p:cNvSpPr>
          <p:nvPr/>
        </p:nvSpPr>
        <p:spPr>
          <a:xfrm>
            <a:off x="65088" y="3690938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Exploring the Population of </a:t>
            </a:r>
            <a:b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 Mexico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F957E4-0A6E-1AEE-FF83-146CB75A388F}"/>
              </a:ext>
            </a:extLst>
          </p:cNvPr>
          <p:cNvSpPr/>
          <p:nvPr/>
        </p:nvSpPr>
        <p:spPr>
          <a:xfrm>
            <a:off x="-2514600" y="0"/>
            <a:ext cx="23622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DIRECTIONS: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Complete the table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Replace the data table with a screenshot of your spreadsheet data on the slide.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099" name="Title 1">
            <a:extLst>
              <a:ext uri="{FF2B5EF4-FFF2-40B4-BE49-F238E27FC236}">
                <a16:creationId xmlns:a16="http://schemas.microsoft.com/office/drawing/2014/main" id="{5E3DFA43-063E-D510-BF87-529AF064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975"/>
            <a:ext cx="8229600" cy="403225"/>
          </a:xfrm>
        </p:spPr>
        <p:txBody>
          <a:bodyPr/>
          <a:lstStyle/>
          <a:p>
            <a:pPr eaLnBrk="1" hangingPunct="1"/>
            <a:r>
              <a:rPr lang="en-US" altLang="en-US" b="1"/>
              <a:t>Population Data: [Name of County]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2CFDB8-4531-EA45-8A5F-8EDA9F265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91672"/>
              </p:ext>
            </p:extLst>
          </p:nvPr>
        </p:nvGraphicFramePr>
        <p:xfrm>
          <a:off x="914400" y="762000"/>
          <a:ext cx="3657600" cy="53340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Year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Population</a:t>
                      </a:r>
                      <a:endParaRPr lang="en-US" sz="18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196000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329000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363000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427000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531000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689000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954000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1017055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1309400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1990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1519933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2000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1821204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2010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2064614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DABB65-782D-4EA9-2743-767C67DBAC78}"/>
              </a:ext>
            </a:extLst>
          </p:cNvPr>
          <p:cNvSpPr/>
          <p:nvPr/>
        </p:nvSpPr>
        <p:spPr>
          <a:xfrm>
            <a:off x="-2514600" y="0"/>
            <a:ext cx="23622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DIRECTIONS: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Place a screenshot of your scatter plot next to Plot.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Replace [Discussion] with a discussion of the trend or association between the variables</a:t>
            </a:r>
            <a:r>
              <a:rPr lang="en-US" sz="1600">
                <a:solidFill>
                  <a:schemeClr val="tx1"/>
                </a:solidFill>
              </a:rPr>
              <a:t>.  </a:t>
            </a:r>
            <a:endParaRPr lang="en-US" sz="1600" dirty="0">
              <a:solidFill>
                <a:schemeClr val="tx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123" name="Title 1">
            <a:extLst>
              <a:ext uri="{FF2B5EF4-FFF2-40B4-BE49-F238E27FC236}">
                <a16:creationId xmlns:a16="http://schemas.microsoft.com/office/drawing/2014/main" id="{35C2DD82-FFAA-1C9B-E204-1F1BB2DA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975"/>
            <a:ext cx="8229600" cy="403225"/>
          </a:xfrm>
        </p:spPr>
        <p:txBody>
          <a:bodyPr/>
          <a:lstStyle/>
          <a:p>
            <a:pPr eaLnBrk="1" hangingPunct="1"/>
            <a:r>
              <a:rPr lang="en-US" altLang="en-US" b="1"/>
              <a:t>Data: 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39C5B-9E12-80E4-F2A2-CDFCF27DF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9438"/>
            <a:ext cx="8382000" cy="1782762"/>
          </a:xfrm>
        </p:spPr>
        <p:txBody>
          <a:bodyPr rtlCol="0"/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Plot: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5125" name="Content Placeholder 2">
            <a:extLst>
              <a:ext uri="{FF2B5EF4-FFF2-40B4-BE49-F238E27FC236}">
                <a16:creationId xmlns:a16="http://schemas.microsoft.com/office/drawing/2014/main" id="{1D0C2C81-F8C7-5A8F-2113-4D2C97DDD20A}"/>
              </a:ext>
            </a:extLst>
          </p:cNvPr>
          <p:cNvSpPr txBox="1">
            <a:spLocks/>
          </p:cNvSpPr>
          <p:nvPr/>
        </p:nvSpPr>
        <p:spPr bwMode="auto">
          <a:xfrm>
            <a:off x="457200" y="4572000"/>
            <a:ext cx="8305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 dirty="0"/>
              <a:t>There is a positive growth pattern in the population since 1900 </a:t>
            </a:r>
            <a:r>
              <a:rPr lang="en-US" altLang="en-US" sz="2000" dirty="0" err="1"/>
              <a:t>upto</a:t>
            </a:r>
            <a:r>
              <a:rPr lang="en-US" altLang="en-US" sz="2000" dirty="0"/>
              <a:t> 2010. There is a strong positive association all along the years and as the years increase, so does the population.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7FC8C33-D7BE-C792-55EE-F47D91F3D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8054197"/>
              </p:ext>
            </p:extLst>
          </p:nvPr>
        </p:nvGraphicFramePr>
        <p:xfrm>
          <a:off x="1371600" y="776287"/>
          <a:ext cx="5976938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80708E-8DF4-7B1D-5C80-2F1BAFC76B5F}"/>
              </a:ext>
            </a:extLst>
          </p:cNvPr>
          <p:cNvSpPr/>
          <p:nvPr/>
        </p:nvSpPr>
        <p:spPr>
          <a:xfrm>
            <a:off x="-2514600" y="0"/>
            <a:ext cx="23622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DIRECTIONS: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Place a screenshot of your scatter plot, displaying the regression line, regression equation, and coefficient of determination, next to Plot.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Replace [Discussion] with your discussion about how well the linear model fits the data.</a:t>
            </a:r>
          </a:p>
        </p:txBody>
      </p:sp>
      <p:sp>
        <p:nvSpPr>
          <p:cNvPr id="6147" name="Title 1">
            <a:extLst>
              <a:ext uri="{FF2B5EF4-FFF2-40B4-BE49-F238E27FC236}">
                <a16:creationId xmlns:a16="http://schemas.microsoft.com/office/drawing/2014/main" id="{156C78EB-AFD1-CEF4-52FD-F499DB47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975"/>
            <a:ext cx="8229600" cy="403225"/>
          </a:xfrm>
        </p:spPr>
        <p:txBody>
          <a:bodyPr/>
          <a:lstStyle/>
          <a:p>
            <a:pPr eaLnBrk="1" hangingPunct="1"/>
            <a:r>
              <a:rPr lang="en-US" altLang="en-US" b="1"/>
              <a:t>Linear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F0C25-173E-108C-C76B-94CAB2BEE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9438"/>
            <a:ext cx="8382000" cy="1935162"/>
          </a:xfrm>
        </p:spPr>
        <p:txBody>
          <a:bodyPr rtlCol="0"/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Plot: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6149" name="Content Placeholder 2">
            <a:extLst>
              <a:ext uri="{FF2B5EF4-FFF2-40B4-BE49-F238E27FC236}">
                <a16:creationId xmlns:a16="http://schemas.microsoft.com/office/drawing/2014/main" id="{06DA0F2C-1821-9802-A937-8E62CA3F3DAC}"/>
              </a:ext>
            </a:extLst>
          </p:cNvPr>
          <p:cNvSpPr txBox="1">
            <a:spLocks/>
          </p:cNvSpPr>
          <p:nvPr/>
        </p:nvSpPr>
        <p:spPr bwMode="auto">
          <a:xfrm>
            <a:off x="461963" y="4572000"/>
            <a:ext cx="8224837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 dirty="0"/>
              <a:t>The linear model is a good model since most of the points lie within the trendline. The coefficient of determination (r-squared) = 0.9512 meaning that 95.12% of the variation in the New Mexico population is explained by the change in years.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7FC8C33-D7BE-C792-55EE-F47D91F3D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381909"/>
              </p:ext>
            </p:extLst>
          </p:nvPr>
        </p:nvGraphicFramePr>
        <p:xfrm>
          <a:off x="1371600" y="650781"/>
          <a:ext cx="5976938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199337-AE0D-0B07-2F21-B5AFAA967BDC}"/>
              </a:ext>
            </a:extLst>
          </p:cNvPr>
          <p:cNvSpPr/>
          <p:nvPr/>
        </p:nvSpPr>
        <p:spPr>
          <a:xfrm>
            <a:off x="-2514600" y="0"/>
            <a:ext cx="23622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DIRECTIONS: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Place a screenshot of your scatter plot, displaying the quadratic regression curve, regression equation, and coefficient of determination, next to Plot.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Replace [Discussion] with your discussion about how well the quadratic model fits the data and whether the quadratic model is a better fit than the linear model.</a:t>
            </a:r>
          </a:p>
        </p:txBody>
      </p:sp>
      <p:sp>
        <p:nvSpPr>
          <p:cNvPr id="7171" name="Title 1">
            <a:extLst>
              <a:ext uri="{FF2B5EF4-FFF2-40B4-BE49-F238E27FC236}">
                <a16:creationId xmlns:a16="http://schemas.microsoft.com/office/drawing/2014/main" id="{8CDA8D27-4489-3686-A9FF-C95F6041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975"/>
            <a:ext cx="8229600" cy="403225"/>
          </a:xfrm>
        </p:spPr>
        <p:txBody>
          <a:bodyPr/>
          <a:lstStyle/>
          <a:p>
            <a:pPr eaLnBrk="1" hangingPunct="1"/>
            <a:r>
              <a:rPr lang="en-US" altLang="en-US" b="1"/>
              <a:t>Quadratic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B996-A13A-9209-5534-A60559D38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9438"/>
            <a:ext cx="8382000" cy="1935162"/>
          </a:xfrm>
        </p:spPr>
        <p:txBody>
          <a:bodyPr rtlCol="0"/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Plot: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7173" name="Content Placeholder 2">
            <a:extLst>
              <a:ext uri="{FF2B5EF4-FFF2-40B4-BE49-F238E27FC236}">
                <a16:creationId xmlns:a16="http://schemas.microsoft.com/office/drawing/2014/main" id="{F398F2E4-BB9F-B09B-9D4E-EB2FC15298F2}"/>
              </a:ext>
            </a:extLst>
          </p:cNvPr>
          <p:cNvSpPr txBox="1">
            <a:spLocks/>
          </p:cNvSpPr>
          <p:nvPr/>
        </p:nvSpPr>
        <p:spPr bwMode="auto">
          <a:xfrm>
            <a:off x="461963" y="4572000"/>
            <a:ext cx="8224837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 dirty="0"/>
              <a:t>The quadratic model is a great model than the linear model since almost all points lie on the trendline. The coefficient of determination (r-squared) increases from 0.9512 to 0.9962 meaning that 99.62% of the variation in the New Mexico population is explained by the change in years.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7FC8C33-D7BE-C792-55EE-F47D91F3D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9038386"/>
              </p:ext>
            </p:extLst>
          </p:nvPr>
        </p:nvGraphicFramePr>
        <p:xfrm>
          <a:off x="1371600" y="804022"/>
          <a:ext cx="5976938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87EF18-1B10-66F8-9787-435CDD1DE52D}"/>
              </a:ext>
            </a:extLst>
          </p:cNvPr>
          <p:cNvSpPr/>
          <p:nvPr/>
        </p:nvSpPr>
        <p:spPr>
          <a:xfrm>
            <a:off x="-2514600" y="0"/>
            <a:ext cx="23622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DIRECTIONS: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Place a screenshot of your scatter plot, displaying the exponential regression curve, regression equation, and coefficient of determination, next to Plot.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Replace [Discussion] with your discussion about how well the exponential model fits the data and whether the exponential model is a better fit than either the linear or quadratic models.</a:t>
            </a:r>
          </a:p>
        </p:txBody>
      </p:sp>
      <p:sp>
        <p:nvSpPr>
          <p:cNvPr id="8195" name="Title 1">
            <a:extLst>
              <a:ext uri="{FF2B5EF4-FFF2-40B4-BE49-F238E27FC236}">
                <a16:creationId xmlns:a16="http://schemas.microsoft.com/office/drawing/2014/main" id="{3251E84F-BE5E-74DA-1162-DD9567B1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975"/>
            <a:ext cx="8229600" cy="403225"/>
          </a:xfrm>
        </p:spPr>
        <p:txBody>
          <a:bodyPr/>
          <a:lstStyle/>
          <a:p>
            <a:pPr eaLnBrk="1" hangingPunct="1"/>
            <a:r>
              <a:rPr lang="en-US" altLang="en-US" b="1"/>
              <a:t>Exponential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1E168-2D17-FBEF-41B5-57FCEC989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9438"/>
            <a:ext cx="8382000" cy="1935162"/>
          </a:xfrm>
        </p:spPr>
        <p:txBody>
          <a:bodyPr rtlCol="0"/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Plot: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8197" name="Content Placeholder 2">
            <a:extLst>
              <a:ext uri="{FF2B5EF4-FFF2-40B4-BE49-F238E27FC236}">
                <a16:creationId xmlns:a16="http://schemas.microsoft.com/office/drawing/2014/main" id="{D8699452-16C8-8226-B062-47C5E299B05C}"/>
              </a:ext>
            </a:extLst>
          </p:cNvPr>
          <p:cNvSpPr txBox="1">
            <a:spLocks/>
          </p:cNvSpPr>
          <p:nvPr/>
        </p:nvSpPr>
        <p:spPr bwMode="auto">
          <a:xfrm>
            <a:off x="461963" y="4572000"/>
            <a:ext cx="8224837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 dirty="0"/>
              <a:t>The exponential model is a better model than the linear model since most points lie on the trendline but a less better model in comparison to the quadratic model. The coefficient of determination (r-squared) is 0.986 which is greater than that of the linear model but less than that of the quadratic model. The coefficient of determination means that 98.6% of the variation in the New Mexico population is explained by the change in years.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7FC8C33-D7BE-C792-55EE-F47D91F3D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7105723"/>
              </p:ext>
            </p:extLst>
          </p:nvPr>
        </p:nvGraphicFramePr>
        <p:xfrm>
          <a:off x="1295400" y="746125"/>
          <a:ext cx="5976938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DCAE63-8C68-01C7-4FFF-F554165A602D}"/>
              </a:ext>
            </a:extLst>
          </p:cNvPr>
          <p:cNvSpPr/>
          <p:nvPr/>
        </p:nvSpPr>
        <p:spPr>
          <a:xfrm>
            <a:off x="-2514600" y="0"/>
            <a:ext cx="23622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DIRECTIONS: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Replace [</a:t>
            </a:r>
            <a:r>
              <a:rPr lang="en-US" sz="1600" i="1" dirty="0">
                <a:solidFill>
                  <a:schemeClr val="tx1"/>
                </a:solidFill>
              </a:rPr>
              <a:t>y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tx1"/>
                </a:solidFill>
              </a:rPr>
              <a:t>mx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i="1" dirty="0">
                <a:solidFill>
                  <a:schemeClr val="tx1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or </a:t>
            </a:r>
            <a:r>
              <a:rPr lang="en-US" sz="1600" i="1" dirty="0">
                <a:solidFill>
                  <a:schemeClr val="tx1"/>
                </a:solidFill>
              </a:rPr>
              <a:t>y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tx1"/>
                </a:solidFill>
              </a:rPr>
              <a:t>ax</a:t>
            </a:r>
            <a:r>
              <a:rPr lang="en-US" sz="1600" baseline="30000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i="1" dirty="0" err="1">
                <a:solidFill>
                  <a:schemeClr val="tx1"/>
                </a:solidFill>
              </a:rPr>
              <a:t>bx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i="1" dirty="0">
                <a:solidFill>
                  <a:schemeClr val="tx1"/>
                </a:solidFill>
              </a:rPr>
              <a:t>c</a:t>
            </a:r>
            <a:r>
              <a:rPr lang="en-US" sz="1600" dirty="0">
                <a:solidFill>
                  <a:schemeClr val="tx1"/>
                </a:solidFill>
              </a:rPr>
              <a:t> or </a:t>
            </a:r>
            <a:r>
              <a:rPr lang="en-US" sz="1600" i="1" dirty="0">
                <a:solidFill>
                  <a:schemeClr val="tx1"/>
                </a:solidFill>
              </a:rPr>
              <a:t>y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UniMath"/>
                <a:ea typeface="UniMath"/>
              </a:rPr>
              <a:t>· </a:t>
            </a:r>
            <a:r>
              <a:rPr lang="en-US" sz="1600" i="1" dirty="0" err="1">
                <a:solidFill>
                  <a:schemeClr val="tx1"/>
                </a:solidFill>
              </a:rPr>
              <a:t>b</a:t>
            </a:r>
            <a:r>
              <a:rPr lang="en-US" sz="1600" i="1" baseline="30000" dirty="0" err="1">
                <a:solidFill>
                  <a:schemeClr val="tx1"/>
                </a:solidFill>
              </a:rPr>
              <a:t>x</a:t>
            </a:r>
            <a:r>
              <a:rPr lang="en-US" sz="1600" dirty="0">
                <a:solidFill>
                  <a:schemeClr val="tx1"/>
                </a:solidFill>
              </a:rPr>
              <a:t>]  with the equation of the regression model that best fit your data.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Use the equation to predict the population 20 years from now. Replace [state or county] with your state or county name, [year] with the year that is 20 years from now, and [prediction] with your predicted population.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</a:rPr>
              <a:t>Replace [Discussion] with a discussion about how much confidence you have in your prediction and why.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219" name="Title 1">
            <a:extLst>
              <a:ext uri="{FF2B5EF4-FFF2-40B4-BE49-F238E27FC236}">
                <a16:creationId xmlns:a16="http://schemas.microsoft.com/office/drawing/2014/main" id="{D135146B-9E77-4BC9-82B0-5D984AD7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975"/>
            <a:ext cx="8229600" cy="403225"/>
          </a:xfrm>
        </p:spPr>
        <p:txBody>
          <a:bodyPr/>
          <a:lstStyle/>
          <a:p>
            <a:pPr eaLnBrk="1" hangingPunct="1"/>
            <a:r>
              <a:rPr lang="en-US" altLang="en-US" b="1"/>
              <a:t>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475DF-0091-E708-6099-C2DB19CD0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08038"/>
            <a:ext cx="8382000" cy="944562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Regression model: y = 120.02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r>
              <a:rPr lang="en-US" dirty="0"/>
              <a:t> + 3657.8x + 227855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9221" name="Content Placeholder 2">
            <a:extLst>
              <a:ext uri="{FF2B5EF4-FFF2-40B4-BE49-F238E27FC236}">
                <a16:creationId xmlns:a16="http://schemas.microsoft.com/office/drawing/2014/main" id="{F0B1D14B-430F-2E9F-39BD-B0D0667924F9}"/>
              </a:ext>
            </a:extLst>
          </p:cNvPr>
          <p:cNvSpPr txBox="1">
            <a:spLocks/>
          </p:cNvSpPr>
          <p:nvPr/>
        </p:nvSpPr>
        <p:spPr bwMode="auto">
          <a:xfrm>
            <a:off x="457200" y="1938338"/>
            <a:ext cx="8382000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 dirty="0"/>
              <a:t>This model allows me to predict that the population of New Mexico in 2045 will be about 3,281,657.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 dirty="0"/>
              <a:t>I am very confident with this prediction because the coefficient of determination is very precise and also the positive growth trend will still be maintained. 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>
          <a:solidFill>
            <a:schemeClr val="tx1"/>
          </a:solidFill>
        </a:ln>
      </a:spPr>
      <a:bodyPr rtlCol="0" anchor="t" anchorCtr="0"/>
      <a:lstStyle>
        <a:defPPr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685</Words>
  <Application>Microsoft Office PowerPoint</Application>
  <PresentationFormat>On-screen Show (4:3)</PresentationFormat>
  <Paragraphs>108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UniMath</vt:lpstr>
      <vt:lpstr>Office Theme</vt:lpstr>
      <vt:lpstr>Population Analysis </vt:lpstr>
      <vt:lpstr>Population Data: [Name of County]</vt:lpstr>
      <vt:lpstr>Data: Scatter Plot</vt:lpstr>
      <vt:lpstr>Linear Model</vt:lpstr>
      <vt:lpstr>Quadratic Model</vt:lpstr>
      <vt:lpstr>Exponential Model</vt:lpstr>
      <vt:lpstr>Prediction</vt:lpstr>
    </vt:vector>
  </TitlesOfParts>
  <Company>K12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in the Media</dc:title>
  <dc:creator>Michele Patrick</dc:creator>
  <cp:lastModifiedBy>Microsoft Account</cp:lastModifiedBy>
  <cp:revision>71</cp:revision>
  <dcterms:created xsi:type="dcterms:W3CDTF">2013-01-16T17:23:35Z</dcterms:created>
  <dcterms:modified xsi:type="dcterms:W3CDTF">2025-02-05T17:49:54Z</dcterms:modified>
</cp:coreProperties>
</file>