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68" r:id="rId4"/>
    <p:sldId id="276" r:id="rId5"/>
    <p:sldId id="279" r:id="rId6"/>
    <p:sldId id="280" r:id="rId7"/>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7122" autoAdjust="0"/>
  </p:normalViewPr>
  <p:slideViewPr>
    <p:cSldViewPr>
      <p:cViewPr varScale="1">
        <p:scale>
          <a:sx n="83" d="100"/>
          <a:sy n="83" d="100"/>
        </p:scale>
        <p:origin x="150" y="61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115" d="100"/>
          <a:sy n="115" d="100"/>
        </p:scale>
        <p:origin x="-1692" y="-9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D:\G-Drive\Excel.Docs\RetirementSpreadsheet_LiroyLevy.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800" b="1" i="0" u="none" strike="noStrike" baseline="0">
                <a:solidFill>
                  <a:srgbClr val="000000"/>
                </a:solidFill>
                <a:latin typeface="Calibri"/>
                <a:ea typeface="Calibri"/>
                <a:cs typeface="Calibri"/>
              </a:defRPr>
            </a:pPr>
            <a:r>
              <a:rPr lang="en-US"/>
              <a:t>Amount in Retirement Account</a:t>
            </a:r>
          </a:p>
        </c:rich>
      </c:tx>
      <c:overlay val="0"/>
    </c:title>
    <c:autoTitleDeleted val="0"/>
    <c:plotArea>
      <c:layout/>
      <c:barChart>
        <c:barDir val="col"/>
        <c:grouping val="clustered"/>
        <c:varyColors val="0"/>
        <c:ser>
          <c:idx val="0"/>
          <c:order val="0"/>
          <c:invertIfNegative val="0"/>
          <c:val>
            <c:numRef>
              <c:f>Worksheet!$A$3:$A$42</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val>
          <c:extLst>
            <c:ext xmlns:c16="http://schemas.microsoft.com/office/drawing/2014/chart" uri="{C3380CC4-5D6E-409C-BE32-E72D297353CC}">
              <c16:uniqueId val="{00000000-C452-4651-ABD2-F27ADC4A78EB}"/>
            </c:ext>
          </c:extLst>
        </c:ser>
        <c:ser>
          <c:idx val="1"/>
          <c:order val="1"/>
          <c:invertIfNegative val="0"/>
          <c:val>
            <c:numRef>
              <c:f>Worksheet!$N$3:$N$42</c:f>
              <c:numCache>
                <c:formatCode>"$"#,##0.00</c:formatCode>
                <c:ptCount val="40"/>
                <c:pt idx="0">
                  <c:v>3708.3004227227498</c:v>
                </c:pt>
                <c:pt idx="1">
                  <c:v>7758.8401912977934</c:v>
                </c:pt>
                <c:pt idx="2">
                  <c:v>12177.843135878074</c:v>
                </c:pt>
                <c:pt idx="3">
                  <c:v>16993.458475822023</c:v>
                </c:pt>
                <c:pt idx="4">
                  <c:v>22235.900599562992</c:v>
                </c:pt>
                <c:pt idx="5">
                  <c:v>27937.598961043241</c:v>
                </c:pt>
                <c:pt idx="6">
                  <c:v>34133.358824277304</c:v>
                </c:pt>
                <c:pt idx="7">
                  <c:v>40860.533640498623</c:v>
                </c:pt>
                <c:pt idx="8">
                  <c:v>48159.20989905695</c:v>
                </c:pt>
                <c:pt idx="9">
                  <c:v>56072.405354047114</c:v>
                </c:pt>
                <c:pt idx="10">
                  <c:v>64646.281593858002</c:v>
                </c:pt>
                <c:pt idx="11">
                  <c:v>73930.371990755433</c:v>
                </c:pt>
                <c:pt idx="12">
                  <c:v>83977.826142589591</c:v>
                </c:pt>
                <c:pt idx="13">
                  <c:v>94845.671999117098</c:v>
                </c:pt>
                <c:pt idx="14">
                  <c:v>106595.09695163714</c:v>
                </c:pt>
                <c:pt idx="15">
                  <c:v>119291.74925708576</c:v>
                </c:pt>
                <c:pt idx="16">
                  <c:v>133006.06126685758</c:v>
                </c:pt>
                <c:pt idx="17">
                  <c:v>147813.59603691343</c:v>
                </c:pt>
                <c:pt idx="18">
                  <c:v>163795.41900971215</c:v>
                </c:pt>
                <c:pt idx="19">
                  <c:v>181038.49658071727</c:v>
                </c:pt>
                <c:pt idx="20">
                  <c:v>199636.12349327892</c:v>
                </c:pt>
                <c:pt idx="21">
                  <c:v>219688.38114621691</c:v>
                </c:pt>
                <c:pt idx="22">
                  <c:v>241302.62904911171</c:v>
                </c:pt>
                <c:pt idx="23">
                  <c:v>264594.03182188654</c:v>
                </c:pt>
                <c:pt idx="24">
                  <c:v>289686.12430852052</c:v>
                </c:pt>
                <c:pt idx="25">
                  <c:v>316711.41756050842</c:v>
                </c:pt>
                <c:pt idx="26">
                  <c:v>345812.04864490195</c:v>
                </c:pt>
                <c:pt idx="27">
                  <c:v>377140.47744537023</c:v>
                </c:pt>
                <c:pt idx="28">
                  <c:v>410860.23385378072</c:v>
                </c:pt>
                <c:pt idx="29">
                  <c:v>447146.71899540228</c:v>
                </c:pt>
                <c:pt idx="30">
                  <c:v>486188.06439421483</c:v>
                </c:pt>
                <c:pt idx="31">
                  <c:v>528186.05326720444</c:v>
                </c:pt>
                <c:pt idx="32">
                  <c:v>573357.10843935353</c:v>
                </c:pt>
                <c:pt idx="33">
                  <c:v>621933.35169574583</c:v>
                </c:pt>
                <c:pt idx="34">
                  <c:v>674163.73973539006</c:v>
                </c:pt>
                <c:pt idx="35">
                  <c:v>730315.28226474102</c:v>
                </c:pt>
                <c:pt idx="36">
                  <c:v>790674.34816921176</c:v>
                </c:pt>
                <c:pt idx="37">
                  <c:v>855548.06613030424</c:v>
                </c:pt>
                <c:pt idx="38">
                  <c:v>925265.82651626749</c:v>
                </c:pt>
                <c:pt idx="39">
                  <c:v>1000180.891867828</c:v>
                </c:pt>
              </c:numCache>
            </c:numRef>
          </c:val>
          <c:extLst>
            <c:ext xmlns:c16="http://schemas.microsoft.com/office/drawing/2014/chart" uri="{C3380CC4-5D6E-409C-BE32-E72D297353CC}">
              <c16:uniqueId val="{00000001-C452-4651-ABD2-F27ADC4A78EB}"/>
            </c:ext>
          </c:extLst>
        </c:ser>
        <c:dLbls>
          <c:showLegendKey val="0"/>
          <c:showVal val="0"/>
          <c:showCatName val="0"/>
          <c:showSerName val="0"/>
          <c:showPercent val="0"/>
          <c:showBubbleSize val="0"/>
        </c:dLbls>
        <c:gapWidth val="150"/>
        <c:axId val="1364219280"/>
        <c:axId val="1"/>
      </c:barChart>
      <c:catAx>
        <c:axId val="1364219280"/>
        <c:scaling>
          <c:orientation val="minMax"/>
        </c:scaling>
        <c:delete val="0"/>
        <c:axPos val="b"/>
        <c:title>
          <c:tx>
            <c:rich>
              <a:bodyPr/>
              <a:lstStyle/>
              <a:p>
                <a:pPr>
                  <a:defRPr sz="1000" b="1" i="0" u="none" strike="noStrike" baseline="0">
                    <a:solidFill>
                      <a:srgbClr val="000000"/>
                    </a:solidFill>
                    <a:latin typeface="Calibri"/>
                    <a:ea typeface="Calibri"/>
                    <a:cs typeface="Calibri"/>
                  </a:defRPr>
                </a:pPr>
                <a:r>
                  <a:rPr lang="en-US"/>
                  <a:t>Year</a:t>
                </a:r>
              </a:p>
            </c:rich>
          </c:tx>
          <c:overlay val="0"/>
        </c:title>
        <c:numFmt formatCode="General" sourceLinked="1"/>
        <c:majorTickMark val="out"/>
        <c:minorTickMark val="none"/>
        <c:tickLblPos val="nextTo"/>
        <c:txPr>
          <a:bodyPr rot="0" vert="horz"/>
          <a:lstStyle/>
          <a:p>
            <a:pPr>
              <a:defRPr sz="1000" b="0" i="0" u="none" strike="noStrike" baseline="0">
                <a:solidFill>
                  <a:srgbClr val="000000"/>
                </a:solidFill>
                <a:latin typeface="Calibri"/>
                <a:ea typeface="Calibri"/>
                <a:cs typeface="Calibri"/>
              </a:defRPr>
            </a:pPr>
            <a:endParaRPr lang="en-US"/>
          </a:p>
        </c:txPr>
        <c:crossAx val="1"/>
        <c:crosses val="autoZero"/>
        <c:auto val="1"/>
        <c:lblAlgn val="ctr"/>
        <c:lblOffset val="100"/>
        <c:tickLblSkip val="2"/>
        <c:noMultiLvlLbl val="0"/>
      </c:catAx>
      <c:valAx>
        <c:axId val="1"/>
        <c:scaling>
          <c:orientation val="minMax"/>
        </c:scaling>
        <c:delete val="0"/>
        <c:axPos val="l"/>
        <c:majorGridlines/>
        <c:title>
          <c:tx>
            <c:rich>
              <a:bodyPr/>
              <a:lstStyle/>
              <a:p>
                <a:pPr>
                  <a:defRPr sz="1000" b="1" i="0" u="none" strike="noStrike" baseline="0">
                    <a:solidFill>
                      <a:srgbClr val="000000"/>
                    </a:solidFill>
                    <a:latin typeface="Calibri"/>
                    <a:ea typeface="Calibri"/>
                    <a:cs typeface="Calibri"/>
                  </a:defRPr>
                </a:pPr>
                <a:r>
                  <a:rPr lang="en-US"/>
                  <a:t>Amount ($)</a:t>
                </a:r>
              </a:p>
            </c:rich>
          </c:tx>
          <c:overlay val="0"/>
        </c:title>
        <c:numFmt formatCode="#,##0" sourceLinked="0"/>
        <c:majorTickMark val="out"/>
        <c:minorTickMark val="none"/>
        <c:tickLblPos val="nextTo"/>
        <c:txPr>
          <a:bodyPr rot="0" vert="horz"/>
          <a:lstStyle/>
          <a:p>
            <a:pPr>
              <a:defRPr sz="1000" b="0" i="0" u="none" strike="noStrike" baseline="0">
                <a:solidFill>
                  <a:srgbClr val="000000"/>
                </a:solidFill>
                <a:latin typeface="Calibri"/>
                <a:ea typeface="Calibri"/>
                <a:cs typeface="Calibri"/>
              </a:defRPr>
            </a:pPr>
            <a:endParaRPr lang="en-US"/>
          </a:p>
        </c:txPr>
        <c:crossAx val="1364219280"/>
        <c:crosses val="autoZero"/>
        <c:crossBetween val="between"/>
      </c:valAx>
    </c:plotArea>
    <c:plotVisOnly val="1"/>
    <c:dispBlanksAs val="gap"/>
    <c:showDLblsOverMax val="0"/>
  </c:chart>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0B4DD2-3704-696F-D8F5-AB67EBFF7BA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5825C67D-EDFC-97FE-19C5-0950D1A0DA1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DBD56383-84C2-44E5-A993-968430683BDA}" type="datetimeFigureOut">
              <a:rPr lang="en-US"/>
              <a:pPr>
                <a:defRPr/>
              </a:pPr>
              <a:t>2/20/2025</a:t>
            </a:fld>
            <a:endParaRPr lang="en-US"/>
          </a:p>
        </p:txBody>
      </p:sp>
      <p:sp>
        <p:nvSpPr>
          <p:cNvPr id="4" name="Slide Image Placeholder 3">
            <a:extLst>
              <a:ext uri="{FF2B5EF4-FFF2-40B4-BE49-F238E27FC236}">
                <a16:creationId xmlns:a16="http://schemas.microsoft.com/office/drawing/2014/main" id="{880FB5CC-D264-7950-00D1-7B0957E72A71}"/>
              </a:ext>
            </a:extLst>
          </p:cNvPr>
          <p:cNvSpPr>
            <a:spLocks noGrp="1" noRot="1" noChangeAspect="1"/>
          </p:cNvSpPr>
          <p:nvPr>
            <p:ph type="sldImg" idx="2"/>
          </p:nvPr>
        </p:nvSpPr>
        <p:spPr>
          <a:xfrm>
            <a:off x="3352800" y="533400"/>
            <a:ext cx="5588000" cy="4191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86A406E0-207D-EE0E-2341-1AC27E4DACC1}"/>
              </a:ext>
            </a:extLst>
          </p:cNvPr>
          <p:cNvSpPr>
            <a:spLocks noGrp="1"/>
          </p:cNvSpPr>
          <p:nvPr>
            <p:ph type="body" sz="quarter" idx="3"/>
          </p:nvPr>
        </p:nvSpPr>
        <p:spPr>
          <a:xfrm>
            <a:off x="304800" y="609600"/>
            <a:ext cx="2743200" cy="4191000"/>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AA10EE17-8ECF-5C91-D3A3-092582BE00D0}"/>
              </a:ext>
            </a:extLst>
          </p:cNvPr>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475B2E9-B1F4-B242-7754-67263DAB8ED8}"/>
              </a:ext>
            </a:extLst>
          </p:cNvPr>
          <p:cNvSpPr>
            <a:spLocks noGrp="1"/>
          </p:cNvSpPr>
          <p:nvPr>
            <p:ph type="sldNum" sz="quarter" idx="5"/>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C5BEF69E-FEBB-4622-AC0C-89ADE99372E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40AD5BEC-BD9A-F140-DBEE-80A81CCC13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25361009-F04F-0CF2-9438-F3548AC07C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0244" name="Slide Number Placeholder 3">
            <a:extLst>
              <a:ext uri="{FF2B5EF4-FFF2-40B4-BE49-F238E27FC236}">
                <a16:creationId xmlns:a16="http://schemas.microsoft.com/office/drawing/2014/main" id="{C08FE741-752A-7B47-E209-C2AFF877F9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8F8C956-8CA4-4CAC-9ED1-30B35DE3F919}"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47AC17E1-EDA0-FB25-DF3C-5B64A5D637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C83D02C1-3446-57E8-9827-398D4A6F720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1268" name="Slide Number Placeholder 3">
            <a:extLst>
              <a:ext uri="{FF2B5EF4-FFF2-40B4-BE49-F238E27FC236}">
                <a16:creationId xmlns:a16="http://schemas.microsoft.com/office/drawing/2014/main" id="{18AE1EDB-3526-5CFD-7AAD-290C607907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62E934C-8F8D-4B16-BD38-5534D4F88124}" type="slidenum">
              <a:rPr lang="en-US" altLang="en-US"/>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A315F4B3-9816-5D8A-076A-81D8430B60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4B564483-0B59-6675-AFCD-A9E0454202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2292" name="Slide Number Placeholder 3">
            <a:extLst>
              <a:ext uri="{FF2B5EF4-FFF2-40B4-BE49-F238E27FC236}">
                <a16:creationId xmlns:a16="http://schemas.microsoft.com/office/drawing/2014/main" id="{278B5A00-6668-3AD4-B0BC-D6F74EABC1C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5CB7F90-0C76-4DA3-95E5-F368FE94CB54}" type="slidenum">
              <a:rPr lang="en-US" altLang="en-US"/>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7BD61C55-3571-E69E-6E1F-DB23E4BCBB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CD6DC632-CD90-BCE3-2F85-CB8D57D150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3316" name="Slide Number Placeholder 3">
            <a:extLst>
              <a:ext uri="{FF2B5EF4-FFF2-40B4-BE49-F238E27FC236}">
                <a16:creationId xmlns:a16="http://schemas.microsoft.com/office/drawing/2014/main" id="{D7C261DC-7FC9-8669-6FCC-0205967497F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D8D33E8-23BA-4553-8370-64D19F3BA0E6}" type="slidenum">
              <a:rPr lang="en-US" altLang="en-US"/>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5A507FA1-5288-6B4A-3CA8-141144FDEA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7DFD8CED-05BC-7A86-49F9-5266FF776F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E270128C-D4D3-9C14-B472-CD5B9D5C8A0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90BFC06-FC8B-4BD1-AE8A-8F932158EA5D}" type="slidenum">
              <a:rPr lang="en-US" altLang="en-US"/>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B34683C9-AA45-801E-AF33-205DA3DE9C9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51FCEB5D-08A0-0C5C-436D-1866F3F261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5364" name="Slide Number Placeholder 3">
            <a:extLst>
              <a:ext uri="{FF2B5EF4-FFF2-40B4-BE49-F238E27FC236}">
                <a16:creationId xmlns:a16="http://schemas.microsoft.com/office/drawing/2014/main" id="{3010B215-C8B3-3FD6-25C6-E8ACD1ACB0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FEE8004-A6D2-4AEA-83C1-4456CDB1FC68}" type="slidenum">
              <a:rPr lang="en-US" altLang="en-US"/>
              <a:pPr/>
              <a:t>6</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F8A9378-919C-62F9-72E3-F73B1D5F1C1E}"/>
              </a:ext>
            </a:extLst>
          </p:cNvPr>
          <p:cNvSpPr>
            <a:spLocks noGrp="1"/>
          </p:cNvSpPr>
          <p:nvPr>
            <p:ph type="dt" sz="half" idx="10"/>
          </p:nvPr>
        </p:nvSpPr>
        <p:spPr/>
        <p:txBody>
          <a:bodyPr/>
          <a:lstStyle>
            <a:lvl1pPr>
              <a:defRPr/>
            </a:lvl1pPr>
          </a:lstStyle>
          <a:p>
            <a:pPr>
              <a:defRPr/>
            </a:pPr>
            <a:fld id="{97C80A38-BACC-41C5-9421-1937CE147DE7}" type="datetimeFigureOut">
              <a:rPr lang="en-US"/>
              <a:pPr>
                <a:defRPr/>
              </a:pPr>
              <a:t>2/20/2025</a:t>
            </a:fld>
            <a:endParaRPr lang="en-US"/>
          </a:p>
        </p:txBody>
      </p:sp>
      <p:sp>
        <p:nvSpPr>
          <p:cNvPr id="5" name="Footer Placeholder 4">
            <a:extLst>
              <a:ext uri="{FF2B5EF4-FFF2-40B4-BE49-F238E27FC236}">
                <a16:creationId xmlns:a16="http://schemas.microsoft.com/office/drawing/2014/main" id="{3D15F96E-2BF6-F3E6-5D0F-186566DDC7A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B833E52-CD10-6242-16B5-A3AF4D422CB2}"/>
              </a:ext>
            </a:extLst>
          </p:cNvPr>
          <p:cNvSpPr>
            <a:spLocks noGrp="1"/>
          </p:cNvSpPr>
          <p:nvPr>
            <p:ph type="sldNum" sz="quarter" idx="12"/>
          </p:nvPr>
        </p:nvSpPr>
        <p:spPr/>
        <p:txBody>
          <a:bodyPr/>
          <a:lstStyle>
            <a:lvl1pPr>
              <a:defRPr/>
            </a:lvl1pPr>
          </a:lstStyle>
          <a:p>
            <a:fld id="{3A7D4A10-C319-495E-9479-375374E726AE}" type="slidenum">
              <a:rPr lang="en-US" altLang="en-US"/>
              <a:pPr/>
              <a:t>‹#›</a:t>
            </a:fld>
            <a:endParaRPr lang="en-US" altLang="en-US"/>
          </a:p>
        </p:txBody>
      </p:sp>
    </p:spTree>
    <p:extLst>
      <p:ext uri="{BB962C8B-B14F-4D97-AF65-F5344CB8AC3E}">
        <p14:creationId xmlns:p14="http://schemas.microsoft.com/office/powerpoint/2010/main" val="2846288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C8BD45B-DA07-FE5F-9842-AFC572CA7D37}"/>
              </a:ext>
            </a:extLst>
          </p:cNvPr>
          <p:cNvCxnSpPr/>
          <p:nvPr userDrawn="1"/>
        </p:nvCxnSpPr>
        <p:spPr>
          <a:xfrm>
            <a:off x="0" y="501650"/>
            <a:ext cx="9144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81000" y="53896"/>
            <a:ext cx="8229600" cy="403304"/>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579437"/>
            <a:ext cx="8229600" cy="5592763"/>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374084C5-9E46-E9B0-D32E-2BFD26148434}"/>
              </a:ext>
            </a:extLst>
          </p:cNvPr>
          <p:cNvSpPr>
            <a:spLocks noGrp="1"/>
          </p:cNvSpPr>
          <p:nvPr>
            <p:ph type="dt" sz="half" idx="10"/>
          </p:nvPr>
        </p:nvSpPr>
        <p:spPr/>
        <p:txBody>
          <a:bodyPr/>
          <a:lstStyle>
            <a:lvl1pPr>
              <a:defRPr/>
            </a:lvl1pPr>
          </a:lstStyle>
          <a:p>
            <a:pPr>
              <a:defRPr/>
            </a:pPr>
            <a:fld id="{2307BC66-286E-47E9-9EBE-20FAB9F9DFB3}" type="datetimeFigureOut">
              <a:rPr lang="en-US"/>
              <a:pPr>
                <a:defRPr/>
              </a:pPr>
              <a:t>2/20/2025</a:t>
            </a:fld>
            <a:endParaRPr lang="en-US"/>
          </a:p>
        </p:txBody>
      </p:sp>
      <p:sp>
        <p:nvSpPr>
          <p:cNvPr id="6" name="Footer Placeholder 4">
            <a:extLst>
              <a:ext uri="{FF2B5EF4-FFF2-40B4-BE49-F238E27FC236}">
                <a16:creationId xmlns:a16="http://schemas.microsoft.com/office/drawing/2014/main" id="{7853E61E-4B77-E6C3-68D8-A398B341B6A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5FAA1F3-692E-E281-614B-963FCCE23A9C}"/>
              </a:ext>
            </a:extLst>
          </p:cNvPr>
          <p:cNvSpPr>
            <a:spLocks noGrp="1"/>
          </p:cNvSpPr>
          <p:nvPr>
            <p:ph type="sldNum" sz="quarter" idx="12"/>
          </p:nvPr>
        </p:nvSpPr>
        <p:spPr/>
        <p:txBody>
          <a:bodyPr/>
          <a:lstStyle>
            <a:lvl1pPr>
              <a:defRPr/>
            </a:lvl1pPr>
          </a:lstStyle>
          <a:p>
            <a:fld id="{FC1BB6CA-20C7-48A7-94B2-5F574C574F92}" type="slidenum">
              <a:rPr lang="en-US" altLang="en-US"/>
              <a:pPr/>
              <a:t>‹#›</a:t>
            </a:fld>
            <a:endParaRPr lang="en-US" altLang="en-US"/>
          </a:p>
        </p:txBody>
      </p:sp>
    </p:spTree>
    <p:extLst>
      <p:ext uri="{BB962C8B-B14F-4D97-AF65-F5344CB8AC3E}">
        <p14:creationId xmlns:p14="http://schemas.microsoft.com/office/powerpoint/2010/main" val="3391586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E52722-74A6-6916-0588-81F402F19007}"/>
              </a:ext>
            </a:extLst>
          </p:cNvPr>
          <p:cNvSpPr>
            <a:spLocks noGrp="1"/>
          </p:cNvSpPr>
          <p:nvPr>
            <p:ph type="dt" sz="half" idx="10"/>
          </p:nvPr>
        </p:nvSpPr>
        <p:spPr/>
        <p:txBody>
          <a:bodyPr/>
          <a:lstStyle>
            <a:lvl1pPr>
              <a:defRPr/>
            </a:lvl1pPr>
          </a:lstStyle>
          <a:p>
            <a:pPr>
              <a:defRPr/>
            </a:pPr>
            <a:fld id="{BCCC34FA-0E1C-4359-B7D5-F32D02349E41}" type="datetimeFigureOut">
              <a:rPr lang="en-US"/>
              <a:pPr>
                <a:defRPr/>
              </a:pPr>
              <a:t>2/20/2025</a:t>
            </a:fld>
            <a:endParaRPr lang="en-US"/>
          </a:p>
        </p:txBody>
      </p:sp>
      <p:sp>
        <p:nvSpPr>
          <p:cNvPr id="5" name="Footer Placeholder 4">
            <a:extLst>
              <a:ext uri="{FF2B5EF4-FFF2-40B4-BE49-F238E27FC236}">
                <a16:creationId xmlns:a16="http://schemas.microsoft.com/office/drawing/2014/main" id="{C88BFE02-F2E7-C32D-5A22-C7C92E9B6D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5BC9262-C4F1-8E2E-718B-F160BDBF1C5E}"/>
              </a:ext>
            </a:extLst>
          </p:cNvPr>
          <p:cNvSpPr>
            <a:spLocks noGrp="1"/>
          </p:cNvSpPr>
          <p:nvPr>
            <p:ph type="sldNum" sz="quarter" idx="12"/>
          </p:nvPr>
        </p:nvSpPr>
        <p:spPr/>
        <p:txBody>
          <a:bodyPr/>
          <a:lstStyle>
            <a:lvl1pPr>
              <a:defRPr/>
            </a:lvl1pPr>
          </a:lstStyle>
          <a:p>
            <a:fld id="{0FC814ED-68EB-4B2C-A81A-84D33AF82F61}" type="slidenum">
              <a:rPr lang="en-US" altLang="en-US"/>
              <a:pPr/>
              <a:t>‹#›</a:t>
            </a:fld>
            <a:endParaRPr lang="en-US" altLang="en-US"/>
          </a:p>
        </p:txBody>
      </p:sp>
    </p:spTree>
    <p:extLst>
      <p:ext uri="{BB962C8B-B14F-4D97-AF65-F5344CB8AC3E}">
        <p14:creationId xmlns:p14="http://schemas.microsoft.com/office/powerpoint/2010/main" val="4225810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C1064908-3F9B-4657-6BCC-D01FD5A8A791}"/>
              </a:ext>
            </a:extLst>
          </p:cNvPr>
          <p:cNvSpPr>
            <a:spLocks noGrp="1"/>
          </p:cNvSpPr>
          <p:nvPr>
            <p:ph type="dt" sz="half" idx="10"/>
          </p:nvPr>
        </p:nvSpPr>
        <p:spPr/>
        <p:txBody>
          <a:bodyPr/>
          <a:lstStyle>
            <a:lvl1pPr>
              <a:defRPr/>
            </a:lvl1pPr>
          </a:lstStyle>
          <a:p>
            <a:pPr>
              <a:defRPr/>
            </a:pPr>
            <a:fld id="{489B10BB-5C0C-49C0-A4AC-C1819E78E2AC}" type="datetimeFigureOut">
              <a:rPr lang="en-US"/>
              <a:pPr>
                <a:defRPr/>
              </a:pPr>
              <a:t>2/20/2025</a:t>
            </a:fld>
            <a:endParaRPr lang="en-US"/>
          </a:p>
        </p:txBody>
      </p:sp>
      <p:sp>
        <p:nvSpPr>
          <p:cNvPr id="6" name="Footer Placeholder 4">
            <a:extLst>
              <a:ext uri="{FF2B5EF4-FFF2-40B4-BE49-F238E27FC236}">
                <a16:creationId xmlns:a16="http://schemas.microsoft.com/office/drawing/2014/main" id="{F04A1639-190A-5C2A-6FBA-156FE3B108D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01BB297-895C-4DC2-7CAD-C127054EB4EF}"/>
              </a:ext>
            </a:extLst>
          </p:cNvPr>
          <p:cNvSpPr>
            <a:spLocks noGrp="1"/>
          </p:cNvSpPr>
          <p:nvPr>
            <p:ph type="sldNum" sz="quarter" idx="12"/>
          </p:nvPr>
        </p:nvSpPr>
        <p:spPr/>
        <p:txBody>
          <a:bodyPr/>
          <a:lstStyle>
            <a:lvl1pPr>
              <a:defRPr/>
            </a:lvl1pPr>
          </a:lstStyle>
          <a:p>
            <a:fld id="{28B1144B-008E-4101-99A1-A35D491D13A6}" type="slidenum">
              <a:rPr lang="en-US" altLang="en-US"/>
              <a:pPr/>
              <a:t>‹#›</a:t>
            </a:fld>
            <a:endParaRPr lang="en-US" altLang="en-US"/>
          </a:p>
        </p:txBody>
      </p:sp>
    </p:spTree>
    <p:extLst>
      <p:ext uri="{BB962C8B-B14F-4D97-AF65-F5344CB8AC3E}">
        <p14:creationId xmlns:p14="http://schemas.microsoft.com/office/powerpoint/2010/main" val="3831899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0B706F5-0DE3-76A9-0EF0-595153A8C7A7}"/>
              </a:ext>
            </a:extLst>
          </p:cNvPr>
          <p:cNvSpPr>
            <a:spLocks noGrp="1"/>
          </p:cNvSpPr>
          <p:nvPr>
            <p:ph type="dt" sz="half" idx="10"/>
          </p:nvPr>
        </p:nvSpPr>
        <p:spPr/>
        <p:txBody>
          <a:bodyPr/>
          <a:lstStyle>
            <a:lvl1pPr>
              <a:defRPr/>
            </a:lvl1pPr>
          </a:lstStyle>
          <a:p>
            <a:pPr>
              <a:defRPr/>
            </a:pPr>
            <a:fld id="{DEE9BE1D-416C-4E3B-A778-49DDF4967682}" type="datetimeFigureOut">
              <a:rPr lang="en-US"/>
              <a:pPr>
                <a:defRPr/>
              </a:pPr>
              <a:t>2/20/2025</a:t>
            </a:fld>
            <a:endParaRPr lang="en-US"/>
          </a:p>
        </p:txBody>
      </p:sp>
      <p:sp>
        <p:nvSpPr>
          <p:cNvPr id="8" name="Footer Placeholder 4">
            <a:extLst>
              <a:ext uri="{FF2B5EF4-FFF2-40B4-BE49-F238E27FC236}">
                <a16:creationId xmlns:a16="http://schemas.microsoft.com/office/drawing/2014/main" id="{AE01C265-6D85-766E-6A36-97E80DCE7EC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83330B1-8CCE-8CA4-094B-915D8CC696FC}"/>
              </a:ext>
            </a:extLst>
          </p:cNvPr>
          <p:cNvSpPr>
            <a:spLocks noGrp="1"/>
          </p:cNvSpPr>
          <p:nvPr>
            <p:ph type="sldNum" sz="quarter" idx="12"/>
          </p:nvPr>
        </p:nvSpPr>
        <p:spPr/>
        <p:txBody>
          <a:bodyPr/>
          <a:lstStyle>
            <a:lvl1pPr>
              <a:defRPr/>
            </a:lvl1pPr>
          </a:lstStyle>
          <a:p>
            <a:fld id="{8007D956-D5DB-4E18-B1D3-189378E3A620}" type="slidenum">
              <a:rPr lang="en-US" altLang="en-US"/>
              <a:pPr/>
              <a:t>‹#›</a:t>
            </a:fld>
            <a:endParaRPr lang="en-US" altLang="en-US"/>
          </a:p>
        </p:txBody>
      </p:sp>
    </p:spTree>
    <p:extLst>
      <p:ext uri="{BB962C8B-B14F-4D97-AF65-F5344CB8AC3E}">
        <p14:creationId xmlns:p14="http://schemas.microsoft.com/office/powerpoint/2010/main" val="952441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E102B36D-1A71-C7E8-6C7D-55E9F35A9E93}"/>
              </a:ext>
            </a:extLst>
          </p:cNvPr>
          <p:cNvSpPr>
            <a:spLocks noGrp="1"/>
          </p:cNvSpPr>
          <p:nvPr>
            <p:ph type="dt" sz="half" idx="10"/>
          </p:nvPr>
        </p:nvSpPr>
        <p:spPr/>
        <p:txBody>
          <a:bodyPr/>
          <a:lstStyle>
            <a:lvl1pPr>
              <a:defRPr/>
            </a:lvl1pPr>
          </a:lstStyle>
          <a:p>
            <a:pPr>
              <a:defRPr/>
            </a:pPr>
            <a:fld id="{CC048F21-DBED-451E-89A8-788CED772E7B}" type="datetimeFigureOut">
              <a:rPr lang="en-US"/>
              <a:pPr>
                <a:defRPr/>
              </a:pPr>
              <a:t>2/20/2025</a:t>
            </a:fld>
            <a:endParaRPr lang="en-US"/>
          </a:p>
        </p:txBody>
      </p:sp>
      <p:sp>
        <p:nvSpPr>
          <p:cNvPr id="4" name="Footer Placeholder 4">
            <a:extLst>
              <a:ext uri="{FF2B5EF4-FFF2-40B4-BE49-F238E27FC236}">
                <a16:creationId xmlns:a16="http://schemas.microsoft.com/office/drawing/2014/main" id="{4E6254A2-A7BE-F436-E563-ED9D671F7C1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AA6784E-A4A7-3423-21F2-D38DEC2EE944}"/>
              </a:ext>
            </a:extLst>
          </p:cNvPr>
          <p:cNvSpPr>
            <a:spLocks noGrp="1"/>
          </p:cNvSpPr>
          <p:nvPr>
            <p:ph type="sldNum" sz="quarter" idx="12"/>
          </p:nvPr>
        </p:nvSpPr>
        <p:spPr/>
        <p:txBody>
          <a:bodyPr/>
          <a:lstStyle>
            <a:lvl1pPr>
              <a:defRPr/>
            </a:lvl1pPr>
          </a:lstStyle>
          <a:p>
            <a:fld id="{05D3C677-A5E1-4C58-8EDD-308A48D0653D}" type="slidenum">
              <a:rPr lang="en-US" altLang="en-US"/>
              <a:pPr/>
              <a:t>‹#›</a:t>
            </a:fld>
            <a:endParaRPr lang="en-US" altLang="en-US"/>
          </a:p>
        </p:txBody>
      </p:sp>
    </p:spTree>
    <p:extLst>
      <p:ext uri="{BB962C8B-B14F-4D97-AF65-F5344CB8AC3E}">
        <p14:creationId xmlns:p14="http://schemas.microsoft.com/office/powerpoint/2010/main" val="1526725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4271DB3-7DB8-A6EF-BF5F-FBE56471729A}"/>
              </a:ext>
            </a:extLst>
          </p:cNvPr>
          <p:cNvSpPr>
            <a:spLocks noGrp="1"/>
          </p:cNvSpPr>
          <p:nvPr>
            <p:ph type="dt" sz="half" idx="10"/>
          </p:nvPr>
        </p:nvSpPr>
        <p:spPr/>
        <p:txBody>
          <a:bodyPr/>
          <a:lstStyle>
            <a:lvl1pPr>
              <a:defRPr/>
            </a:lvl1pPr>
          </a:lstStyle>
          <a:p>
            <a:pPr>
              <a:defRPr/>
            </a:pPr>
            <a:fld id="{780700AA-FCA5-4FF0-9E3C-C00614C89314}" type="datetimeFigureOut">
              <a:rPr lang="en-US"/>
              <a:pPr>
                <a:defRPr/>
              </a:pPr>
              <a:t>2/20/2025</a:t>
            </a:fld>
            <a:endParaRPr lang="en-US"/>
          </a:p>
        </p:txBody>
      </p:sp>
      <p:sp>
        <p:nvSpPr>
          <p:cNvPr id="3" name="Footer Placeholder 4">
            <a:extLst>
              <a:ext uri="{FF2B5EF4-FFF2-40B4-BE49-F238E27FC236}">
                <a16:creationId xmlns:a16="http://schemas.microsoft.com/office/drawing/2014/main" id="{8AC146A2-63A1-8ED6-5342-3F32B1EF5E2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B1BA896-5394-4517-7565-EC08F73A488D}"/>
              </a:ext>
            </a:extLst>
          </p:cNvPr>
          <p:cNvSpPr>
            <a:spLocks noGrp="1"/>
          </p:cNvSpPr>
          <p:nvPr>
            <p:ph type="sldNum" sz="quarter" idx="12"/>
          </p:nvPr>
        </p:nvSpPr>
        <p:spPr/>
        <p:txBody>
          <a:bodyPr/>
          <a:lstStyle>
            <a:lvl1pPr>
              <a:defRPr/>
            </a:lvl1pPr>
          </a:lstStyle>
          <a:p>
            <a:fld id="{A4A7C54D-0016-44AF-9D1E-96D89B3AA0A7}" type="slidenum">
              <a:rPr lang="en-US" altLang="en-US"/>
              <a:pPr/>
              <a:t>‹#›</a:t>
            </a:fld>
            <a:endParaRPr lang="en-US" altLang="en-US"/>
          </a:p>
        </p:txBody>
      </p:sp>
    </p:spTree>
    <p:extLst>
      <p:ext uri="{BB962C8B-B14F-4D97-AF65-F5344CB8AC3E}">
        <p14:creationId xmlns:p14="http://schemas.microsoft.com/office/powerpoint/2010/main" val="672709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251D889-EDF7-2B86-D8DC-B7AD3310AF7B}"/>
              </a:ext>
            </a:extLst>
          </p:cNvPr>
          <p:cNvSpPr>
            <a:spLocks noGrp="1"/>
          </p:cNvSpPr>
          <p:nvPr>
            <p:ph type="dt" sz="half" idx="10"/>
          </p:nvPr>
        </p:nvSpPr>
        <p:spPr/>
        <p:txBody>
          <a:bodyPr/>
          <a:lstStyle>
            <a:lvl1pPr>
              <a:defRPr/>
            </a:lvl1pPr>
          </a:lstStyle>
          <a:p>
            <a:pPr>
              <a:defRPr/>
            </a:pPr>
            <a:fld id="{810830D9-669D-4351-AC65-DF8D8DBE7D94}" type="datetimeFigureOut">
              <a:rPr lang="en-US"/>
              <a:pPr>
                <a:defRPr/>
              </a:pPr>
              <a:t>2/20/2025</a:t>
            </a:fld>
            <a:endParaRPr lang="en-US"/>
          </a:p>
        </p:txBody>
      </p:sp>
      <p:sp>
        <p:nvSpPr>
          <p:cNvPr id="6" name="Footer Placeholder 4">
            <a:extLst>
              <a:ext uri="{FF2B5EF4-FFF2-40B4-BE49-F238E27FC236}">
                <a16:creationId xmlns:a16="http://schemas.microsoft.com/office/drawing/2014/main" id="{769A9893-9FA9-0227-CA70-D698B1D000B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1C1D1F8-F1F4-2538-B937-242DB47C5B7B}"/>
              </a:ext>
            </a:extLst>
          </p:cNvPr>
          <p:cNvSpPr>
            <a:spLocks noGrp="1"/>
          </p:cNvSpPr>
          <p:nvPr>
            <p:ph type="sldNum" sz="quarter" idx="12"/>
          </p:nvPr>
        </p:nvSpPr>
        <p:spPr/>
        <p:txBody>
          <a:bodyPr/>
          <a:lstStyle>
            <a:lvl1pPr>
              <a:defRPr/>
            </a:lvl1pPr>
          </a:lstStyle>
          <a:p>
            <a:fld id="{6934B716-3D8B-483C-B962-E533BB4DC594}" type="slidenum">
              <a:rPr lang="en-US" altLang="en-US"/>
              <a:pPr/>
              <a:t>‹#›</a:t>
            </a:fld>
            <a:endParaRPr lang="en-US" altLang="en-US"/>
          </a:p>
        </p:txBody>
      </p:sp>
    </p:spTree>
    <p:extLst>
      <p:ext uri="{BB962C8B-B14F-4D97-AF65-F5344CB8AC3E}">
        <p14:creationId xmlns:p14="http://schemas.microsoft.com/office/powerpoint/2010/main" val="2777202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833F69D-CF9E-C7AF-8AE1-33E068A8F455}"/>
              </a:ext>
            </a:extLst>
          </p:cNvPr>
          <p:cNvSpPr>
            <a:spLocks noGrp="1"/>
          </p:cNvSpPr>
          <p:nvPr>
            <p:ph type="dt" sz="half" idx="10"/>
          </p:nvPr>
        </p:nvSpPr>
        <p:spPr/>
        <p:txBody>
          <a:bodyPr/>
          <a:lstStyle>
            <a:lvl1pPr>
              <a:defRPr/>
            </a:lvl1pPr>
          </a:lstStyle>
          <a:p>
            <a:pPr>
              <a:defRPr/>
            </a:pPr>
            <a:fld id="{8B2141B6-3E93-4BB9-B2AF-4A554558BB77}" type="datetimeFigureOut">
              <a:rPr lang="en-US"/>
              <a:pPr>
                <a:defRPr/>
              </a:pPr>
              <a:t>2/20/2025</a:t>
            </a:fld>
            <a:endParaRPr lang="en-US"/>
          </a:p>
        </p:txBody>
      </p:sp>
      <p:sp>
        <p:nvSpPr>
          <p:cNvPr id="6" name="Footer Placeholder 4">
            <a:extLst>
              <a:ext uri="{FF2B5EF4-FFF2-40B4-BE49-F238E27FC236}">
                <a16:creationId xmlns:a16="http://schemas.microsoft.com/office/drawing/2014/main" id="{5C7F457F-608B-5A29-44CB-399F02BF428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635C790-F7AB-24BD-C604-03174B8D6699}"/>
              </a:ext>
            </a:extLst>
          </p:cNvPr>
          <p:cNvSpPr>
            <a:spLocks noGrp="1"/>
          </p:cNvSpPr>
          <p:nvPr>
            <p:ph type="sldNum" sz="quarter" idx="12"/>
          </p:nvPr>
        </p:nvSpPr>
        <p:spPr/>
        <p:txBody>
          <a:bodyPr/>
          <a:lstStyle>
            <a:lvl1pPr>
              <a:defRPr/>
            </a:lvl1pPr>
          </a:lstStyle>
          <a:p>
            <a:fld id="{74205C11-A3CC-4720-9E50-850FD97E6FBA}" type="slidenum">
              <a:rPr lang="en-US" altLang="en-US"/>
              <a:pPr/>
              <a:t>‹#›</a:t>
            </a:fld>
            <a:endParaRPr lang="en-US" altLang="en-US"/>
          </a:p>
        </p:txBody>
      </p:sp>
    </p:spTree>
    <p:extLst>
      <p:ext uri="{BB962C8B-B14F-4D97-AF65-F5344CB8AC3E}">
        <p14:creationId xmlns:p14="http://schemas.microsoft.com/office/powerpoint/2010/main" val="2813984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41225-23C1-3E38-9418-294173DA6562}"/>
              </a:ext>
            </a:extLst>
          </p:cNvPr>
          <p:cNvSpPr>
            <a:spLocks noGrp="1"/>
          </p:cNvSpPr>
          <p:nvPr>
            <p:ph type="dt" sz="half" idx="10"/>
          </p:nvPr>
        </p:nvSpPr>
        <p:spPr/>
        <p:txBody>
          <a:bodyPr/>
          <a:lstStyle>
            <a:lvl1pPr>
              <a:defRPr/>
            </a:lvl1pPr>
          </a:lstStyle>
          <a:p>
            <a:pPr>
              <a:defRPr/>
            </a:pPr>
            <a:fld id="{E70E4A54-B3B1-4772-A7AE-54B529F5BBCD}" type="datetimeFigureOut">
              <a:rPr lang="en-US"/>
              <a:pPr>
                <a:defRPr/>
              </a:pPr>
              <a:t>2/20/2025</a:t>
            </a:fld>
            <a:endParaRPr lang="en-US"/>
          </a:p>
        </p:txBody>
      </p:sp>
      <p:sp>
        <p:nvSpPr>
          <p:cNvPr id="5" name="Footer Placeholder 4">
            <a:extLst>
              <a:ext uri="{FF2B5EF4-FFF2-40B4-BE49-F238E27FC236}">
                <a16:creationId xmlns:a16="http://schemas.microsoft.com/office/drawing/2014/main" id="{0EAAAFD0-E07C-4169-59F8-EA49587D143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6DED3BC-5309-E096-BF66-0EF8B7C9970D}"/>
              </a:ext>
            </a:extLst>
          </p:cNvPr>
          <p:cNvSpPr>
            <a:spLocks noGrp="1"/>
          </p:cNvSpPr>
          <p:nvPr>
            <p:ph type="sldNum" sz="quarter" idx="12"/>
          </p:nvPr>
        </p:nvSpPr>
        <p:spPr/>
        <p:txBody>
          <a:bodyPr/>
          <a:lstStyle>
            <a:lvl1pPr>
              <a:defRPr/>
            </a:lvl1pPr>
          </a:lstStyle>
          <a:p>
            <a:fld id="{10524CFE-B3EB-4D3D-9363-9147A18A703C}" type="slidenum">
              <a:rPr lang="en-US" altLang="en-US"/>
              <a:pPr/>
              <a:t>‹#›</a:t>
            </a:fld>
            <a:endParaRPr lang="en-US" altLang="en-US"/>
          </a:p>
        </p:txBody>
      </p:sp>
    </p:spTree>
    <p:extLst>
      <p:ext uri="{BB962C8B-B14F-4D97-AF65-F5344CB8AC3E}">
        <p14:creationId xmlns:p14="http://schemas.microsoft.com/office/powerpoint/2010/main" val="1288112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6116B-EA80-1B7E-9814-FE6841ACAC3B}"/>
              </a:ext>
            </a:extLst>
          </p:cNvPr>
          <p:cNvSpPr>
            <a:spLocks noGrp="1"/>
          </p:cNvSpPr>
          <p:nvPr>
            <p:ph type="dt" sz="half" idx="10"/>
          </p:nvPr>
        </p:nvSpPr>
        <p:spPr/>
        <p:txBody>
          <a:bodyPr/>
          <a:lstStyle>
            <a:lvl1pPr>
              <a:defRPr/>
            </a:lvl1pPr>
          </a:lstStyle>
          <a:p>
            <a:pPr>
              <a:defRPr/>
            </a:pPr>
            <a:fld id="{79FD5ACC-C0E1-438E-9991-AA3AED350AEF}" type="datetimeFigureOut">
              <a:rPr lang="en-US"/>
              <a:pPr>
                <a:defRPr/>
              </a:pPr>
              <a:t>2/20/2025</a:t>
            </a:fld>
            <a:endParaRPr lang="en-US"/>
          </a:p>
        </p:txBody>
      </p:sp>
      <p:sp>
        <p:nvSpPr>
          <p:cNvPr id="5" name="Footer Placeholder 4">
            <a:extLst>
              <a:ext uri="{FF2B5EF4-FFF2-40B4-BE49-F238E27FC236}">
                <a16:creationId xmlns:a16="http://schemas.microsoft.com/office/drawing/2014/main" id="{9A77664F-C4E1-AF41-9502-2F3C786E87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E2240BE-B919-464B-87BD-13A2639353E9}"/>
              </a:ext>
            </a:extLst>
          </p:cNvPr>
          <p:cNvSpPr>
            <a:spLocks noGrp="1"/>
          </p:cNvSpPr>
          <p:nvPr>
            <p:ph type="sldNum" sz="quarter" idx="12"/>
          </p:nvPr>
        </p:nvSpPr>
        <p:spPr/>
        <p:txBody>
          <a:bodyPr/>
          <a:lstStyle>
            <a:lvl1pPr>
              <a:defRPr/>
            </a:lvl1pPr>
          </a:lstStyle>
          <a:p>
            <a:fld id="{5A3D6162-8AB3-41EB-8353-B15422FCFF38}" type="slidenum">
              <a:rPr lang="en-US" altLang="en-US"/>
              <a:pPr/>
              <a:t>‹#›</a:t>
            </a:fld>
            <a:endParaRPr lang="en-US" altLang="en-US"/>
          </a:p>
        </p:txBody>
      </p:sp>
    </p:spTree>
    <p:extLst>
      <p:ext uri="{BB962C8B-B14F-4D97-AF65-F5344CB8AC3E}">
        <p14:creationId xmlns:p14="http://schemas.microsoft.com/office/powerpoint/2010/main" val="346309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29EEC97C-21A0-79C8-80F8-34919118B631}"/>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46290FD-E911-7B3E-8145-9A2FE2BD8900}"/>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AD2A43C-8E74-63D9-FEF1-6B1FFB9F4FFA}"/>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DB8F5AD5-EE3D-4E46-92E6-16F9F7C7FA61}" type="datetimeFigureOut">
              <a:rPr lang="en-US"/>
              <a:pPr>
                <a:defRPr/>
              </a:pPr>
              <a:t>2/20/2025</a:t>
            </a:fld>
            <a:endParaRPr lang="en-US"/>
          </a:p>
        </p:txBody>
      </p:sp>
      <p:sp>
        <p:nvSpPr>
          <p:cNvPr id="5" name="Footer Placeholder 4">
            <a:extLst>
              <a:ext uri="{FF2B5EF4-FFF2-40B4-BE49-F238E27FC236}">
                <a16:creationId xmlns:a16="http://schemas.microsoft.com/office/drawing/2014/main" id="{F3E835A6-8CE5-7021-8541-AE14442F187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D4661EED-89C1-310D-BC73-205945755617}"/>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2E72D52D-016F-4757-AE76-DF44176757A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7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ndeed.com/career/entry-level-accounting/salarie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F73344-3A4B-D875-35BF-4432E6D97D91}"/>
              </a:ext>
            </a:extLst>
          </p:cNvPr>
          <p:cNvSpPr/>
          <p:nvPr/>
        </p:nvSpPr>
        <p:spPr>
          <a:xfrm>
            <a:off x="-2514600" y="0"/>
            <a:ext cx="2362200" cy="685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r>
              <a:rPr lang="en-US" sz="1600" dirty="0">
                <a:solidFill>
                  <a:schemeClr val="tx1"/>
                </a:solidFill>
              </a:rPr>
              <a:t>DIRECTIONS:</a:t>
            </a:r>
          </a:p>
          <a:p>
            <a:pPr fontAlgn="auto">
              <a:spcBef>
                <a:spcPts val="0"/>
              </a:spcBef>
              <a:spcAft>
                <a:spcPts val="0"/>
              </a:spcAft>
              <a:defRPr/>
            </a:pPr>
            <a:endParaRPr lang="en-US" sz="1600" dirty="0">
              <a:solidFill>
                <a:schemeClr val="tx1"/>
              </a:solidFill>
            </a:endParaRPr>
          </a:p>
          <a:p>
            <a:pPr fontAlgn="auto">
              <a:spcBef>
                <a:spcPts val="0"/>
              </a:spcBef>
              <a:spcAft>
                <a:spcPts val="0"/>
              </a:spcAft>
              <a:defRPr/>
            </a:pPr>
            <a:r>
              <a:rPr lang="en-US" sz="1600" dirty="0">
                <a:solidFill>
                  <a:schemeClr val="tx1"/>
                </a:solidFill>
              </a:rPr>
              <a:t>Replace [Your Name]</a:t>
            </a:r>
            <a:r>
              <a:rPr lang="en-US" sz="1600" i="1" dirty="0">
                <a:solidFill>
                  <a:schemeClr val="tx1"/>
                </a:solidFill>
              </a:rPr>
              <a:t> </a:t>
            </a:r>
            <a:r>
              <a:rPr lang="en-US" sz="1600" dirty="0">
                <a:solidFill>
                  <a:schemeClr val="tx1"/>
                </a:solidFill>
              </a:rPr>
              <a:t>with your name.</a:t>
            </a:r>
          </a:p>
          <a:p>
            <a:pPr fontAlgn="auto">
              <a:spcBef>
                <a:spcPts val="0"/>
              </a:spcBef>
              <a:spcAft>
                <a:spcPts val="0"/>
              </a:spcAft>
              <a:defRPr/>
            </a:pPr>
            <a:endParaRPr lang="en-US" sz="1600" dirty="0">
              <a:solidFill>
                <a:schemeClr val="tx1"/>
              </a:solidFill>
            </a:endParaRPr>
          </a:p>
          <a:p>
            <a:pPr fontAlgn="auto">
              <a:spcBef>
                <a:spcPts val="0"/>
              </a:spcBef>
              <a:spcAft>
                <a:spcPts val="0"/>
              </a:spcAft>
              <a:defRPr/>
            </a:pPr>
            <a:endParaRPr lang="en-US" sz="1600" dirty="0">
              <a:solidFill>
                <a:schemeClr val="tx1"/>
              </a:solidFill>
            </a:endParaRPr>
          </a:p>
          <a:p>
            <a:pPr fontAlgn="auto">
              <a:spcBef>
                <a:spcPts val="0"/>
              </a:spcBef>
              <a:spcAft>
                <a:spcPts val="0"/>
              </a:spcAft>
              <a:defRPr/>
            </a:pPr>
            <a:endParaRPr lang="en-US" sz="1600" dirty="0">
              <a:solidFill>
                <a:schemeClr val="tx1"/>
              </a:solidFill>
            </a:endParaRPr>
          </a:p>
          <a:p>
            <a:pPr algn="ctr" fontAlgn="auto">
              <a:spcBef>
                <a:spcPts val="0"/>
              </a:spcBef>
              <a:spcAft>
                <a:spcPts val="0"/>
              </a:spcAft>
              <a:defRPr/>
            </a:pPr>
            <a:endParaRPr lang="en-US" sz="1600" dirty="0">
              <a:solidFill>
                <a:schemeClr val="tx1"/>
              </a:solidFill>
            </a:endParaRPr>
          </a:p>
        </p:txBody>
      </p:sp>
      <p:sp>
        <p:nvSpPr>
          <p:cNvPr id="3075" name="Title 1">
            <a:extLst>
              <a:ext uri="{FF2B5EF4-FFF2-40B4-BE49-F238E27FC236}">
                <a16:creationId xmlns:a16="http://schemas.microsoft.com/office/drawing/2014/main" id="{3D733196-A406-B7C9-908C-157CDEA7DD1B}"/>
              </a:ext>
            </a:extLst>
          </p:cNvPr>
          <p:cNvSpPr>
            <a:spLocks noGrp="1"/>
          </p:cNvSpPr>
          <p:nvPr>
            <p:ph type="ctrTitle"/>
          </p:nvPr>
        </p:nvSpPr>
        <p:spPr>
          <a:xfrm>
            <a:off x="1219200" y="762000"/>
            <a:ext cx="6400800" cy="1470025"/>
          </a:xfrm>
        </p:spPr>
        <p:txBody>
          <a:bodyPr/>
          <a:lstStyle/>
          <a:p>
            <a:r>
              <a:rPr lang="en-US" altLang="en-US" sz="5400"/>
              <a:t>Saving for Retirement</a:t>
            </a:r>
            <a:br>
              <a:rPr lang="en-US" altLang="en-US" sz="5400"/>
            </a:br>
            <a:endParaRPr lang="en-US" altLang="en-US" sz="5400"/>
          </a:p>
        </p:txBody>
      </p:sp>
      <p:sp>
        <p:nvSpPr>
          <p:cNvPr id="3" name="Subtitle 2">
            <a:extLst>
              <a:ext uri="{FF2B5EF4-FFF2-40B4-BE49-F238E27FC236}">
                <a16:creationId xmlns:a16="http://schemas.microsoft.com/office/drawing/2014/main" id="{25EC0F31-AFFD-C042-5FCF-45D1178581E6}"/>
              </a:ext>
            </a:extLst>
          </p:cNvPr>
          <p:cNvSpPr>
            <a:spLocks noGrp="1"/>
          </p:cNvSpPr>
          <p:nvPr>
            <p:ph type="subTitle" idx="1"/>
          </p:nvPr>
        </p:nvSpPr>
        <p:spPr>
          <a:xfrm>
            <a:off x="434975" y="1752600"/>
            <a:ext cx="7696200" cy="1752600"/>
          </a:xfrm>
        </p:spPr>
        <p:txBody>
          <a:bodyPr rtlCol="0">
            <a:normAutofit/>
          </a:bodyPr>
          <a:lstStyle/>
          <a:p>
            <a:pPr fontAlgn="auto">
              <a:spcAft>
                <a:spcPts val="0"/>
              </a:spcAft>
              <a:defRPr/>
            </a:pPr>
            <a:r>
              <a:rPr lang="en-US" sz="4000" dirty="0">
                <a:solidFill>
                  <a:schemeClr val="tx1">
                    <a:lumMod val="75000"/>
                    <a:lumOff val="25000"/>
                  </a:schemeClr>
                </a:solidFill>
              </a:rPr>
              <a:t>by</a:t>
            </a:r>
          </a:p>
          <a:p>
            <a:pPr fontAlgn="auto">
              <a:spcAft>
                <a:spcPts val="0"/>
              </a:spcAft>
              <a:defRPr/>
            </a:pPr>
            <a:r>
              <a:rPr lang="en-US" sz="4000" dirty="0" err="1">
                <a:solidFill>
                  <a:schemeClr val="tx1">
                    <a:lumMod val="75000"/>
                    <a:lumOff val="25000"/>
                  </a:schemeClr>
                </a:solidFill>
              </a:rPr>
              <a:t>Liroy</a:t>
            </a:r>
            <a:r>
              <a:rPr lang="en-US" sz="4000" dirty="0">
                <a:solidFill>
                  <a:schemeClr val="tx1">
                    <a:lumMod val="75000"/>
                    <a:lumOff val="25000"/>
                  </a:schemeClr>
                </a:solidFill>
              </a:rPr>
              <a:t> Levy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95D5B7-C2E1-2355-7EC9-4DC681102E33}"/>
              </a:ext>
            </a:extLst>
          </p:cNvPr>
          <p:cNvSpPr/>
          <p:nvPr/>
        </p:nvSpPr>
        <p:spPr>
          <a:xfrm>
            <a:off x="-2514600" y="0"/>
            <a:ext cx="2362200" cy="685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r>
              <a:rPr lang="en-US" sz="1600" dirty="0">
                <a:solidFill>
                  <a:schemeClr val="tx1"/>
                </a:solidFill>
              </a:rPr>
              <a:t>DIRECTIONS:</a:t>
            </a:r>
          </a:p>
          <a:p>
            <a:pPr fontAlgn="auto">
              <a:spcBef>
                <a:spcPts val="0"/>
              </a:spcBef>
              <a:spcAft>
                <a:spcPts val="0"/>
              </a:spcAft>
              <a:defRPr/>
            </a:pPr>
            <a:endParaRPr lang="en-US" sz="1600" dirty="0">
              <a:solidFill>
                <a:schemeClr val="tx1"/>
              </a:solidFill>
            </a:endParaRPr>
          </a:p>
          <a:p>
            <a:pPr fontAlgn="auto">
              <a:spcBef>
                <a:spcPts val="0"/>
              </a:spcBef>
              <a:spcAft>
                <a:spcPts val="0"/>
              </a:spcAft>
              <a:defRPr/>
            </a:pPr>
            <a:r>
              <a:rPr lang="en-US" sz="1600" dirty="0">
                <a:solidFill>
                  <a:schemeClr val="tx1"/>
                </a:solidFill>
              </a:rPr>
              <a:t>Complete the table.</a:t>
            </a:r>
          </a:p>
          <a:p>
            <a:pPr fontAlgn="auto">
              <a:spcBef>
                <a:spcPts val="0"/>
              </a:spcBef>
              <a:spcAft>
                <a:spcPts val="0"/>
              </a:spcAft>
              <a:defRPr/>
            </a:pPr>
            <a:endParaRPr lang="en-US" sz="1600" dirty="0">
              <a:solidFill>
                <a:schemeClr val="tx1"/>
              </a:solidFill>
            </a:endParaRPr>
          </a:p>
          <a:p>
            <a:pPr marL="285750" indent="-285750" fontAlgn="auto">
              <a:spcBef>
                <a:spcPts val="0"/>
              </a:spcBef>
              <a:spcAft>
                <a:spcPts val="0"/>
              </a:spcAft>
              <a:buFont typeface="Arial" pitchFamily="34" charset="0"/>
              <a:buChar char="•"/>
              <a:defRPr/>
            </a:pPr>
            <a:r>
              <a:rPr lang="en-US" sz="1600" dirty="0">
                <a:solidFill>
                  <a:schemeClr val="tx1"/>
                </a:solidFill>
              </a:rPr>
              <a:t>If you are given an hourly salary, assume working 40 h/week for 52 weeks to calculate the annual salary.</a:t>
            </a:r>
          </a:p>
          <a:p>
            <a:pPr marL="285750" indent="-285750" fontAlgn="auto">
              <a:spcBef>
                <a:spcPts val="0"/>
              </a:spcBef>
              <a:spcAft>
                <a:spcPts val="0"/>
              </a:spcAft>
              <a:buFont typeface="Arial" pitchFamily="34" charset="0"/>
              <a:buChar char="•"/>
              <a:defRPr/>
            </a:pPr>
            <a:r>
              <a:rPr lang="en-US" sz="1600" dirty="0">
                <a:solidFill>
                  <a:schemeClr val="tx1"/>
                </a:solidFill>
              </a:rPr>
              <a:t>Determine the monthly salary by dividing the annual salary by 12.</a:t>
            </a:r>
          </a:p>
        </p:txBody>
      </p:sp>
      <p:sp>
        <p:nvSpPr>
          <p:cNvPr id="4099" name="Title 1">
            <a:extLst>
              <a:ext uri="{FF2B5EF4-FFF2-40B4-BE49-F238E27FC236}">
                <a16:creationId xmlns:a16="http://schemas.microsoft.com/office/drawing/2014/main" id="{218518E5-E1E8-B9E4-7B86-854D2C22C789}"/>
              </a:ext>
            </a:extLst>
          </p:cNvPr>
          <p:cNvSpPr>
            <a:spLocks noGrp="1"/>
          </p:cNvSpPr>
          <p:nvPr>
            <p:ph type="title"/>
          </p:nvPr>
        </p:nvSpPr>
        <p:spPr>
          <a:xfrm>
            <a:off x="381000" y="53975"/>
            <a:ext cx="8229600" cy="403225"/>
          </a:xfrm>
        </p:spPr>
        <p:txBody>
          <a:bodyPr/>
          <a:lstStyle/>
          <a:p>
            <a:r>
              <a:rPr lang="en-US" altLang="en-US" b="1"/>
              <a:t>Salary Information</a:t>
            </a:r>
          </a:p>
        </p:txBody>
      </p:sp>
      <p:graphicFrame>
        <p:nvGraphicFramePr>
          <p:cNvPr id="4" name="Table 3">
            <a:extLst>
              <a:ext uri="{FF2B5EF4-FFF2-40B4-BE49-F238E27FC236}">
                <a16:creationId xmlns:a16="http://schemas.microsoft.com/office/drawing/2014/main" id="{255B8CC4-B8A6-9F6E-029C-82BDDAEA1397}"/>
              </a:ext>
            </a:extLst>
          </p:cNvPr>
          <p:cNvGraphicFramePr>
            <a:graphicFrameLocks noGrp="1"/>
          </p:cNvGraphicFramePr>
          <p:nvPr>
            <p:extLst>
              <p:ext uri="{D42A27DB-BD31-4B8C-83A1-F6EECF244321}">
                <p14:modId xmlns:p14="http://schemas.microsoft.com/office/powerpoint/2010/main" val="76370677"/>
              </p:ext>
            </p:extLst>
          </p:nvPr>
        </p:nvGraphicFramePr>
        <p:xfrm>
          <a:off x="152400" y="1066800"/>
          <a:ext cx="8610600" cy="2560640"/>
        </p:xfrm>
        <a:graphic>
          <a:graphicData uri="http://schemas.openxmlformats.org/drawingml/2006/table">
            <a:tbl>
              <a:tblPr firstRow="1" bandRow="1">
                <a:tableStyleId>{7E9639D4-E3E2-4D34-9284-5A2195B3D0D7}</a:tableStyleId>
              </a:tblPr>
              <a:tblGrid>
                <a:gridCol w="41910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640160">
                <a:tc>
                  <a:txBody>
                    <a:bodyPr/>
                    <a:lstStyle/>
                    <a:p>
                      <a:pPr algn="ctr"/>
                      <a:r>
                        <a:rPr lang="en-US" sz="1800" b="1" dirty="0">
                          <a:solidFill>
                            <a:schemeClr val="tx1"/>
                          </a:solidFill>
                        </a:rPr>
                        <a:t>Career</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600" b="0" dirty="0">
                          <a:solidFill>
                            <a:schemeClr val="tx1"/>
                          </a:solidFill>
                        </a:rPr>
                        <a:t>Accountant</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40160">
                <a:tc>
                  <a:txBody>
                    <a:bodyPr/>
                    <a:lstStyle/>
                    <a:p>
                      <a:pPr algn="ctr"/>
                      <a:r>
                        <a:rPr lang="en-US" sz="1800" b="1" dirty="0">
                          <a:solidFill>
                            <a:schemeClr val="tx1"/>
                          </a:solidFill>
                        </a:rPr>
                        <a:t>Average Entry-Level </a:t>
                      </a:r>
                      <a:r>
                        <a:rPr lang="en-US" sz="1800" b="1" i="1" dirty="0">
                          <a:solidFill>
                            <a:schemeClr val="tx1"/>
                          </a:solidFill>
                        </a:rPr>
                        <a:t>Annual</a:t>
                      </a:r>
                      <a:r>
                        <a:rPr lang="en-US" sz="1800" b="1" dirty="0">
                          <a:solidFill>
                            <a:schemeClr val="tx1"/>
                          </a:solidFill>
                        </a:rPr>
                        <a:t> Salary</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600" b="0" dirty="0">
                          <a:solidFill>
                            <a:schemeClr val="tx1"/>
                          </a:solidFill>
                        </a:rPr>
                        <a:t>$26,208</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40160">
                <a:tc>
                  <a:txBody>
                    <a:bodyPr/>
                    <a:lstStyle/>
                    <a:p>
                      <a:pPr algn="ctr"/>
                      <a:r>
                        <a:rPr lang="en-US" sz="1800" b="1" dirty="0"/>
                        <a:t>Average Entry-Level </a:t>
                      </a:r>
                      <a:r>
                        <a:rPr lang="en-US" sz="1800" b="1" i="1" dirty="0"/>
                        <a:t>Monthly</a:t>
                      </a:r>
                      <a:r>
                        <a:rPr lang="en-US" sz="1800" b="1" dirty="0"/>
                        <a:t> Salary</a:t>
                      </a:r>
                    </a:p>
                  </a:txBody>
                  <a:tcPr marT="45726" marB="45726"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600" b="0" dirty="0">
                          <a:solidFill>
                            <a:schemeClr val="tx1"/>
                          </a:solidFill>
                        </a:rPr>
                        <a:t>$1,856</a:t>
                      </a:r>
                    </a:p>
                  </a:txBody>
                  <a:tcPr marT="45726" marB="4572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40160">
                <a:tc>
                  <a:txBody>
                    <a:bodyPr/>
                    <a:lstStyle/>
                    <a:p>
                      <a:pPr algn="ctr"/>
                      <a:r>
                        <a:rPr lang="en-US" sz="1800" b="1" dirty="0">
                          <a:solidFill>
                            <a:schemeClr val="tx1"/>
                          </a:solidFill>
                        </a:rPr>
                        <a:t>Website Link</a:t>
                      </a:r>
                      <a:endParaRPr lang="en-US" sz="1100" b="1" kern="1200" dirty="0">
                        <a:solidFill>
                          <a:schemeClr val="tx1"/>
                        </a:solidFill>
                        <a:latin typeface="+mn-lt"/>
                        <a:ea typeface="+mn-ea"/>
                        <a:cs typeface="+mn-cs"/>
                      </a:endParaRP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l"/>
                      <a:r>
                        <a:rPr lang="en-US" sz="1600" b="0" dirty="0">
                          <a:solidFill>
                            <a:schemeClr val="tx1"/>
                          </a:solidFill>
                          <a:hlinkClick r:id="rId3"/>
                        </a:rPr>
                        <a:t>https://www.indeed.com/career/entry-level-accounting/salaries</a:t>
                      </a:r>
                      <a:r>
                        <a:rPr lang="en-US" sz="1600" b="0" dirty="0">
                          <a:solidFill>
                            <a:schemeClr val="tx1"/>
                          </a:solidFill>
                        </a:rPr>
                        <a:t> </a:t>
                      </a:r>
                    </a:p>
                  </a:txBody>
                  <a:tcPr marT="45726" marB="457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B4760B6-A8B2-7B89-24CB-A30EEF8EB4EB}"/>
              </a:ext>
            </a:extLst>
          </p:cNvPr>
          <p:cNvSpPr/>
          <p:nvPr/>
        </p:nvSpPr>
        <p:spPr>
          <a:xfrm>
            <a:off x="-2514600" y="0"/>
            <a:ext cx="2362200" cy="685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r>
              <a:rPr lang="en-US" sz="1600" dirty="0">
                <a:solidFill>
                  <a:schemeClr val="tx1"/>
                </a:solidFill>
              </a:rPr>
              <a:t>DIRECTIONS:</a:t>
            </a:r>
          </a:p>
          <a:p>
            <a:pPr fontAlgn="auto">
              <a:spcBef>
                <a:spcPts val="0"/>
              </a:spcBef>
              <a:spcAft>
                <a:spcPts val="0"/>
              </a:spcAft>
              <a:defRPr/>
            </a:pPr>
            <a:endParaRPr lang="en-US" sz="1600" dirty="0">
              <a:solidFill>
                <a:schemeClr val="tx1"/>
              </a:solidFill>
            </a:endParaRPr>
          </a:p>
          <a:p>
            <a:pPr marL="342900" indent="-342900" fontAlgn="auto">
              <a:spcBef>
                <a:spcPts val="0"/>
              </a:spcBef>
              <a:spcAft>
                <a:spcPts val="0"/>
              </a:spcAft>
              <a:buFontTx/>
              <a:buAutoNum type="arabicPeriod"/>
              <a:defRPr/>
            </a:pPr>
            <a:r>
              <a:rPr lang="en-US" sz="1600" dirty="0">
                <a:solidFill>
                  <a:schemeClr val="tx1"/>
                </a:solidFill>
              </a:rPr>
              <a:t>Enter the value in cell Q42 of your spreadsheet in the first row of the table</a:t>
            </a:r>
            <a:r>
              <a:rPr lang="en-US" sz="1600" i="1" dirty="0">
                <a:solidFill>
                  <a:schemeClr val="tx1"/>
                </a:solidFill>
              </a:rPr>
              <a:t>.</a:t>
            </a:r>
            <a:endParaRPr lang="en-US" sz="1600" dirty="0">
              <a:solidFill>
                <a:schemeClr val="tx1"/>
              </a:solidFill>
            </a:endParaRPr>
          </a:p>
          <a:p>
            <a:pPr marL="342900" indent="-342900" fontAlgn="auto">
              <a:spcBef>
                <a:spcPts val="0"/>
              </a:spcBef>
              <a:spcAft>
                <a:spcPts val="0"/>
              </a:spcAft>
              <a:buFontTx/>
              <a:buAutoNum type="arabicPeriod"/>
              <a:defRPr/>
            </a:pPr>
            <a:r>
              <a:rPr lang="en-US" sz="1600" dirty="0">
                <a:solidFill>
                  <a:schemeClr val="tx1"/>
                </a:solidFill>
              </a:rPr>
              <a:t>Enter the value in cell N42 of your spreadsheet in the second row of the table. </a:t>
            </a:r>
          </a:p>
          <a:p>
            <a:pPr marL="342900" indent="-342900" fontAlgn="auto">
              <a:spcBef>
                <a:spcPts val="0"/>
              </a:spcBef>
              <a:spcAft>
                <a:spcPts val="0"/>
              </a:spcAft>
              <a:buFontTx/>
              <a:buAutoNum type="arabicPeriod"/>
              <a:defRPr/>
            </a:pPr>
            <a:r>
              <a:rPr lang="en-US" sz="1600" dirty="0">
                <a:solidFill>
                  <a:schemeClr val="tx1"/>
                </a:solidFill>
              </a:rPr>
              <a:t>Replace [Graph] with the bar graph in the Graph tab of your spreadsheet. </a:t>
            </a:r>
          </a:p>
          <a:p>
            <a:pPr fontAlgn="auto">
              <a:spcBef>
                <a:spcPts val="0"/>
              </a:spcBef>
              <a:spcAft>
                <a:spcPts val="0"/>
              </a:spcAft>
              <a:defRPr/>
            </a:pPr>
            <a:endParaRPr lang="en-US" sz="1600" dirty="0">
              <a:solidFill>
                <a:schemeClr val="tx1"/>
              </a:solidFill>
            </a:endParaRPr>
          </a:p>
        </p:txBody>
      </p:sp>
      <p:sp>
        <p:nvSpPr>
          <p:cNvPr id="5123" name="Title 1">
            <a:extLst>
              <a:ext uri="{FF2B5EF4-FFF2-40B4-BE49-F238E27FC236}">
                <a16:creationId xmlns:a16="http://schemas.microsoft.com/office/drawing/2014/main" id="{D8E77FAC-877C-16D8-6FC1-A4C4EE5AB253}"/>
              </a:ext>
            </a:extLst>
          </p:cNvPr>
          <p:cNvSpPr>
            <a:spLocks noGrp="1"/>
          </p:cNvSpPr>
          <p:nvPr>
            <p:ph type="title"/>
          </p:nvPr>
        </p:nvSpPr>
        <p:spPr>
          <a:xfrm>
            <a:off x="381000" y="53975"/>
            <a:ext cx="8229600" cy="403225"/>
          </a:xfrm>
        </p:spPr>
        <p:txBody>
          <a:bodyPr/>
          <a:lstStyle/>
          <a:p>
            <a:r>
              <a:rPr lang="en-US" altLang="en-US" b="1"/>
              <a:t>An Overall Look at the Retirement Account</a:t>
            </a:r>
          </a:p>
        </p:txBody>
      </p:sp>
      <p:graphicFrame>
        <p:nvGraphicFramePr>
          <p:cNvPr id="8" name="Table 7">
            <a:extLst>
              <a:ext uri="{FF2B5EF4-FFF2-40B4-BE49-F238E27FC236}">
                <a16:creationId xmlns:a16="http://schemas.microsoft.com/office/drawing/2014/main" id="{0824A471-D309-7EE6-407B-315A73C64516}"/>
              </a:ext>
            </a:extLst>
          </p:cNvPr>
          <p:cNvGraphicFramePr>
            <a:graphicFrameLocks noGrp="1"/>
          </p:cNvGraphicFramePr>
          <p:nvPr>
            <p:extLst>
              <p:ext uri="{D42A27DB-BD31-4B8C-83A1-F6EECF244321}">
                <p14:modId xmlns:p14="http://schemas.microsoft.com/office/powerpoint/2010/main" val="2809167608"/>
              </p:ext>
            </p:extLst>
          </p:nvPr>
        </p:nvGraphicFramePr>
        <p:xfrm>
          <a:off x="1371600" y="685800"/>
          <a:ext cx="6019800" cy="1096964"/>
        </p:xfrm>
        <a:graphic>
          <a:graphicData uri="http://schemas.openxmlformats.org/drawingml/2006/table">
            <a:tbl>
              <a:tblPr firstRow="1" bandRow="1">
                <a:tableStyleId>{7E9639D4-E3E2-4D34-9284-5A2195B3D0D7}</a:tableStyleId>
              </a:tblPr>
              <a:tblGrid>
                <a:gridCol w="40386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tblGrid>
              <a:tr h="548482">
                <a:tc>
                  <a:txBody>
                    <a:bodyPr/>
                    <a:lstStyle/>
                    <a:p>
                      <a:pPr algn="l"/>
                      <a:r>
                        <a:rPr lang="en-US" sz="1800" b="1" dirty="0">
                          <a:solidFill>
                            <a:schemeClr val="tx1"/>
                          </a:solidFill>
                        </a:rPr>
                        <a:t>Total Contribution After 40 Years</a:t>
                      </a:r>
                    </a:p>
                  </a:txBody>
                  <a:tcPr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600" b="0" dirty="0">
                          <a:solidFill>
                            <a:schemeClr val="tx1"/>
                          </a:solidFill>
                        </a:rPr>
                        <a:t>$67,263.65</a:t>
                      </a:r>
                    </a:p>
                  </a:txBody>
                  <a:tcPr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48482">
                <a:tc>
                  <a:txBody>
                    <a:bodyPr/>
                    <a:lstStyle/>
                    <a:p>
                      <a:pPr algn="l"/>
                      <a:r>
                        <a:rPr lang="en-US" sz="1800" b="1" dirty="0">
                          <a:solidFill>
                            <a:schemeClr val="tx1"/>
                          </a:solidFill>
                        </a:rPr>
                        <a:t>Total Amount in Account After 40 Years</a:t>
                      </a:r>
                    </a:p>
                  </a:txBody>
                  <a:tcPr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rPr>
                        <a:t>$311,989.20</a:t>
                      </a:r>
                    </a:p>
                  </a:txBody>
                  <a:tcPr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6" name="Chart 5">
            <a:extLst>
              <a:ext uri="{FF2B5EF4-FFF2-40B4-BE49-F238E27FC236}">
                <a16:creationId xmlns:a16="http://schemas.microsoft.com/office/drawing/2014/main" id="{1683D2D1-CD2D-1E55-8801-C28B824CFCE0}"/>
              </a:ext>
            </a:extLst>
          </p:cNvPr>
          <p:cNvGraphicFramePr>
            <a:graphicFrameLocks/>
          </p:cNvGraphicFramePr>
          <p:nvPr>
            <p:extLst>
              <p:ext uri="{D42A27DB-BD31-4B8C-83A1-F6EECF244321}">
                <p14:modId xmlns:p14="http://schemas.microsoft.com/office/powerpoint/2010/main" val="2869567490"/>
              </p:ext>
            </p:extLst>
          </p:nvPr>
        </p:nvGraphicFramePr>
        <p:xfrm>
          <a:off x="1371600" y="2011364"/>
          <a:ext cx="6019800" cy="454183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B7551D1-C0AC-6374-CD83-D8C745FC6035}"/>
              </a:ext>
            </a:extLst>
          </p:cNvPr>
          <p:cNvSpPr/>
          <p:nvPr/>
        </p:nvSpPr>
        <p:spPr>
          <a:xfrm>
            <a:off x="-2514600" y="0"/>
            <a:ext cx="2362200" cy="685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r>
              <a:rPr lang="en-US" sz="1600" dirty="0">
                <a:solidFill>
                  <a:schemeClr val="tx1"/>
                </a:solidFill>
              </a:rPr>
              <a:t>DIRECTIONS:</a:t>
            </a:r>
          </a:p>
          <a:p>
            <a:pPr fontAlgn="auto">
              <a:spcBef>
                <a:spcPts val="0"/>
              </a:spcBef>
              <a:spcAft>
                <a:spcPts val="0"/>
              </a:spcAft>
              <a:defRPr/>
            </a:pPr>
            <a:endParaRPr lang="en-US" sz="1600" dirty="0">
              <a:solidFill>
                <a:schemeClr val="tx1"/>
              </a:solidFill>
            </a:endParaRPr>
          </a:p>
          <a:p>
            <a:pPr marL="342900" indent="-342900" fontAlgn="auto">
              <a:spcBef>
                <a:spcPts val="0"/>
              </a:spcBef>
              <a:spcAft>
                <a:spcPts val="0"/>
              </a:spcAft>
              <a:buFont typeface="+mj-lt"/>
              <a:buAutoNum type="arabicPeriod"/>
              <a:defRPr/>
            </a:pPr>
            <a:r>
              <a:rPr lang="en-US" sz="1600" dirty="0">
                <a:solidFill>
                  <a:schemeClr val="tx1"/>
                </a:solidFill>
              </a:rPr>
              <a:t>Carefully follow the instructions in the Project Overview to complete the table.</a:t>
            </a:r>
          </a:p>
          <a:p>
            <a:pPr marL="342900" indent="-342900" fontAlgn="auto">
              <a:spcBef>
                <a:spcPts val="0"/>
              </a:spcBef>
              <a:spcAft>
                <a:spcPts val="0"/>
              </a:spcAft>
              <a:buFont typeface="+mj-lt"/>
              <a:buAutoNum type="arabicPeriod"/>
              <a:defRPr/>
            </a:pPr>
            <a:r>
              <a:rPr lang="en-US" sz="1600" dirty="0">
                <a:solidFill>
                  <a:schemeClr val="tx1"/>
                </a:solidFill>
              </a:rPr>
              <a:t>Replace [Discussion] with a brief discussion about how the amounts in the table compare. </a:t>
            </a:r>
            <a:r>
              <a:rPr lang="en-US" sz="1600">
                <a:solidFill>
                  <a:schemeClr val="tx1"/>
                </a:solidFill>
              </a:rPr>
              <a:t>Include in your discussion whether you found any of the results surprising. </a:t>
            </a:r>
            <a:endParaRPr lang="en-US" sz="1600" dirty="0">
              <a:solidFill>
                <a:schemeClr val="tx1"/>
              </a:solidFill>
            </a:endParaRPr>
          </a:p>
          <a:p>
            <a:pPr fontAlgn="auto">
              <a:spcBef>
                <a:spcPts val="0"/>
              </a:spcBef>
              <a:spcAft>
                <a:spcPts val="0"/>
              </a:spcAft>
              <a:defRPr/>
            </a:pPr>
            <a:r>
              <a:rPr lang="en-US" sz="1600" dirty="0">
                <a:solidFill>
                  <a:schemeClr val="tx1"/>
                </a:solidFill>
              </a:rPr>
              <a:t> </a:t>
            </a:r>
          </a:p>
        </p:txBody>
      </p:sp>
      <p:sp>
        <p:nvSpPr>
          <p:cNvPr id="6147" name="Title 1">
            <a:extLst>
              <a:ext uri="{FF2B5EF4-FFF2-40B4-BE49-F238E27FC236}">
                <a16:creationId xmlns:a16="http://schemas.microsoft.com/office/drawing/2014/main" id="{0CCF0E44-6B6C-C760-1DF3-867CDC5C1837}"/>
              </a:ext>
            </a:extLst>
          </p:cNvPr>
          <p:cNvSpPr>
            <a:spLocks noGrp="1"/>
          </p:cNvSpPr>
          <p:nvPr>
            <p:ph type="title"/>
          </p:nvPr>
        </p:nvSpPr>
        <p:spPr>
          <a:xfrm>
            <a:off x="381000" y="53975"/>
            <a:ext cx="8229600" cy="403225"/>
          </a:xfrm>
        </p:spPr>
        <p:txBody>
          <a:bodyPr/>
          <a:lstStyle/>
          <a:p>
            <a:r>
              <a:rPr lang="en-US" altLang="en-US" b="1"/>
              <a:t>Starting-Age Comparisons</a:t>
            </a:r>
          </a:p>
        </p:txBody>
      </p:sp>
      <p:graphicFrame>
        <p:nvGraphicFramePr>
          <p:cNvPr id="5" name="Table 4">
            <a:extLst>
              <a:ext uri="{FF2B5EF4-FFF2-40B4-BE49-F238E27FC236}">
                <a16:creationId xmlns:a16="http://schemas.microsoft.com/office/drawing/2014/main" id="{2F325BD9-A92E-741E-CC2A-2C6609365D17}"/>
              </a:ext>
            </a:extLst>
          </p:cNvPr>
          <p:cNvGraphicFramePr>
            <a:graphicFrameLocks noGrp="1"/>
          </p:cNvGraphicFramePr>
          <p:nvPr>
            <p:extLst>
              <p:ext uri="{D42A27DB-BD31-4B8C-83A1-F6EECF244321}">
                <p14:modId xmlns:p14="http://schemas.microsoft.com/office/powerpoint/2010/main" val="2930930740"/>
              </p:ext>
            </p:extLst>
          </p:nvPr>
        </p:nvGraphicFramePr>
        <p:xfrm>
          <a:off x="838200" y="685800"/>
          <a:ext cx="6477000" cy="2560638"/>
        </p:xfrm>
        <a:graphic>
          <a:graphicData uri="http://schemas.openxmlformats.org/drawingml/2006/table">
            <a:tbl>
              <a:tblPr firstRow="1" bandRow="1">
                <a:tableStyleId>{7E9639D4-E3E2-4D34-9284-5A2195B3D0D7}</a:tableStyleId>
              </a:tblPr>
              <a:tblGrid>
                <a:gridCol w="1143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914514">
                <a:tc>
                  <a:txBody>
                    <a:bodyPr/>
                    <a:lstStyle/>
                    <a:p>
                      <a:pPr algn="ctr"/>
                      <a:r>
                        <a:rPr lang="en-US" sz="1800" b="1" dirty="0">
                          <a:solidFill>
                            <a:schemeClr val="tx1"/>
                          </a:solidFill>
                        </a:rPr>
                        <a:t>Starting Age</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800" b="1" kern="1200" dirty="0">
                          <a:solidFill>
                            <a:schemeClr val="tx1"/>
                          </a:solidFill>
                          <a:latin typeface="+mn-lt"/>
                          <a:ea typeface="+mn-ea"/>
                          <a:cs typeface="+mn-cs"/>
                        </a:rPr>
                        <a:t>Total Amount </a:t>
                      </a:r>
                      <a:br>
                        <a:rPr lang="en-US" sz="1800" b="1" kern="1200" dirty="0">
                          <a:solidFill>
                            <a:schemeClr val="tx1"/>
                          </a:solidFill>
                          <a:latin typeface="+mn-lt"/>
                          <a:ea typeface="+mn-ea"/>
                          <a:cs typeface="+mn-cs"/>
                        </a:rPr>
                      </a:br>
                      <a:r>
                        <a:rPr lang="en-US" sz="1800" b="1" kern="1200" dirty="0">
                          <a:solidFill>
                            <a:schemeClr val="tx1"/>
                          </a:solidFill>
                          <a:latin typeface="+mn-lt"/>
                          <a:ea typeface="+mn-ea"/>
                          <a:cs typeface="+mn-cs"/>
                        </a:rPr>
                        <a:t>Contributed</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800" b="1" kern="1200" dirty="0">
                          <a:solidFill>
                            <a:schemeClr val="tx1"/>
                          </a:solidFill>
                          <a:latin typeface="+mn-lt"/>
                          <a:ea typeface="+mn-ea"/>
                          <a:cs typeface="+mn-cs"/>
                        </a:rPr>
                        <a:t>Total Amount at </a:t>
                      </a:r>
                      <a:br>
                        <a:rPr lang="en-US" sz="1800" b="1" kern="1200" dirty="0">
                          <a:solidFill>
                            <a:schemeClr val="tx1"/>
                          </a:solidFill>
                          <a:latin typeface="+mn-lt"/>
                          <a:ea typeface="+mn-ea"/>
                          <a:cs typeface="+mn-cs"/>
                        </a:rPr>
                      </a:br>
                      <a:r>
                        <a:rPr lang="en-US" sz="1800" b="1" kern="1200" dirty="0">
                          <a:solidFill>
                            <a:schemeClr val="tx1"/>
                          </a:solidFill>
                          <a:latin typeface="+mn-lt"/>
                          <a:ea typeface="+mn-ea"/>
                          <a:cs typeface="+mn-cs"/>
                        </a:rPr>
                        <a:t>Start of Retirement </a:t>
                      </a:r>
                      <a:br>
                        <a:rPr lang="en-US" sz="1800" b="1" kern="1200" dirty="0">
                          <a:solidFill>
                            <a:schemeClr val="tx1"/>
                          </a:solidFill>
                          <a:latin typeface="+mn-lt"/>
                          <a:ea typeface="+mn-ea"/>
                          <a:cs typeface="+mn-cs"/>
                        </a:rPr>
                      </a:br>
                      <a:r>
                        <a:rPr lang="en-US" sz="1800" b="1" kern="1200" dirty="0">
                          <a:solidFill>
                            <a:schemeClr val="tx1"/>
                          </a:solidFill>
                          <a:latin typeface="+mn-lt"/>
                          <a:ea typeface="+mn-ea"/>
                          <a:cs typeface="+mn-cs"/>
                        </a:rPr>
                        <a:t>(Age 65)</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0"/>
                  </a:ext>
                </a:extLst>
              </a:tr>
              <a:tr h="548708">
                <a:tc>
                  <a:txBody>
                    <a:bodyPr/>
                    <a:lstStyle/>
                    <a:p>
                      <a:pPr algn="ctr"/>
                      <a:r>
                        <a:rPr lang="en-US" sz="1800" b="1" dirty="0">
                          <a:solidFill>
                            <a:schemeClr val="tx1"/>
                          </a:solidFill>
                        </a:rPr>
                        <a:t>25</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solidFill>
                            <a:schemeClr val="tx1"/>
                          </a:solidFill>
                        </a:rPr>
                        <a:t>$67,263.65</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$311,989.20</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48708">
                <a:tc>
                  <a:txBody>
                    <a:bodyPr/>
                    <a:lstStyle/>
                    <a:p>
                      <a:pPr algn="ctr"/>
                      <a:r>
                        <a:rPr lang="en-US" sz="1800" b="1" dirty="0"/>
                        <a:t>35</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$55,068.73</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$170,020.96</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48708">
                <a:tc>
                  <a:txBody>
                    <a:bodyPr/>
                    <a:lstStyle/>
                    <a:p>
                      <a:pPr algn="ctr"/>
                      <a:r>
                        <a:rPr lang="en-US" sz="1800" b="1" dirty="0"/>
                        <a:t>45</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$40,207.29</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$83,916.67</a:t>
                      </a:r>
                    </a:p>
                  </a:txBody>
                  <a:tcPr marT="45726" marB="457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170" name="TextBox 5">
            <a:extLst>
              <a:ext uri="{FF2B5EF4-FFF2-40B4-BE49-F238E27FC236}">
                <a16:creationId xmlns:a16="http://schemas.microsoft.com/office/drawing/2014/main" id="{5614CB29-1DCA-0D4E-4B0D-4D893E21C1BC}"/>
              </a:ext>
            </a:extLst>
          </p:cNvPr>
          <p:cNvSpPr txBox="1">
            <a:spLocks noChangeArrowheads="1"/>
          </p:cNvSpPr>
          <p:nvPr/>
        </p:nvSpPr>
        <p:spPr bwMode="auto">
          <a:xfrm>
            <a:off x="403225" y="3738563"/>
            <a:ext cx="80772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dirty="0"/>
              <a:t>One surprising result is how large the gap becomes between the different starting ages. The accountant who starts saving at 45 ends up with only about 27% of what the 25-year-old saves, despite still saving for 20 years. This shows that delaying savings significantly reduces the final retirement amount. I have noted that starting early, even with smaller contributions, leads to much greater long-term financial security.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26C540-A2B8-AD9A-F6D4-22CB23ED1D95}"/>
              </a:ext>
            </a:extLst>
          </p:cNvPr>
          <p:cNvSpPr/>
          <p:nvPr/>
        </p:nvSpPr>
        <p:spPr>
          <a:xfrm>
            <a:off x="-2514600" y="0"/>
            <a:ext cx="2362200" cy="685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r>
              <a:rPr lang="en-US" sz="1600" dirty="0">
                <a:solidFill>
                  <a:schemeClr val="tx1"/>
                </a:solidFill>
              </a:rPr>
              <a:t>DIRECTIONS:</a:t>
            </a:r>
          </a:p>
          <a:p>
            <a:pPr fontAlgn="auto">
              <a:spcBef>
                <a:spcPts val="0"/>
              </a:spcBef>
              <a:spcAft>
                <a:spcPts val="0"/>
              </a:spcAft>
              <a:defRPr/>
            </a:pPr>
            <a:endParaRPr lang="en-US" sz="1600" dirty="0">
              <a:solidFill>
                <a:schemeClr val="tx1"/>
              </a:solidFill>
            </a:endParaRPr>
          </a:p>
          <a:p>
            <a:pPr marL="342900" indent="-342900" fontAlgn="auto">
              <a:spcBef>
                <a:spcPts val="0"/>
              </a:spcBef>
              <a:spcAft>
                <a:spcPts val="0"/>
              </a:spcAft>
              <a:buFont typeface="+mj-lt"/>
              <a:buAutoNum type="arabicPeriod"/>
              <a:defRPr/>
            </a:pPr>
            <a:r>
              <a:rPr lang="en-US" sz="1600" dirty="0">
                <a:solidFill>
                  <a:schemeClr val="tx1"/>
                </a:solidFill>
              </a:rPr>
              <a:t>Carefully follow the instructions in the Project Overview to complete the table.</a:t>
            </a:r>
          </a:p>
          <a:p>
            <a:pPr marL="342900" indent="-342900" fontAlgn="auto">
              <a:spcBef>
                <a:spcPts val="0"/>
              </a:spcBef>
              <a:spcAft>
                <a:spcPts val="0"/>
              </a:spcAft>
              <a:buFont typeface="+mj-lt"/>
              <a:buAutoNum type="arabicPeriod"/>
              <a:defRPr/>
            </a:pPr>
            <a:r>
              <a:rPr lang="en-US" sz="1600" dirty="0">
                <a:solidFill>
                  <a:schemeClr val="tx1"/>
                </a:solidFill>
              </a:rPr>
              <a:t>Replace [Discussion] with a brief discussion about your findings. Include in your discussion whether you found any of the results surprising. </a:t>
            </a:r>
          </a:p>
          <a:p>
            <a:pPr fontAlgn="auto">
              <a:spcBef>
                <a:spcPts val="0"/>
              </a:spcBef>
              <a:spcAft>
                <a:spcPts val="0"/>
              </a:spcAft>
              <a:defRPr/>
            </a:pPr>
            <a:r>
              <a:rPr lang="en-US" sz="1600" dirty="0">
                <a:solidFill>
                  <a:schemeClr val="tx1"/>
                </a:solidFill>
              </a:rPr>
              <a:t> </a:t>
            </a:r>
          </a:p>
        </p:txBody>
      </p:sp>
      <p:sp>
        <p:nvSpPr>
          <p:cNvPr id="7171" name="Title 1">
            <a:extLst>
              <a:ext uri="{FF2B5EF4-FFF2-40B4-BE49-F238E27FC236}">
                <a16:creationId xmlns:a16="http://schemas.microsoft.com/office/drawing/2014/main" id="{A1C515D8-D103-B4BA-527B-4D205BF75301}"/>
              </a:ext>
            </a:extLst>
          </p:cNvPr>
          <p:cNvSpPr>
            <a:spLocks noGrp="1"/>
          </p:cNvSpPr>
          <p:nvPr>
            <p:ph type="title"/>
          </p:nvPr>
        </p:nvSpPr>
        <p:spPr>
          <a:xfrm>
            <a:off x="381000" y="53975"/>
            <a:ext cx="8229600" cy="403225"/>
          </a:xfrm>
        </p:spPr>
        <p:txBody>
          <a:bodyPr/>
          <a:lstStyle/>
          <a:p>
            <a:r>
              <a:rPr lang="en-US" altLang="en-US" b="1"/>
              <a:t>Other Comparisons</a:t>
            </a:r>
          </a:p>
        </p:txBody>
      </p:sp>
      <p:graphicFrame>
        <p:nvGraphicFramePr>
          <p:cNvPr id="5" name="Table 4">
            <a:extLst>
              <a:ext uri="{FF2B5EF4-FFF2-40B4-BE49-F238E27FC236}">
                <a16:creationId xmlns:a16="http://schemas.microsoft.com/office/drawing/2014/main" id="{C13BBE95-4084-BAB6-989B-B59715D8B2C9}"/>
              </a:ext>
            </a:extLst>
          </p:cNvPr>
          <p:cNvGraphicFramePr>
            <a:graphicFrameLocks noGrp="1"/>
          </p:cNvGraphicFramePr>
          <p:nvPr>
            <p:extLst>
              <p:ext uri="{D42A27DB-BD31-4B8C-83A1-F6EECF244321}">
                <p14:modId xmlns:p14="http://schemas.microsoft.com/office/powerpoint/2010/main" val="500140545"/>
              </p:ext>
            </p:extLst>
          </p:nvPr>
        </p:nvGraphicFramePr>
        <p:xfrm>
          <a:off x="719138" y="685800"/>
          <a:ext cx="7445375" cy="2835274"/>
        </p:xfrm>
        <a:graphic>
          <a:graphicData uri="http://schemas.openxmlformats.org/drawingml/2006/table">
            <a:tbl>
              <a:tblPr firstRow="1" bandRow="1">
                <a:tableStyleId>{7E9639D4-E3E2-4D34-9284-5A2195B3D0D7}</a:tableStyleId>
              </a:tblPr>
              <a:tblGrid>
                <a:gridCol w="2405601">
                  <a:extLst>
                    <a:ext uri="{9D8B030D-6E8A-4147-A177-3AD203B41FA5}">
                      <a16:colId xmlns:a16="http://schemas.microsoft.com/office/drawing/2014/main" val="20000"/>
                    </a:ext>
                  </a:extLst>
                </a:gridCol>
                <a:gridCol w="2288222">
                  <a:extLst>
                    <a:ext uri="{9D8B030D-6E8A-4147-A177-3AD203B41FA5}">
                      <a16:colId xmlns:a16="http://schemas.microsoft.com/office/drawing/2014/main" val="20001"/>
                    </a:ext>
                  </a:extLst>
                </a:gridCol>
                <a:gridCol w="2751552">
                  <a:extLst>
                    <a:ext uri="{9D8B030D-6E8A-4147-A177-3AD203B41FA5}">
                      <a16:colId xmlns:a16="http://schemas.microsoft.com/office/drawing/2014/main" val="20002"/>
                    </a:ext>
                  </a:extLst>
                </a:gridCol>
              </a:tblGrid>
              <a:tr h="914605">
                <a:tc>
                  <a:txBody>
                    <a:bodyPr/>
                    <a:lstStyle/>
                    <a:p>
                      <a:pPr algn="ctr"/>
                      <a:r>
                        <a:rPr lang="en-US" sz="1800" b="1" dirty="0">
                          <a:solidFill>
                            <a:schemeClr val="tx1"/>
                          </a:solidFill>
                        </a:rPr>
                        <a:t>Scenario</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800" b="1" kern="1200" dirty="0">
                          <a:solidFill>
                            <a:schemeClr val="tx1"/>
                          </a:solidFill>
                          <a:latin typeface="+mn-lt"/>
                          <a:ea typeface="+mn-ea"/>
                          <a:cs typeface="+mn-cs"/>
                        </a:rPr>
                        <a:t>Total Amount Contributed</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800" b="1" kern="1200" dirty="0">
                          <a:solidFill>
                            <a:schemeClr val="tx1"/>
                          </a:solidFill>
                          <a:latin typeface="+mn-lt"/>
                          <a:ea typeface="+mn-ea"/>
                          <a:cs typeface="+mn-cs"/>
                        </a:rPr>
                        <a:t>Total Amount at the </a:t>
                      </a:r>
                      <a:br>
                        <a:rPr lang="en-US" sz="1800" b="1" kern="1200" dirty="0">
                          <a:solidFill>
                            <a:schemeClr val="tx1"/>
                          </a:solidFill>
                          <a:latin typeface="+mn-lt"/>
                          <a:ea typeface="+mn-ea"/>
                          <a:cs typeface="+mn-cs"/>
                        </a:rPr>
                      </a:br>
                      <a:r>
                        <a:rPr lang="en-US" sz="1800" b="1" kern="1200" dirty="0">
                          <a:solidFill>
                            <a:schemeClr val="tx1"/>
                          </a:solidFill>
                          <a:latin typeface="+mn-lt"/>
                          <a:ea typeface="+mn-ea"/>
                          <a:cs typeface="+mn-cs"/>
                        </a:rPr>
                        <a:t>Start of Retirement </a:t>
                      </a:r>
                      <a:br>
                        <a:rPr lang="en-US" sz="1800" b="1" kern="1200" dirty="0">
                          <a:solidFill>
                            <a:schemeClr val="tx1"/>
                          </a:solidFill>
                          <a:latin typeface="+mn-lt"/>
                          <a:ea typeface="+mn-ea"/>
                          <a:cs typeface="+mn-cs"/>
                        </a:rPr>
                      </a:br>
                      <a:r>
                        <a:rPr lang="en-US" sz="1800" b="1" kern="1200" dirty="0">
                          <a:solidFill>
                            <a:schemeClr val="tx1"/>
                          </a:solidFill>
                          <a:latin typeface="+mn-lt"/>
                          <a:ea typeface="+mn-ea"/>
                          <a:cs typeface="+mn-cs"/>
                        </a:rPr>
                        <a:t>(Age 65)</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0"/>
                  </a:ext>
                </a:extLst>
              </a:tr>
              <a:tr h="640223">
                <a:tc>
                  <a:txBody>
                    <a:bodyPr/>
                    <a:lstStyle/>
                    <a:p>
                      <a:pPr algn="ctr"/>
                      <a:r>
                        <a:rPr lang="en-US" sz="1800" b="1" dirty="0">
                          <a:solidFill>
                            <a:schemeClr val="tx1"/>
                          </a:solidFill>
                        </a:rPr>
                        <a:t>Save</a:t>
                      </a:r>
                      <a:r>
                        <a:rPr lang="en-US" sz="1800" b="1" baseline="0" dirty="0">
                          <a:solidFill>
                            <a:schemeClr val="tx1"/>
                          </a:solidFill>
                        </a:rPr>
                        <a:t> 5% from </a:t>
                      </a:r>
                      <a:br>
                        <a:rPr lang="en-US" sz="1800" b="1" baseline="0" dirty="0">
                          <a:solidFill>
                            <a:schemeClr val="tx1"/>
                          </a:solidFill>
                        </a:rPr>
                      </a:br>
                      <a:r>
                        <a:rPr lang="en-US" sz="1800" b="1" baseline="0" dirty="0">
                          <a:solidFill>
                            <a:schemeClr val="tx1"/>
                          </a:solidFill>
                        </a:rPr>
                        <a:t>age 25 to age 35</a:t>
                      </a:r>
                      <a:endParaRPr lang="en-US" sz="1800" b="1" dirty="0">
                        <a:solidFill>
                          <a:schemeClr val="tx1"/>
                        </a:solidFill>
                      </a:endParaRP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solidFill>
                            <a:schemeClr val="tx1"/>
                          </a:solidFill>
                        </a:rPr>
                        <a:t>$12,193.61</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$98,969.40</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40223">
                <a:tc>
                  <a:txBody>
                    <a:bodyPr/>
                    <a:lstStyle/>
                    <a:p>
                      <a:pPr algn="ctr"/>
                      <a:r>
                        <a:rPr lang="en-US" sz="1800" b="1" dirty="0"/>
                        <a:t>Save 5% from </a:t>
                      </a:r>
                      <a:br>
                        <a:rPr lang="en-US" sz="1800" b="1" dirty="0"/>
                      </a:br>
                      <a:r>
                        <a:rPr lang="en-US" sz="1800" b="1" dirty="0"/>
                        <a:t>age 35 to age 65</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$55,068.73</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$170,020.96</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40223">
                <a:tc>
                  <a:txBody>
                    <a:bodyPr/>
                    <a:lstStyle/>
                    <a:p>
                      <a:pPr algn="ctr"/>
                      <a:r>
                        <a:rPr lang="en-US" sz="1800" b="1" dirty="0"/>
                        <a:t>Save 10% from </a:t>
                      </a:r>
                      <a:br>
                        <a:rPr lang="en-US" sz="1800" b="1" dirty="0"/>
                      </a:br>
                      <a:r>
                        <a:rPr lang="en-US" sz="1800" b="1" dirty="0"/>
                        <a:t>age 45 to age 65</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$80,414.58</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$167,833.34</a:t>
                      </a:r>
                    </a:p>
                  </a:txBody>
                  <a:tcPr marL="91434" marR="91434" marT="45730" marB="457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7194" name="TextBox 5">
            <a:extLst>
              <a:ext uri="{FF2B5EF4-FFF2-40B4-BE49-F238E27FC236}">
                <a16:creationId xmlns:a16="http://schemas.microsoft.com/office/drawing/2014/main" id="{ED89D4CB-973C-68E5-2404-5DE750DD6051}"/>
              </a:ext>
            </a:extLst>
          </p:cNvPr>
          <p:cNvSpPr txBox="1">
            <a:spLocks noChangeArrowheads="1"/>
          </p:cNvSpPr>
          <p:nvPr/>
        </p:nvSpPr>
        <p:spPr bwMode="auto">
          <a:xfrm>
            <a:off x="403225" y="3886200"/>
            <a:ext cx="80772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dirty="0"/>
              <a:t>One interesting finding is that someone who saves only for 10 years (from age 25 to 35) but allows their savings to grow still ends up with $98,969.40 at retirement, despite contributing only $12,193.61. This shows the power of compound interest, as the money continues to grow for 30 years without any additional contributions.</a:t>
            </a:r>
          </a:p>
          <a:p>
            <a:br>
              <a:rPr lang="en-US" altLang="en-US" dirty="0"/>
            </a:br>
            <a:r>
              <a:rPr lang="en-US" altLang="en-US" dirty="0"/>
              <a:t>Also it’s interesting how the accountant who saves 10% from age 45 to 65 contributes the most ($80,414.58) but ends up with less than the accountant who started saving at 35 with just 5%. Thus, showing that starting early matters more than contributing larger amounts later, and even a small early investment can grow significantly over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211899-9C83-FD96-2E1D-89D12BE25DB2}"/>
              </a:ext>
            </a:extLst>
          </p:cNvPr>
          <p:cNvSpPr/>
          <p:nvPr/>
        </p:nvSpPr>
        <p:spPr>
          <a:xfrm>
            <a:off x="-2514600" y="0"/>
            <a:ext cx="2362200" cy="6858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r>
              <a:rPr lang="en-US" sz="1600" dirty="0">
                <a:solidFill>
                  <a:schemeClr val="tx1"/>
                </a:solidFill>
              </a:rPr>
              <a:t>DIRECTIONS:</a:t>
            </a:r>
          </a:p>
          <a:p>
            <a:pPr fontAlgn="auto">
              <a:spcBef>
                <a:spcPts val="0"/>
              </a:spcBef>
              <a:spcAft>
                <a:spcPts val="0"/>
              </a:spcAft>
              <a:defRPr/>
            </a:pPr>
            <a:endParaRPr lang="en-US" sz="1600" dirty="0">
              <a:solidFill>
                <a:schemeClr val="tx1"/>
              </a:solidFill>
            </a:endParaRPr>
          </a:p>
          <a:p>
            <a:pPr marL="342900" indent="-342900" fontAlgn="auto">
              <a:spcBef>
                <a:spcPts val="0"/>
              </a:spcBef>
              <a:spcAft>
                <a:spcPts val="0"/>
              </a:spcAft>
              <a:buFontTx/>
              <a:buAutoNum type="arabicPeriod"/>
              <a:defRPr/>
            </a:pPr>
            <a:r>
              <a:rPr lang="en-US" sz="1600" dirty="0">
                <a:solidFill>
                  <a:schemeClr val="tx1"/>
                </a:solidFill>
              </a:rPr>
              <a:t>Follow the instructions in the Project Overview to complete the table.</a:t>
            </a:r>
          </a:p>
          <a:p>
            <a:pPr marL="342900" indent="-342900" fontAlgn="auto">
              <a:spcBef>
                <a:spcPts val="0"/>
              </a:spcBef>
              <a:spcAft>
                <a:spcPts val="0"/>
              </a:spcAft>
              <a:buFontTx/>
              <a:buAutoNum type="arabicPeriod"/>
              <a:defRPr/>
            </a:pPr>
            <a:r>
              <a:rPr lang="en-US" sz="1600" dirty="0">
                <a:solidFill>
                  <a:schemeClr val="tx1"/>
                </a:solidFill>
              </a:rPr>
              <a:t>Replace [Discussion] with a brief discussion that tells whether and why it is reasonable to expect someone who earns the salary on slide 2 to have a million dollars in the account when the person retires. </a:t>
            </a:r>
          </a:p>
        </p:txBody>
      </p:sp>
      <p:sp>
        <p:nvSpPr>
          <p:cNvPr id="8195" name="Title 1">
            <a:extLst>
              <a:ext uri="{FF2B5EF4-FFF2-40B4-BE49-F238E27FC236}">
                <a16:creationId xmlns:a16="http://schemas.microsoft.com/office/drawing/2014/main" id="{584A988D-6273-716C-6B91-2495184342BE}"/>
              </a:ext>
            </a:extLst>
          </p:cNvPr>
          <p:cNvSpPr>
            <a:spLocks noGrp="1"/>
          </p:cNvSpPr>
          <p:nvPr>
            <p:ph type="title"/>
          </p:nvPr>
        </p:nvSpPr>
        <p:spPr>
          <a:xfrm>
            <a:off x="381000" y="53975"/>
            <a:ext cx="8229600" cy="403225"/>
          </a:xfrm>
        </p:spPr>
        <p:txBody>
          <a:bodyPr/>
          <a:lstStyle/>
          <a:p>
            <a:r>
              <a:rPr lang="en-US" altLang="en-US" b="1"/>
              <a:t>Reaching Certain Goals</a:t>
            </a:r>
          </a:p>
        </p:txBody>
      </p:sp>
      <p:graphicFrame>
        <p:nvGraphicFramePr>
          <p:cNvPr id="5" name="Table 4">
            <a:extLst>
              <a:ext uri="{FF2B5EF4-FFF2-40B4-BE49-F238E27FC236}">
                <a16:creationId xmlns:a16="http://schemas.microsoft.com/office/drawing/2014/main" id="{7B0B69FB-4565-9874-E079-8EBAD243ADBC}"/>
              </a:ext>
            </a:extLst>
          </p:cNvPr>
          <p:cNvGraphicFramePr>
            <a:graphicFrameLocks noGrp="1"/>
          </p:cNvGraphicFramePr>
          <p:nvPr>
            <p:extLst>
              <p:ext uri="{D42A27DB-BD31-4B8C-83A1-F6EECF244321}">
                <p14:modId xmlns:p14="http://schemas.microsoft.com/office/powerpoint/2010/main" val="3901305614"/>
              </p:ext>
            </p:extLst>
          </p:nvPr>
        </p:nvGraphicFramePr>
        <p:xfrm>
          <a:off x="685800" y="990600"/>
          <a:ext cx="7445375" cy="2193924"/>
        </p:xfrm>
        <a:graphic>
          <a:graphicData uri="http://schemas.openxmlformats.org/drawingml/2006/table">
            <a:tbl>
              <a:tblPr firstRow="1" bandRow="1">
                <a:tableStyleId>{7E9639D4-E3E2-4D34-9284-5A2195B3D0D7}</a:tableStyleId>
              </a:tblPr>
              <a:tblGrid>
                <a:gridCol w="2405601">
                  <a:extLst>
                    <a:ext uri="{9D8B030D-6E8A-4147-A177-3AD203B41FA5}">
                      <a16:colId xmlns:a16="http://schemas.microsoft.com/office/drawing/2014/main" val="20000"/>
                    </a:ext>
                  </a:extLst>
                </a:gridCol>
                <a:gridCol w="2288222">
                  <a:extLst>
                    <a:ext uri="{9D8B030D-6E8A-4147-A177-3AD203B41FA5}">
                      <a16:colId xmlns:a16="http://schemas.microsoft.com/office/drawing/2014/main" val="20001"/>
                    </a:ext>
                  </a:extLst>
                </a:gridCol>
                <a:gridCol w="2751552">
                  <a:extLst>
                    <a:ext uri="{9D8B030D-6E8A-4147-A177-3AD203B41FA5}">
                      <a16:colId xmlns:a16="http://schemas.microsoft.com/office/drawing/2014/main" val="20002"/>
                    </a:ext>
                  </a:extLst>
                </a:gridCol>
              </a:tblGrid>
              <a:tr h="548481">
                <a:tc>
                  <a:txBody>
                    <a:bodyPr/>
                    <a:lstStyle/>
                    <a:p>
                      <a:pPr algn="ctr"/>
                      <a:r>
                        <a:rPr lang="en-US" sz="1800" b="1" dirty="0">
                          <a:solidFill>
                            <a:schemeClr val="tx1"/>
                          </a:solidFill>
                        </a:rPr>
                        <a:t>Retirement Goal</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800" b="1" kern="1200" dirty="0">
                          <a:solidFill>
                            <a:schemeClr val="tx1"/>
                          </a:solidFill>
                          <a:latin typeface="+mn-lt"/>
                          <a:ea typeface="+mn-ea"/>
                          <a:cs typeface="+mn-cs"/>
                        </a:rPr>
                        <a:t>Amount </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800" b="1" kern="1200" dirty="0">
                          <a:solidFill>
                            <a:schemeClr val="tx1"/>
                          </a:solidFill>
                          <a:latin typeface="+mn-lt"/>
                          <a:ea typeface="+mn-ea"/>
                          <a:cs typeface="+mn-cs"/>
                        </a:rPr>
                        <a:t>Percent</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0"/>
                  </a:ext>
                </a:extLst>
              </a:tr>
              <a:tr h="548481">
                <a:tc>
                  <a:txBody>
                    <a:bodyPr/>
                    <a:lstStyle/>
                    <a:p>
                      <a:pPr algn="ctr"/>
                      <a:r>
                        <a:rPr lang="en-US" sz="1800" b="1" dirty="0">
                          <a:solidFill>
                            <a:schemeClr val="tx1"/>
                          </a:solidFill>
                        </a:rPr>
                        <a:t>At least $250,000</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solidFill>
                            <a:schemeClr val="tx1"/>
                          </a:solidFill>
                        </a:rPr>
                        <a:t>74.50</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4.04%</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48481">
                <a:tc>
                  <a:txBody>
                    <a:bodyPr/>
                    <a:lstStyle/>
                    <a:p>
                      <a:pPr algn="ctr"/>
                      <a:r>
                        <a:rPr lang="en-US" sz="1800" b="1" dirty="0"/>
                        <a:t>At least $750,000</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223.50</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12.04%</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48481">
                <a:tc>
                  <a:txBody>
                    <a:bodyPr/>
                    <a:lstStyle/>
                    <a:p>
                      <a:pPr algn="ctr"/>
                      <a:r>
                        <a:rPr lang="en-US" sz="1800" b="1" dirty="0"/>
                        <a:t>At least $1,000,000</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297.50</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b="0" dirty="0">
                          <a:solidFill>
                            <a:schemeClr val="tx1"/>
                          </a:solidFill>
                        </a:rPr>
                        <a:t>16.03%</a:t>
                      </a:r>
                    </a:p>
                  </a:txBody>
                  <a:tcPr marL="91434" marR="91434" marT="45707" marB="457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8218" name="TextBox 5">
            <a:extLst>
              <a:ext uri="{FF2B5EF4-FFF2-40B4-BE49-F238E27FC236}">
                <a16:creationId xmlns:a16="http://schemas.microsoft.com/office/drawing/2014/main" id="{BBF8B570-96EF-FDE4-726D-5DB83432F4A1}"/>
              </a:ext>
            </a:extLst>
          </p:cNvPr>
          <p:cNvSpPr txBox="1">
            <a:spLocks noChangeArrowheads="1"/>
          </p:cNvSpPr>
          <p:nvPr/>
        </p:nvSpPr>
        <p:spPr bwMode="auto">
          <a:xfrm>
            <a:off x="423863" y="3657600"/>
            <a:ext cx="80772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altLang="en-US" dirty="0"/>
              <a:t>The results show that to reach a retirement savings goal of $1,000,000, an accountant must contribute at least $297.50 per month starting in their first working year. This amounts to 16.03% of their gross salary, which is a significant portion of income.</a:t>
            </a:r>
          </a:p>
          <a:p>
            <a:endParaRPr lang="en-US" altLang="en-US" dirty="0"/>
          </a:p>
          <a:p>
            <a:r>
              <a:rPr lang="en-US" altLang="en-US" dirty="0"/>
              <a:t>Saving 16.03% of gross salary every month for 40 years can be difficult, especially with other financial responsibilities like rent, loans, and daily expenses. However, it is possible with careful budgeting. Additionally, if the accountant starts saving later in life, they would need to contribute even more to make up for lost time.</a:t>
            </a:r>
          </a:p>
          <a:p>
            <a:endParaRPr lang="en-US" alt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solidFill>
            <a:schemeClr val="tx1"/>
          </a:solidFill>
        </a:ln>
      </a:spPr>
      <a:bodyPr rtlCol="0" anchor="t" anchorCtr="0"/>
      <a:lstStyle>
        <a:defPPr>
          <a:defRPr sz="16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4426</TotalTime>
  <Words>755</Words>
  <Application>Microsoft Office PowerPoint</Application>
  <PresentationFormat>On-screen Show (4:3)</PresentationFormat>
  <Paragraphs>101</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Arial</vt:lpstr>
      <vt:lpstr>Office Theme</vt:lpstr>
      <vt:lpstr>Saving for Retirement </vt:lpstr>
      <vt:lpstr>Salary Information</vt:lpstr>
      <vt:lpstr>An Overall Look at the Retirement Account</vt:lpstr>
      <vt:lpstr>Starting-Age Comparisons</vt:lpstr>
      <vt:lpstr>Other Comparisons</vt:lpstr>
      <vt:lpstr>Reaching Certain Goals</vt:lpstr>
    </vt:vector>
  </TitlesOfParts>
  <Company>K12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 the Media</dc:title>
  <dc:creator>Michele Patrick</dc:creator>
  <cp:lastModifiedBy>Microsoft Account</cp:lastModifiedBy>
  <cp:revision>185</cp:revision>
  <dcterms:created xsi:type="dcterms:W3CDTF">2013-01-16T17:23:35Z</dcterms:created>
  <dcterms:modified xsi:type="dcterms:W3CDTF">2025-02-20T19:17:16Z</dcterms:modified>
</cp:coreProperties>
</file>