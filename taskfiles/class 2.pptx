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55" r:id="rId2"/>
    <p:sldId id="256" r:id="rId3"/>
    <p:sldId id="319" r:id="rId4"/>
    <p:sldId id="471" r:id="rId5"/>
    <p:sldId id="470" r:id="rId6"/>
    <p:sldId id="469" r:id="rId7"/>
    <p:sldId id="350" r:id="rId8"/>
    <p:sldId id="465" r:id="rId9"/>
    <p:sldId id="351" r:id="rId10"/>
    <p:sldId id="472" r:id="rId11"/>
    <p:sldId id="349" r:id="rId12"/>
    <p:sldId id="466" r:id="rId13"/>
    <p:sldId id="467" r:id="rId14"/>
    <p:sldId id="468" r:id="rId15"/>
    <p:sldId id="360" r:id="rId16"/>
    <p:sldId id="270" r:id="rId17"/>
    <p:sldId id="361" r:id="rId18"/>
    <p:sldId id="474" r:id="rId19"/>
    <p:sldId id="473" r:id="rId20"/>
    <p:sldId id="362" r:id="rId21"/>
    <p:sldId id="320" r:id="rId22"/>
    <p:sldId id="363" r:id="rId23"/>
    <p:sldId id="364" r:id="rId24"/>
    <p:sldId id="322" r:id="rId25"/>
    <p:sldId id="323" r:id="rId26"/>
    <p:sldId id="348" r:id="rId27"/>
    <p:sldId id="365" r:id="rId28"/>
    <p:sldId id="475" r:id="rId29"/>
    <p:sldId id="366" r:id="rId30"/>
    <p:sldId id="328" r:id="rId31"/>
    <p:sldId id="355" r:id="rId32"/>
    <p:sldId id="358" r:id="rId33"/>
    <p:sldId id="367" r:id="rId34"/>
    <p:sldId id="359" r:id="rId35"/>
    <p:sldId id="356" r:id="rId36"/>
    <p:sldId id="353" r:id="rId37"/>
    <p:sldId id="357" r:id="rId38"/>
    <p:sldId id="369" r:id="rId39"/>
    <p:sldId id="327" r:id="rId40"/>
    <p:sldId id="456" r:id="rId41"/>
    <p:sldId id="371" r:id="rId42"/>
    <p:sldId id="457" r:id="rId43"/>
    <p:sldId id="458" r:id="rId44"/>
    <p:sldId id="476" r:id="rId45"/>
    <p:sldId id="370" r:id="rId46"/>
    <p:sldId id="477" r:id="rId47"/>
    <p:sldId id="326" r:id="rId48"/>
    <p:sldId id="373" r:id="rId49"/>
    <p:sldId id="478" r:id="rId50"/>
    <p:sldId id="374" r:id="rId51"/>
    <p:sldId id="479" r:id="rId52"/>
    <p:sldId id="375" r:id="rId53"/>
    <p:sldId id="372" r:id="rId54"/>
    <p:sldId id="376" r:id="rId55"/>
    <p:sldId id="377" r:id="rId56"/>
    <p:sldId id="378" r:id="rId57"/>
    <p:sldId id="480" r:id="rId58"/>
    <p:sldId id="324" r:id="rId59"/>
    <p:sldId id="379" r:id="rId60"/>
    <p:sldId id="380" r:id="rId61"/>
    <p:sldId id="381" r:id="rId62"/>
    <p:sldId id="382" r:id="rId63"/>
    <p:sldId id="481" r:id="rId64"/>
    <p:sldId id="383" r:id="rId65"/>
    <p:sldId id="459" r:id="rId66"/>
    <p:sldId id="384" r:id="rId67"/>
    <p:sldId id="385" r:id="rId68"/>
    <p:sldId id="329" r:id="rId69"/>
    <p:sldId id="388" r:id="rId70"/>
    <p:sldId id="389" r:id="rId71"/>
    <p:sldId id="390" r:id="rId72"/>
    <p:sldId id="391" r:id="rId73"/>
    <p:sldId id="392" r:id="rId74"/>
    <p:sldId id="393" r:id="rId75"/>
    <p:sldId id="394" r:id="rId76"/>
    <p:sldId id="395" r:id="rId77"/>
    <p:sldId id="484" r:id="rId78"/>
    <p:sldId id="483" r:id="rId79"/>
    <p:sldId id="482" r:id="rId80"/>
    <p:sldId id="487" r:id="rId81"/>
    <p:sldId id="486" r:id="rId82"/>
    <p:sldId id="485" r:id="rId83"/>
    <p:sldId id="396" r:id="rId84"/>
    <p:sldId id="397" r:id="rId85"/>
    <p:sldId id="398" r:id="rId86"/>
    <p:sldId id="488" r:id="rId87"/>
    <p:sldId id="498" r:id="rId88"/>
    <p:sldId id="499" r:id="rId89"/>
    <p:sldId id="460" r:id="rId90"/>
    <p:sldId id="331" r:id="rId91"/>
    <p:sldId id="399" r:id="rId92"/>
    <p:sldId id="400" r:id="rId93"/>
    <p:sldId id="332" r:id="rId94"/>
    <p:sldId id="461" r:id="rId95"/>
    <p:sldId id="401" r:id="rId96"/>
    <p:sldId id="333" r:id="rId97"/>
    <p:sldId id="403" r:id="rId98"/>
    <p:sldId id="402" r:id="rId99"/>
    <p:sldId id="404" r:id="rId100"/>
    <p:sldId id="405" r:id="rId101"/>
    <p:sldId id="407" r:id="rId102"/>
    <p:sldId id="406" r:id="rId103"/>
    <p:sldId id="501" r:id="rId104"/>
    <p:sldId id="500" r:id="rId105"/>
    <p:sldId id="408" r:id="rId106"/>
    <p:sldId id="502" r:id="rId107"/>
    <p:sldId id="503" r:id="rId108"/>
    <p:sldId id="504" r:id="rId109"/>
    <p:sldId id="336" r:id="rId110"/>
    <p:sldId id="409" r:id="rId111"/>
    <p:sldId id="410" r:id="rId112"/>
    <p:sldId id="411" r:id="rId113"/>
    <p:sldId id="505" r:id="rId114"/>
    <p:sldId id="413" r:id="rId115"/>
    <p:sldId id="414" r:id="rId116"/>
    <p:sldId id="415" r:id="rId117"/>
    <p:sldId id="412" r:id="rId118"/>
    <p:sldId id="416" r:id="rId119"/>
    <p:sldId id="417" r:id="rId120"/>
    <p:sldId id="506" r:id="rId121"/>
    <p:sldId id="507" r:id="rId122"/>
    <p:sldId id="335" r:id="rId123"/>
    <p:sldId id="462" r:id="rId124"/>
    <p:sldId id="418" r:id="rId125"/>
    <p:sldId id="419" r:id="rId126"/>
    <p:sldId id="508" r:id="rId127"/>
    <p:sldId id="330" r:id="rId128"/>
    <p:sldId id="337" r:id="rId129"/>
    <p:sldId id="420" r:id="rId130"/>
    <p:sldId id="421" r:id="rId131"/>
    <p:sldId id="422" r:id="rId132"/>
    <p:sldId id="450" r:id="rId133"/>
    <p:sldId id="423" r:id="rId134"/>
    <p:sldId id="424" r:id="rId135"/>
    <p:sldId id="425" r:id="rId136"/>
    <p:sldId id="426" r:id="rId137"/>
    <p:sldId id="427" r:id="rId138"/>
    <p:sldId id="338" r:id="rId139"/>
    <p:sldId id="429" r:id="rId140"/>
    <p:sldId id="430" r:id="rId141"/>
    <p:sldId id="431" r:id="rId142"/>
    <p:sldId id="340" r:id="rId143"/>
    <p:sldId id="509" r:id="rId144"/>
    <p:sldId id="432" r:id="rId145"/>
    <p:sldId id="433" r:id="rId146"/>
    <p:sldId id="511" r:id="rId147"/>
    <p:sldId id="341" r:id="rId148"/>
    <p:sldId id="434" r:id="rId149"/>
    <p:sldId id="435" r:id="rId150"/>
    <p:sldId id="510" r:id="rId151"/>
    <p:sldId id="343" r:id="rId152"/>
    <p:sldId id="438" r:id="rId153"/>
    <p:sldId id="436" r:id="rId154"/>
    <p:sldId id="437" r:id="rId155"/>
    <p:sldId id="493" r:id="rId156"/>
    <p:sldId id="494" r:id="rId157"/>
    <p:sldId id="495" r:id="rId158"/>
    <p:sldId id="496" r:id="rId159"/>
    <p:sldId id="497" r:id="rId160"/>
    <p:sldId id="512" r:id="rId161"/>
    <p:sldId id="345" r:id="rId162"/>
    <p:sldId id="439" r:id="rId163"/>
    <p:sldId id="440" r:id="rId164"/>
    <p:sldId id="441" r:id="rId165"/>
    <p:sldId id="443" r:id="rId166"/>
    <p:sldId id="463" r:id="rId167"/>
    <p:sldId id="444" r:id="rId168"/>
    <p:sldId id="445" r:id="rId169"/>
    <p:sldId id="446" r:id="rId170"/>
    <p:sldId id="489" r:id="rId171"/>
    <p:sldId id="447" r:id="rId172"/>
    <p:sldId id="513" r:id="rId173"/>
    <p:sldId id="448" r:id="rId174"/>
    <p:sldId id="492" r:id="rId175"/>
    <p:sldId id="491" r:id="rId176"/>
    <p:sldId id="490" r:id="rId177"/>
    <p:sldId id="271" r:id="rId178"/>
    <p:sldId id="282" r:id="rId179"/>
    <p:sldId id="347" r:id="rId180"/>
    <p:sldId id="451" r:id="rId181"/>
    <p:sldId id="452" r:id="rId182"/>
    <p:sldId id="453" r:id="rId183"/>
    <p:sldId id="454" r:id="rId184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E"/>
    <a:srgbClr val="4F8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4" autoAdjust="0"/>
    <p:restoredTop sz="94660"/>
  </p:normalViewPr>
  <p:slideViewPr>
    <p:cSldViewPr snapToGrid="0">
      <p:cViewPr varScale="1">
        <p:scale>
          <a:sx n="63" d="100"/>
          <a:sy n="63" d="100"/>
        </p:scale>
        <p:origin x="64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viewProps" Target="viewProp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4B5F-D909-4A0F-AE4A-E8916C4FB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7AAD46-DB96-4530-98A7-889C26342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EAD7F-C9D0-481B-9AA8-A7615BAF5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35E2-AA4F-416D-8CAD-131A18FA01CD}" type="datetimeFigureOut">
              <a:rPr lang="he-IL" smtClean="0"/>
              <a:pPr/>
              <a:t>כ"ח/אדר ב/תשפ"ד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45C26-70B5-4E9B-B446-B6C3C6FB4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9CB9B-A674-4D7C-BAE3-F2A48F5C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BA66D-806E-4772-B411-A8999DC4ED47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40661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E075-CE5F-4B81-9B1A-6C6FEFE51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6E25E-A925-4F3F-9CC7-7F6DCB341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38FEF-D2CF-454D-8F12-DC5C8AAA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35E2-AA4F-416D-8CAD-131A18FA01CD}" type="datetimeFigureOut">
              <a:rPr lang="he-IL" smtClean="0"/>
              <a:pPr/>
              <a:t>כ"ח/אדר ב/תשפ"ד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0758F-D25E-40EF-92E1-2AFBA7D42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82E25-548E-44CB-A85A-85936C77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BA66D-806E-4772-B411-A8999DC4ED47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340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D0211-859A-4E43-875D-A998EBD1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DEC4E-C4A5-4D71-9D8C-DD8E3C071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86BEF-E7C4-4B20-BEE7-3515AC233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35E2-AA4F-416D-8CAD-131A18FA01CD}" type="datetimeFigureOut">
              <a:rPr lang="he-IL" smtClean="0"/>
              <a:pPr/>
              <a:t>כ"ח/אדר ב/תשפ"ד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EC691-D3D2-4F71-95B1-52BAE51A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755B8-2EB7-447D-9CF0-75B68FAC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BA66D-806E-4772-B411-A8999DC4ED47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5678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824C-3586-4E3B-845F-CE6A5690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FE792-12B0-4571-A7F3-47167EFC6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FF35C-74F0-4067-8D4A-236DE41AD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98D18-D13D-4F5F-97AA-E05AC0227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35E2-AA4F-416D-8CAD-131A18FA01CD}" type="datetimeFigureOut">
              <a:rPr lang="he-IL" smtClean="0"/>
              <a:pPr/>
              <a:t>כ"ח/אדר ב/תשפ"ד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1DCEA-ED13-43B4-AC61-A61BF303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37409-9DCC-4CF9-9345-A09B76419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BA66D-806E-4772-B411-A8999DC4ED47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579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7F7AC-8A53-43DD-9682-7125F36D1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13347-8E70-4997-A438-40503C9AC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046AF-E4F8-41C9-BDB3-D7867D06A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DEA5A-7C3A-46E1-8911-C7DA3C4004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8376CD-3DC1-4285-95E4-65C5A76B8A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253A-482E-4817-B9C4-33F3C1966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35E2-AA4F-416D-8CAD-131A18FA01CD}" type="datetimeFigureOut">
              <a:rPr lang="he-IL" smtClean="0"/>
              <a:pPr/>
              <a:t>כ"ח/אדר ב/תשפ"ד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89278F-E3B4-4899-BCE0-2C94D785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47658-BCE7-403B-B87A-967FEC0E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BA66D-806E-4772-B411-A8999DC4ED47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5287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BB7C9-FD12-4A52-8A40-DDF863C40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0EF41-FC6C-4920-87D4-6F6ACBA26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35E2-AA4F-416D-8CAD-131A18FA01CD}" type="datetimeFigureOut">
              <a:rPr lang="he-IL" smtClean="0"/>
              <a:pPr/>
              <a:t>כ"ח/אדר ב/תשפ"ד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E645A7-665A-4ADB-8B56-FA3DD19B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53175-4232-4760-B963-483F1FCFB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BA66D-806E-4772-B411-A8999DC4ED47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37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F0317-2F34-459F-8E47-D7788D12A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35E2-AA4F-416D-8CAD-131A18FA01CD}" type="datetimeFigureOut">
              <a:rPr lang="he-IL" smtClean="0"/>
              <a:pPr/>
              <a:t>כ"ח/אדר ב/תשפ"ד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7C202-727A-4477-991D-CF23CDB68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B0332-63EE-4441-862C-583BF5242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BA66D-806E-4772-B411-A8999DC4ED47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889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E0E3A-01F4-4694-8FBE-806BAC7D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B9B2C-7490-4F8B-BC50-6F088A4B6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55E0E-FBDC-4AF2-B5D0-0755509C1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F0029-C3E8-42A4-887F-655CA5ED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35E2-AA4F-416D-8CAD-131A18FA01CD}" type="datetimeFigureOut">
              <a:rPr lang="he-IL" smtClean="0"/>
              <a:pPr/>
              <a:t>כ"ח/אדר ב/תשפ"ד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C596A-3B2A-4B7C-ACB5-F80175FA1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65BCD4-343D-4C7E-8122-88608C17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BA66D-806E-4772-B411-A8999DC4ED47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589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C7E75-3726-4165-B8F5-2C9CB4A9C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D8B57B-667F-4DB7-AAB5-4D3DD4192C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425E8-FA21-4293-ACFE-C6D26FBBB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78913-593C-4B72-8883-746E0ACE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35E2-AA4F-416D-8CAD-131A18FA01CD}" type="datetimeFigureOut">
              <a:rPr lang="he-IL" smtClean="0"/>
              <a:pPr/>
              <a:t>כ"ח/אדר ב/תשפ"ד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D305C-5F63-4E05-A470-741BFA7D8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A4A42-8179-424F-8476-12B319D38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BA66D-806E-4772-B411-A8999DC4ED47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5151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31D72-DF2E-4214-A883-205E987B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B08F8-E113-47CA-9953-888A1A972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C086-0C3D-47CF-A9A9-AD76FCD2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35E2-AA4F-416D-8CAD-131A18FA01CD}" type="datetimeFigureOut">
              <a:rPr lang="he-IL" smtClean="0"/>
              <a:pPr/>
              <a:t>כ"ח/אדר ב/תשפ"ד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A1713-6A91-41D8-B26E-24FD0176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14BF7-4ADA-40A7-A2AC-C253B7980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BA66D-806E-4772-B411-A8999DC4ED47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354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ECE89-DBCF-4240-9129-68F1B28BD5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7EBCB-DA8F-42F9-B332-A372308F8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C24A2-DB59-47C0-881E-D44D745F5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35E2-AA4F-416D-8CAD-131A18FA01CD}" type="datetimeFigureOut">
              <a:rPr lang="he-IL" smtClean="0"/>
              <a:pPr/>
              <a:t>כ"ח/אדר ב/תשפ"ד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FD9A9-116E-4A59-93D7-F8F8DE5E7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38EDA-AF21-4CD1-B480-A23005E7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BA66D-806E-4772-B411-A8999DC4ED47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453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7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AA82E-2EFD-4012-80D2-6D8F3C6E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485A9-0C1B-4106-BCBA-4CFCF203D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7B7FB-F517-4F99-9A3E-B8F650ADF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35E2-AA4F-416D-8CAD-131A18FA01CD}" type="datetimeFigureOut">
              <a:rPr lang="he-IL" smtClean="0"/>
              <a:pPr/>
              <a:t>כ"ח/אדר ב/תשפ"ד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EB42D-9DCA-4279-8274-DDA14395F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0FCA6-0B4B-4F79-863E-648587A99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BA66D-806E-4772-B411-A8999DC4ED47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25408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xkcd.com/55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rrelation">
            <a:extLst>
              <a:ext uri="{FF2B5EF4-FFF2-40B4-BE49-F238E27FC236}">
                <a16:creationId xmlns:a16="http://schemas.microsoft.com/office/drawing/2014/main" id="{7BBFD5CE-A17D-434A-B792-B48B7C87E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30" y="1666875"/>
            <a:ext cx="6623134" cy="2669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99CBD5D-8875-4BBB-B9E1-51CEB52B089E}"/>
              </a:ext>
            </a:extLst>
          </p:cNvPr>
          <p:cNvSpPr/>
          <p:nvPr/>
        </p:nvSpPr>
        <p:spPr>
          <a:xfrm>
            <a:off x="9145975" y="5996960"/>
            <a:ext cx="2440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Lucida"/>
              </a:rPr>
              <a:t> </a:t>
            </a:r>
            <a:r>
              <a:rPr lang="en-US" b="1" dirty="0">
                <a:solidFill>
                  <a:srgbClr val="96A8C8"/>
                </a:solidFill>
                <a:latin typeface="Lucida"/>
                <a:hlinkClick r:id="rId3"/>
              </a:rPr>
              <a:t>https://xkcd.com/552/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2301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FA5B8-69EA-4BF7-B90F-5D897B9EEE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Critical Thinking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FDD2A-576F-4E83-B10A-7EDE8D0B64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Class 2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53634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</a:t>
            </a:r>
            <a:br>
              <a:rPr lang="en-US" dirty="0"/>
            </a:br>
            <a:r>
              <a:rPr lang="en-US" dirty="0"/>
              <a:t>Correlation and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</a:t>
            </a:r>
            <a:br>
              <a:rPr lang="en-US" dirty="0"/>
            </a:br>
            <a:r>
              <a:rPr lang="en-US" dirty="0"/>
              <a:t>Correlation and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Correlation: ?</a:t>
            </a:r>
          </a:p>
          <a:p>
            <a:endParaRPr lang="en-US" dirty="0"/>
          </a:p>
          <a:p>
            <a:r>
              <a:rPr lang="en-US" dirty="0"/>
              <a:t>Causation:</a:t>
            </a:r>
          </a:p>
        </p:txBody>
      </p:sp>
    </p:spTree>
    <p:extLst>
      <p:ext uri="{BB962C8B-B14F-4D97-AF65-F5344CB8AC3E}">
        <p14:creationId xmlns:p14="http://schemas.microsoft.com/office/powerpoint/2010/main" val="3154610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</a:t>
            </a:r>
            <a:br>
              <a:rPr lang="en-US" dirty="0"/>
            </a:br>
            <a:r>
              <a:rPr lang="en-US" dirty="0"/>
              <a:t>Correlation and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Correlation: X related to Y</a:t>
            </a:r>
          </a:p>
          <a:p>
            <a:endParaRPr lang="en-US" dirty="0"/>
          </a:p>
          <a:p>
            <a:r>
              <a:rPr lang="en-US" dirty="0"/>
              <a:t>Causation: ?</a:t>
            </a:r>
          </a:p>
        </p:txBody>
      </p:sp>
    </p:spTree>
    <p:extLst>
      <p:ext uri="{BB962C8B-B14F-4D97-AF65-F5344CB8AC3E}">
        <p14:creationId xmlns:p14="http://schemas.microsoft.com/office/powerpoint/2010/main" val="122479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</a:t>
            </a:r>
            <a:br>
              <a:rPr lang="en-US" dirty="0"/>
            </a:br>
            <a:r>
              <a:rPr lang="en-US" dirty="0"/>
              <a:t>Correlation and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Correlation: X related to Y</a:t>
            </a:r>
          </a:p>
          <a:p>
            <a:endParaRPr lang="en-US" dirty="0"/>
          </a:p>
          <a:p>
            <a:r>
              <a:rPr lang="en-US" dirty="0"/>
              <a:t>Causation: X leads to Y</a:t>
            </a:r>
          </a:p>
        </p:txBody>
      </p:sp>
    </p:spTree>
    <p:extLst>
      <p:ext uri="{BB962C8B-B14F-4D97-AF65-F5344CB8AC3E}">
        <p14:creationId xmlns:p14="http://schemas.microsoft.com/office/powerpoint/2010/main" val="4105144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</a:t>
            </a:r>
            <a:br>
              <a:rPr lang="en-US" dirty="0"/>
            </a:br>
            <a:r>
              <a:rPr lang="en-US" dirty="0"/>
              <a:t>Correlation and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A4626-8E61-4191-83F1-EDA79B67DE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9468" y="1933366"/>
            <a:ext cx="10974332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</a:t>
            </a:r>
            <a:br>
              <a:rPr lang="en-US" dirty="0"/>
            </a:br>
            <a:r>
              <a:rPr lang="en-US" dirty="0"/>
              <a:t>Correlation and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Correlation or causation?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A4626-8E61-4191-83F1-EDA79B67DE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9468" y="1933366"/>
            <a:ext cx="10974332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373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</a:t>
            </a:r>
            <a:br>
              <a:rPr lang="en-US" dirty="0"/>
            </a:br>
            <a:r>
              <a:rPr lang="en-US" dirty="0"/>
              <a:t>Correlation and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Correlation!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A4626-8E61-4191-83F1-EDA79B67DE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9468" y="1933366"/>
            <a:ext cx="10974332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34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</a:t>
            </a:r>
            <a:br>
              <a:rPr lang="en-US" dirty="0"/>
            </a:br>
            <a:r>
              <a:rPr lang="en-US" dirty="0"/>
              <a:t>Correlation and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Correlation:</a:t>
            </a:r>
          </a:p>
          <a:p>
            <a:endParaRPr lang="en-US" dirty="0"/>
          </a:p>
          <a:p>
            <a:r>
              <a:rPr lang="en-US" dirty="0"/>
              <a:t>Different rate of anxiety for remote than in-office workers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A4626-8E61-4191-83F1-EDA79B67DE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9468" y="1933366"/>
            <a:ext cx="10974332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764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</a:t>
            </a:r>
            <a:br>
              <a:rPr lang="en-US" dirty="0"/>
            </a:br>
            <a:r>
              <a:rPr lang="en-US" dirty="0"/>
              <a:t>Correlation and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B7887F-3BC6-4F69-9E0D-74C471ECEE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r="30922"/>
          <a:stretch/>
        </p:blipFill>
        <p:spPr>
          <a:xfrm>
            <a:off x="588074" y="1847806"/>
            <a:ext cx="11015852" cy="2153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16F2DA-1623-980E-1E0F-4B85761D45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75667"/>
          <a:stretch/>
        </p:blipFill>
        <p:spPr>
          <a:xfrm>
            <a:off x="7895486" y="3272530"/>
            <a:ext cx="3458314" cy="1919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33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</a:t>
            </a:r>
            <a:br>
              <a:rPr lang="en-US" dirty="0"/>
            </a:br>
            <a:r>
              <a:rPr lang="en-US" dirty="0"/>
              <a:t>Correlation and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B7887F-3BC6-4F69-9E0D-74C471ECEE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r="30922"/>
          <a:stretch/>
        </p:blipFill>
        <p:spPr>
          <a:xfrm>
            <a:off x="588074" y="1847806"/>
            <a:ext cx="11015852" cy="2153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16F2DA-1623-980E-1E0F-4B85761D45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75667"/>
          <a:stretch/>
        </p:blipFill>
        <p:spPr>
          <a:xfrm>
            <a:off x="7895486" y="3272530"/>
            <a:ext cx="3458314" cy="1919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955350-EB1C-9769-65FE-AC97B91C6E3B}"/>
              </a:ext>
            </a:extLst>
          </p:cNvPr>
          <p:cNvSpPr txBox="1"/>
          <p:nvPr/>
        </p:nvSpPr>
        <p:spPr>
          <a:xfrm>
            <a:off x="1026160" y="423214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Correlation or causation?</a:t>
            </a:r>
          </a:p>
        </p:txBody>
      </p:sp>
    </p:spTree>
    <p:extLst>
      <p:ext uri="{BB962C8B-B14F-4D97-AF65-F5344CB8AC3E}">
        <p14:creationId xmlns:p14="http://schemas.microsoft.com/office/powerpoint/2010/main" val="4022031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</a:t>
            </a:r>
            <a:br>
              <a:rPr lang="en-US" dirty="0"/>
            </a:br>
            <a:r>
              <a:rPr lang="en-US" dirty="0"/>
              <a:t>Correlation and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B7887F-3BC6-4F69-9E0D-74C471ECEE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r="30922"/>
          <a:stretch/>
        </p:blipFill>
        <p:spPr>
          <a:xfrm>
            <a:off x="588074" y="1847806"/>
            <a:ext cx="11015852" cy="2153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16F2DA-1623-980E-1E0F-4B85761D45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75667"/>
          <a:stretch/>
        </p:blipFill>
        <p:spPr>
          <a:xfrm>
            <a:off x="7895486" y="3272530"/>
            <a:ext cx="3458314" cy="1919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955350-EB1C-9769-65FE-AC97B91C6E3B}"/>
              </a:ext>
            </a:extLst>
          </p:cNvPr>
          <p:cNvSpPr txBox="1"/>
          <p:nvPr/>
        </p:nvSpPr>
        <p:spPr>
          <a:xfrm>
            <a:off x="1026160" y="423214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Causal claim:</a:t>
            </a:r>
          </a:p>
        </p:txBody>
      </p:sp>
    </p:spTree>
    <p:extLst>
      <p:ext uri="{BB962C8B-B14F-4D97-AF65-F5344CB8AC3E}">
        <p14:creationId xmlns:p14="http://schemas.microsoft.com/office/powerpoint/2010/main" val="848499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</a:t>
            </a:r>
            <a:br>
              <a:rPr lang="en-US" dirty="0"/>
            </a:br>
            <a:r>
              <a:rPr lang="en-US" dirty="0"/>
              <a:t>Correlation and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B7887F-3BC6-4F69-9E0D-74C471ECEE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r="30922"/>
          <a:stretch/>
        </p:blipFill>
        <p:spPr>
          <a:xfrm>
            <a:off x="588074" y="1847806"/>
            <a:ext cx="11015852" cy="2153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16F2DA-1623-980E-1E0F-4B85761D45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75667"/>
          <a:stretch/>
        </p:blipFill>
        <p:spPr>
          <a:xfrm>
            <a:off x="7895486" y="3272530"/>
            <a:ext cx="3458314" cy="1919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955350-EB1C-9769-65FE-AC97B91C6E3B}"/>
              </a:ext>
            </a:extLst>
          </p:cNvPr>
          <p:cNvSpPr txBox="1"/>
          <p:nvPr/>
        </p:nvSpPr>
        <p:spPr>
          <a:xfrm>
            <a:off x="1026160" y="4232145"/>
            <a:ext cx="6248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Causal claim: </a:t>
            </a:r>
          </a:p>
          <a:p>
            <a:endParaRPr lang="en-US" sz="3200" dirty="0"/>
          </a:p>
          <a:p>
            <a:r>
              <a:rPr lang="en-US" sz="3200" dirty="0"/>
              <a:t>organizational culture -&gt; retainment</a:t>
            </a:r>
          </a:p>
        </p:txBody>
      </p:sp>
    </p:spTree>
    <p:extLst>
      <p:ext uri="{BB962C8B-B14F-4D97-AF65-F5344CB8AC3E}">
        <p14:creationId xmlns:p14="http://schemas.microsoft.com/office/powerpoint/2010/main" val="3747757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 </a:t>
            </a:r>
            <a:br>
              <a:rPr lang="en-US" dirty="0"/>
            </a:br>
            <a:r>
              <a:rPr lang="en-US" dirty="0"/>
              <a:t>Correlation and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Correlation: X related to Y</a:t>
            </a:r>
          </a:p>
          <a:p>
            <a:endParaRPr lang="en-US" dirty="0"/>
          </a:p>
          <a:p>
            <a:r>
              <a:rPr lang="en-US" dirty="0"/>
              <a:t>Causation: X leads to Y</a:t>
            </a:r>
          </a:p>
        </p:txBody>
      </p:sp>
    </p:spTree>
    <p:extLst>
      <p:ext uri="{BB962C8B-B14F-4D97-AF65-F5344CB8AC3E}">
        <p14:creationId xmlns:p14="http://schemas.microsoft.com/office/powerpoint/2010/main" val="2625824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939B-0D0C-4379-A4D5-B9856DC0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</a:t>
            </a:r>
            <a:br>
              <a:rPr lang="en-US" dirty="0"/>
            </a:br>
            <a:r>
              <a:rPr lang="en-US" dirty="0"/>
              <a:t>Evaluating a claimed correlation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B1416-4646-4E93-8C7C-041B8D9F8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3010" name="AutoShape 2" descr="scatter plot ice cream vs tem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2" name="AutoShape 4" descr="scatter plot ice cream vs tem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5" name="AutoShape 7" descr="Scatter (XY) Plo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7" name="AutoShape 9" descr="Scatter (XY) Plo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54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939B-0D0C-4379-A4D5-B9856DC0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</a:t>
            </a:r>
            <a:br>
              <a:rPr lang="en-US" dirty="0"/>
            </a:br>
            <a:r>
              <a:rPr lang="en-US" dirty="0"/>
              <a:t>Evaluating a claimed correlation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B1416-4646-4E93-8C7C-041B8D9F8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What makes a claimed correlation convincing?</a:t>
            </a:r>
            <a:endParaRPr lang="he-IL" dirty="0"/>
          </a:p>
        </p:txBody>
      </p:sp>
      <p:sp>
        <p:nvSpPr>
          <p:cNvPr id="43010" name="AutoShape 2" descr="scatter plot ice cream vs tem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2" name="AutoShape 4" descr="scatter plot ice cream vs tem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5" name="AutoShape 7" descr="Scatter (XY) Plo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7" name="AutoShape 9" descr="Scatter (XY) Plo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41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939B-0D0C-4379-A4D5-B9856DC0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</a:t>
            </a:r>
            <a:br>
              <a:rPr lang="en-US" dirty="0"/>
            </a:br>
            <a:r>
              <a:rPr lang="en-US" dirty="0"/>
              <a:t>Evaluating a claimed correlation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B1416-4646-4E93-8C7C-041B8D9F8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convincing claim of correlation requires </a:t>
            </a:r>
            <a:r>
              <a:rPr lang="en-US" b="1" dirty="0"/>
              <a:t>data:</a:t>
            </a:r>
          </a:p>
          <a:p>
            <a:pPr lvl="1"/>
            <a:endParaRPr lang="en-US" dirty="0"/>
          </a:p>
          <a:p>
            <a:pPr>
              <a:buNone/>
            </a:pPr>
            <a:endParaRPr lang="en-US" dirty="0"/>
          </a:p>
          <a:p>
            <a:endParaRPr lang="he-IL" dirty="0"/>
          </a:p>
        </p:txBody>
      </p:sp>
      <p:sp>
        <p:nvSpPr>
          <p:cNvPr id="43010" name="AutoShape 2" descr="scatter plot ice cream vs tem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2" name="AutoShape 4" descr="scatter plot ice cream vs tem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5" name="AutoShape 7" descr="Scatter (XY) Plo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7" name="AutoShape 9" descr="Scatter (XY) Plo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4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939B-0D0C-4379-A4D5-B9856DC0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</a:t>
            </a:r>
            <a:br>
              <a:rPr lang="en-US" dirty="0"/>
            </a:br>
            <a:r>
              <a:rPr lang="en-US" dirty="0"/>
              <a:t>Evaluating a claimed correlation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B1416-4646-4E93-8C7C-041B8D9F8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convincing claim of correlation requires </a:t>
            </a:r>
            <a:r>
              <a:rPr lang="en-US" b="1" dirty="0"/>
              <a:t>data: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Rate </a:t>
            </a:r>
            <a:r>
              <a:rPr lang="en-US" dirty="0"/>
              <a:t>is (significantly) different between the group</a:t>
            </a:r>
          </a:p>
          <a:p>
            <a:pPr>
              <a:buNone/>
            </a:pPr>
            <a:endParaRPr lang="en-US" dirty="0"/>
          </a:p>
          <a:p>
            <a:endParaRPr lang="he-IL" dirty="0"/>
          </a:p>
        </p:txBody>
      </p:sp>
      <p:sp>
        <p:nvSpPr>
          <p:cNvPr id="43010" name="AutoShape 2" descr="scatter plot ice cream vs tem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2" name="AutoShape 4" descr="scatter plot ice cream vs tem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5" name="AutoShape 7" descr="Scatter (XY) Plo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7" name="AutoShape 9" descr="Scatter (XY) Plo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41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939B-0D0C-4379-A4D5-B9856DC0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week:</a:t>
            </a:r>
            <a:br>
              <a:rPr lang="en-US" dirty="0"/>
            </a:br>
            <a:r>
              <a:rPr lang="en-US" dirty="0"/>
              <a:t>Evaluating a claimed correlation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B1416-4646-4E93-8C7C-041B8D9F8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convincing claim of correlation requires </a:t>
            </a:r>
            <a:r>
              <a:rPr lang="en-US" b="1" dirty="0"/>
              <a:t>data: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Rate </a:t>
            </a:r>
            <a:r>
              <a:rPr lang="en-US" dirty="0"/>
              <a:t>is (significantly) different between the group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OR</a:t>
            </a:r>
          </a:p>
          <a:p>
            <a:endParaRPr lang="he-IL" dirty="0"/>
          </a:p>
        </p:txBody>
      </p:sp>
      <p:sp>
        <p:nvSpPr>
          <p:cNvPr id="43010" name="AutoShape 2" descr="scatter plot ice cream vs tem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2" name="AutoShape 4" descr="scatter plot ice cream vs tem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5" name="AutoShape 7" descr="Scatter (XY) Plo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7" name="AutoShape 9" descr="Scatter (XY) Plo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3019" name="Picture 11" descr="Compare Measures Using a Scatter Plot 유닛 | Salesforce Trailhead"/>
          <p:cNvPicPr>
            <a:picLocks noChangeAspect="1" noChangeArrowheads="1"/>
          </p:cNvPicPr>
          <p:nvPr/>
        </p:nvPicPr>
        <p:blipFill>
          <a:blip r:embed="rId2" cstate="print"/>
          <a:srcRect l="2018" t="16272" r="33087" b="2792"/>
          <a:stretch>
            <a:fillRect/>
          </a:stretch>
        </p:blipFill>
        <p:spPr bwMode="auto">
          <a:xfrm>
            <a:off x="3146611" y="4206768"/>
            <a:ext cx="4213412" cy="22209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9673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BBBF2B6-83DC-4D22-A30A-700BFB0497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correlation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causation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BBBF2B6-83DC-4D22-A30A-700BFB0497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 cstate="print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1FC24-0C12-4944-903D-B75041C07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“remote workers are more anxious about layoffs”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8FDA7D-291A-FC90-F37B-97F3580EF54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10348" y="5371790"/>
            <a:ext cx="8226052" cy="112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20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BBBF2B6-83DC-4D22-A30A-700BFB0497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correlation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causation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BBBF2B6-83DC-4D22-A30A-700BFB0497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 cstate="print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1FC24-0C12-4944-903D-B75041C07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“remote workers are more anxious about layoffs” </a:t>
            </a:r>
          </a:p>
          <a:p>
            <a:endParaRPr lang="en-US" dirty="0"/>
          </a:p>
          <a:p>
            <a:r>
              <a:rPr lang="en-US" dirty="0"/>
              <a:t>Does remote work (X) cause layoff anxiety (Y)?</a:t>
            </a:r>
          </a:p>
          <a:p>
            <a:pPr lvl="1"/>
            <a:r>
              <a:rPr lang="en-US" dirty="0"/>
              <a:t>X -&gt; 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61819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BBBF2B6-83DC-4D22-A30A-700BFB0497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correlation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causation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1BBBF2B6-83DC-4D22-A30A-700BFB0497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 cstate="print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1FC24-0C12-4944-903D-B75041C07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“remote workers are more anxious about layoffs” </a:t>
            </a:r>
          </a:p>
          <a:p>
            <a:endParaRPr lang="en-US" dirty="0"/>
          </a:p>
          <a:p>
            <a:r>
              <a:rPr lang="en-US" dirty="0"/>
              <a:t>Does remote work (X) cause layoff anxiety (Y)?</a:t>
            </a:r>
          </a:p>
          <a:p>
            <a:pPr lvl="1"/>
            <a:r>
              <a:rPr lang="en-US" dirty="0"/>
              <a:t>X -&gt; Y</a:t>
            </a:r>
          </a:p>
          <a:p>
            <a:pPr lvl="1"/>
            <a:endParaRPr lang="en-US" dirty="0"/>
          </a:p>
          <a:p>
            <a:r>
              <a:rPr lang="en-US" dirty="0"/>
              <a:t>Perhaps layoff anxiety leads to remote work?</a:t>
            </a:r>
          </a:p>
          <a:p>
            <a:pPr lvl="1"/>
            <a:r>
              <a:rPr lang="en-US" dirty="0"/>
              <a:t>Y-&gt;X</a:t>
            </a:r>
            <a:endParaRPr lang="he-IL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47043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06C9A-9735-4879-81CC-7C73B8A97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Confounding variable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B530-81FD-417A-B129-7918AA453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Perhaps a third variable, a confounding variable, causes both?</a:t>
            </a:r>
            <a:endParaRPr lang="he-IL" dirty="0"/>
          </a:p>
        </p:txBody>
      </p:sp>
      <p:grpSp>
        <p:nvGrpSpPr>
          <p:cNvPr id="7" name="Group 10">
            <a:extLst>
              <a:ext uri="{FF2B5EF4-FFF2-40B4-BE49-F238E27FC236}">
                <a16:creationId xmlns:a16="http://schemas.microsoft.com/office/drawing/2014/main" id="{2CA28AD0-AA10-4BA4-B4BD-2AAE3755D1D4}"/>
              </a:ext>
            </a:extLst>
          </p:cNvPr>
          <p:cNvGrpSpPr/>
          <p:nvPr/>
        </p:nvGrpSpPr>
        <p:grpSpPr>
          <a:xfrm>
            <a:off x="4802353" y="2988517"/>
            <a:ext cx="2265666" cy="1845691"/>
            <a:chOff x="4759299" y="2993174"/>
            <a:chExt cx="1167090" cy="9121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1B1184-F5D5-4850-99E6-D530559B4343}"/>
                </a:ext>
              </a:extLst>
            </p:cNvPr>
            <p:cNvSpPr txBox="1"/>
            <p:nvPr/>
          </p:nvSpPr>
          <p:spPr>
            <a:xfrm flipH="1">
              <a:off x="5165614" y="2993174"/>
              <a:ext cx="331354" cy="34983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4000" dirty="0"/>
                <a:t>C</a:t>
              </a:r>
              <a:endParaRPr lang="he-IL" sz="40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4359D5-7AF1-4D27-AF65-179509E21CCE}"/>
                </a:ext>
              </a:extLst>
            </p:cNvPr>
            <p:cNvSpPr txBox="1"/>
            <p:nvPr/>
          </p:nvSpPr>
          <p:spPr>
            <a:xfrm flipH="1">
              <a:off x="4759299" y="3555476"/>
              <a:ext cx="331354" cy="34983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4000" dirty="0"/>
                <a:t>X</a:t>
              </a:r>
              <a:endParaRPr lang="he-IL" sz="4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D5BF5C-B046-4CC0-B7A5-F903E28DBBD6}"/>
                </a:ext>
              </a:extLst>
            </p:cNvPr>
            <p:cNvSpPr txBox="1"/>
            <p:nvPr/>
          </p:nvSpPr>
          <p:spPr>
            <a:xfrm flipH="1">
              <a:off x="5595035" y="3551886"/>
              <a:ext cx="331354" cy="34983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4000" dirty="0"/>
                <a:t>Y</a:t>
              </a:r>
              <a:endParaRPr lang="he-IL" sz="400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067037A-81F6-4F25-8F46-850BE35CE1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6495" y="3242456"/>
              <a:ext cx="247532" cy="3730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856DE16-FB47-4832-8D60-F827AC870EBF}"/>
                </a:ext>
              </a:extLst>
            </p:cNvPr>
            <p:cNvCxnSpPr>
              <a:cxnSpLocks/>
            </p:cNvCxnSpPr>
            <p:nvPr/>
          </p:nvCxnSpPr>
          <p:spPr>
            <a:xfrm>
              <a:off x="5374298" y="3243547"/>
              <a:ext cx="254248" cy="3452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5338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06C9A-9735-4879-81CC-7C73B8A97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Confounding variable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B530-81FD-417A-B129-7918AA453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Perhaps a third variable, a confounding variable, causes both?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E.g., organizational culture</a:t>
            </a:r>
            <a:endParaRPr lang="he-IL" dirty="0"/>
          </a:p>
        </p:txBody>
      </p:sp>
      <p:grpSp>
        <p:nvGrpSpPr>
          <p:cNvPr id="7" name="Group 10">
            <a:extLst>
              <a:ext uri="{FF2B5EF4-FFF2-40B4-BE49-F238E27FC236}">
                <a16:creationId xmlns:a16="http://schemas.microsoft.com/office/drawing/2014/main" id="{2CA28AD0-AA10-4BA4-B4BD-2AAE3755D1D4}"/>
              </a:ext>
            </a:extLst>
          </p:cNvPr>
          <p:cNvGrpSpPr/>
          <p:nvPr/>
        </p:nvGrpSpPr>
        <p:grpSpPr>
          <a:xfrm>
            <a:off x="4802353" y="2988517"/>
            <a:ext cx="2265666" cy="1845691"/>
            <a:chOff x="4759299" y="2993174"/>
            <a:chExt cx="1167090" cy="91213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1B1184-F5D5-4850-99E6-D530559B4343}"/>
                </a:ext>
              </a:extLst>
            </p:cNvPr>
            <p:cNvSpPr txBox="1"/>
            <p:nvPr/>
          </p:nvSpPr>
          <p:spPr>
            <a:xfrm flipH="1">
              <a:off x="5165614" y="2993174"/>
              <a:ext cx="331354" cy="34983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4000" dirty="0"/>
                <a:t>C</a:t>
              </a:r>
              <a:endParaRPr lang="he-IL" sz="40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4359D5-7AF1-4D27-AF65-179509E21CCE}"/>
                </a:ext>
              </a:extLst>
            </p:cNvPr>
            <p:cNvSpPr txBox="1"/>
            <p:nvPr/>
          </p:nvSpPr>
          <p:spPr>
            <a:xfrm flipH="1">
              <a:off x="4759299" y="3555476"/>
              <a:ext cx="331354" cy="34983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4000" dirty="0"/>
                <a:t>X</a:t>
              </a:r>
              <a:endParaRPr lang="he-IL" sz="4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D5BF5C-B046-4CC0-B7A5-F903E28DBBD6}"/>
                </a:ext>
              </a:extLst>
            </p:cNvPr>
            <p:cNvSpPr txBox="1"/>
            <p:nvPr/>
          </p:nvSpPr>
          <p:spPr>
            <a:xfrm flipH="1">
              <a:off x="5595035" y="3551886"/>
              <a:ext cx="331354" cy="34983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4000" dirty="0"/>
                <a:t>Y</a:t>
              </a:r>
              <a:endParaRPr lang="he-IL" sz="400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067037A-81F6-4F25-8F46-850BE35CE1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6495" y="3242456"/>
              <a:ext cx="247532" cy="3730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856DE16-FB47-4832-8D60-F827AC870EBF}"/>
                </a:ext>
              </a:extLst>
            </p:cNvPr>
            <p:cNvCxnSpPr>
              <a:cxnSpLocks/>
            </p:cNvCxnSpPr>
            <p:nvPr/>
          </p:nvCxnSpPr>
          <p:spPr>
            <a:xfrm>
              <a:off x="5374298" y="3243547"/>
              <a:ext cx="254248" cy="3452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62756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Correlation                  causation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91203A-0815-4D49-9E6D-AADCDB1884AA}"/>
              </a:ext>
            </a:extLst>
          </p:cNvPr>
          <p:cNvCxnSpPr>
            <a:cxnSpLocks/>
          </p:cNvCxnSpPr>
          <p:nvPr/>
        </p:nvCxnSpPr>
        <p:spPr>
          <a:xfrm>
            <a:off x="2856322" y="3101419"/>
            <a:ext cx="131975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D6F6CF1C-1C67-4C04-9B3C-23D0CA6CA879}"/>
              </a:ext>
            </a:extLst>
          </p:cNvPr>
          <p:cNvSpPr/>
          <p:nvPr/>
        </p:nvSpPr>
        <p:spPr>
          <a:xfrm>
            <a:off x="3124985" y="2710206"/>
            <a:ext cx="782425" cy="782425"/>
          </a:xfrm>
          <a:prstGeom prst="mathMultiply">
            <a:avLst>
              <a:gd name="adj1" fmla="val 785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3212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Correlation                  causation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Causation                     correlation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91203A-0815-4D49-9E6D-AADCDB1884AA}"/>
              </a:ext>
            </a:extLst>
          </p:cNvPr>
          <p:cNvCxnSpPr>
            <a:cxnSpLocks/>
          </p:cNvCxnSpPr>
          <p:nvPr/>
        </p:nvCxnSpPr>
        <p:spPr>
          <a:xfrm>
            <a:off x="2856322" y="3101419"/>
            <a:ext cx="131975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D6F6CF1C-1C67-4C04-9B3C-23D0CA6CA879}"/>
              </a:ext>
            </a:extLst>
          </p:cNvPr>
          <p:cNvSpPr/>
          <p:nvPr/>
        </p:nvSpPr>
        <p:spPr>
          <a:xfrm>
            <a:off x="3124985" y="2710206"/>
            <a:ext cx="782425" cy="782425"/>
          </a:xfrm>
          <a:prstGeom prst="mathMultiply">
            <a:avLst>
              <a:gd name="adj1" fmla="val 785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15CF97-9828-45B8-BF7C-D5519B8C2E54}"/>
              </a:ext>
            </a:extLst>
          </p:cNvPr>
          <p:cNvCxnSpPr>
            <a:cxnSpLocks/>
          </p:cNvCxnSpPr>
          <p:nvPr/>
        </p:nvCxnSpPr>
        <p:spPr>
          <a:xfrm>
            <a:off x="2776194" y="4639560"/>
            <a:ext cx="131975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005372B-4463-4525-94F1-2BB44DD2C317}"/>
              </a:ext>
            </a:extLst>
          </p:cNvPr>
          <p:cNvSpPr txBox="1"/>
          <p:nvPr/>
        </p:nvSpPr>
        <p:spPr>
          <a:xfrm>
            <a:off x="3260381" y="4116340"/>
            <a:ext cx="351378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800" b="1" dirty="0"/>
              <a:t>?</a:t>
            </a:r>
            <a:endParaRPr lang="he-IL" sz="2800" b="1" dirty="0"/>
          </a:p>
        </p:txBody>
      </p:sp>
    </p:spTree>
    <p:extLst>
      <p:ext uri="{BB962C8B-B14F-4D97-AF65-F5344CB8AC3E}">
        <p14:creationId xmlns:p14="http://schemas.microsoft.com/office/powerpoint/2010/main" val="1241929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Correlation                  causation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Causation                     correlation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91203A-0815-4D49-9E6D-AADCDB1884AA}"/>
              </a:ext>
            </a:extLst>
          </p:cNvPr>
          <p:cNvCxnSpPr>
            <a:cxnSpLocks/>
          </p:cNvCxnSpPr>
          <p:nvPr/>
        </p:nvCxnSpPr>
        <p:spPr>
          <a:xfrm>
            <a:off x="2856322" y="3101419"/>
            <a:ext cx="131975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D6F6CF1C-1C67-4C04-9B3C-23D0CA6CA879}"/>
              </a:ext>
            </a:extLst>
          </p:cNvPr>
          <p:cNvSpPr/>
          <p:nvPr/>
        </p:nvSpPr>
        <p:spPr>
          <a:xfrm>
            <a:off x="3124985" y="2710206"/>
            <a:ext cx="782425" cy="782425"/>
          </a:xfrm>
          <a:prstGeom prst="mathMultiply">
            <a:avLst>
              <a:gd name="adj1" fmla="val 785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15CF97-9828-45B8-BF7C-D5519B8C2E54}"/>
              </a:ext>
            </a:extLst>
          </p:cNvPr>
          <p:cNvCxnSpPr>
            <a:cxnSpLocks/>
          </p:cNvCxnSpPr>
          <p:nvPr/>
        </p:nvCxnSpPr>
        <p:spPr>
          <a:xfrm>
            <a:off x="2776194" y="4639560"/>
            <a:ext cx="131975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File:Checkmark green.svg - Wikipedia">
            <a:extLst>
              <a:ext uri="{FF2B5EF4-FFF2-40B4-BE49-F238E27FC236}">
                <a16:creationId xmlns:a16="http://schemas.microsoft.com/office/drawing/2014/main" id="{123FB26C-9933-4A59-BBCA-6F024B030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313" y="4153325"/>
            <a:ext cx="515768" cy="44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324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Correlation                  causation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Causation                     correlation</a:t>
            </a:r>
          </a:p>
          <a:p>
            <a:pPr lvl="1"/>
            <a:r>
              <a:rPr lang="en-US" dirty="0"/>
              <a:t>With rare exceptions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91203A-0815-4D49-9E6D-AADCDB1884AA}"/>
              </a:ext>
            </a:extLst>
          </p:cNvPr>
          <p:cNvCxnSpPr>
            <a:cxnSpLocks/>
          </p:cNvCxnSpPr>
          <p:nvPr/>
        </p:nvCxnSpPr>
        <p:spPr>
          <a:xfrm>
            <a:off x="2856322" y="3101419"/>
            <a:ext cx="131975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D6F6CF1C-1C67-4C04-9B3C-23D0CA6CA879}"/>
              </a:ext>
            </a:extLst>
          </p:cNvPr>
          <p:cNvSpPr/>
          <p:nvPr/>
        </p:nvSpPr>
        <p:spPr>
          <a:xfrm>
            <a:off x="3124985" y="2710206"/>
            <a:ext cx="782425" cy="782425"/>
          </a:xfrm>
          <a:prstGeom prst="mathMultiply">
            <a:avLst>
              <a:gd name="adj1" fmla="val 785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15CF97-9828-45B8-BF7C-D5519B8C2E54}"/>
              </a:ext>
            </a:extLst>
          </p:cNvPr>
          <p:cNvCxnSpPr>
            <a:cxnSpLocks/>
          </p:cNvCxnSpPr>
          <p:nvPr/>
        </p:nvCxnSpPr>
        <p:spPr>
          <a:xfrm>
            <a:off x="2776194" y="4639560"/>
            <a:ext cx="131975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File:Checkmark green.svg - Wikipedia">
            <a:extLst>
              <a:ext uri="{FF2B5EF4-FFF2-40B4-BE49-F238E27FC236}">
                <a16:creationId xmlns:a16="http://schemas.microsoft.com/office/drawing/2014/main" id="{123FB26C-9933-4A59-BBCA-6F024B030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313" y="4153325"/>
            <a:ext cx="515768" cy="44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835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knowing correlations useful?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knowing correlations useful?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4091625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knowing correlations useful?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Prediction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Examples?</a:t>
            </a:r>
          </a:p>
        </p:txBody>
      </p:sp>
    </p:spTree>
    <p:extLst>
      <p:ext uri="{BB962C8B-B14F-4D97-AF65-F5344CB8AC3E}">
        <p14:creationId xmlns:p14="http://schemas.microsoft.com/office/powerpoint/2010/main" val="4274037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knowing correlations useful?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Prediction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Examples?</a:t>
            </a:r>
          </a:p>
        </p:txBody>
      </p:sp>
      <p:pic>
        <p:nvPicPr>
          <p:cNvPr id="1026" name="Picture 2" descr="Rain Nature Images – Browse 1,722,565 Stock Photos, Vectors, and Video |  Adobe Stock">
            <a:extLst>
              <a:ext uri="{FF2B5EF4-FFF2-40B4-BE49-F238E27FC236}">
                <a16:creationId xmlns:a16="http://schemas.microsoft.com/office/drawing/2014/main" id="{9D282BE6-6CBD-4EF5-A16C-9CDA97C18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425" y="4625975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re rain on the way: Northeast Ohio's weekend weather forecast -  cleveland.com">
            <a:extLst>
              <a:ext uri="{FF2B5EF4-FFF2-40B4-BE49-F238E27FC236}">
                <a16:creationId xmlns:a16="http://schemas.microsoft.com/office/drawing/2014/main" id="{14604B00-79B8-4F1C-A6E4-4C2DFD1073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76" t="18144" r="66145" b="9930"/>
          <a:stretch/>
        </p:blipFill>
        <p:spPr bwMode="auto">
          <a:xfrm>
            <a:off x="5563006" y="4625975"/>
            <a:ext cx="1065988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CD5B18-FE69-419B-A6A2-D4C19F6DF82A}"/>
              </a:ext>
            </a:extLst>
          </p:cNvPr>
          <p:cNvCxnSpPr>
            <a:cxnSpLocks/>
          </p:cNvCxnSpPr>
          <p:nvPr/>
        </p:nvCxnSpPr>
        <p:spPr>
          <a:xfrm>
            <a:off x="7074816" y="5506826"/>
            <a:ext cx="131975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378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knowing correlations useful?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Prediction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else?</a:t>
            </a:r>
          </a:p>
        </p:txBody>
      </p:sp>
    </p:spTree>
    <p:extLst>
      <p:ext uri="{BB962C8B-B14F-4D97-AF65-F5344CB8AC3E}">
        <p14:creationId xmlns:p14="http://schemas.microsoft.com/office/powerpoint/2010/main" val="38672747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knowing correlations useful?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Prediction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Identifying potential causal links</a:t>
            </a:r>
          </a:p>
        </p:txBody>
      </p:sp>
    </p:spTree>
    <p:extLst>
      <p:ext uri="{BB962C8B-B14F-4D97-AF65-F5344CB8AC3E}">
        <p14:creationId xmlns:p14="http://schemas.microsoft.com/office/powerpoint/2010/main" val="2286908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need causation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1085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need causation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Manipulation – creating a change</a:t>
            </a:r>
          </a:p>
        </p:txBody>
      </p:sp>
    </p:spTree>
    <p:extLst>
      <p:ext uri="{BB962C8B-B14F-4D97-AF65-F5344CB8AC3E}">
        <p14:creationId xmlns:p14="http://schemas.microsoft.com/office/powerpoint/2010/main" val="4386590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How?</a:t>
            </a:r>
          </a:p>
        </p:txBody>
      </p:sp>
    </p:spTree>
    <p:extLst>
      <p:ext uri="{BB962C8B-B14F-4D97-AF65-F5344CB8AC3E}">
        <p14:creationId xmlns:p14="http://schemas.microsoft.com/office/powerpoint/2010/main" val="20812831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Find the direction of influence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Find the direction of influence</a:t>
            </a:r>
          </a:p>
          <a:p>
            <a:endParaRPr lang="en-US" dirty="0"/>
          </a:p>
          <a:p>
            <a:pPr lvl="1"/>
            <a:r>
              <a:rPr lang="en-US" dirty="0"/>
              <a:t>How?</a:t>
            </a:r>
          </a:p>
        </p:txBody>
      </p:sp>
    </p:spTree>
    <p:extLst>
      <p:ext uri="{BB962C8B-B14F-4D97-AF65-F5344CB8AC3E}">
        <p14:creationId xmlns:p14="http://schemas.microsoft.com/office/powerpoint/2010/main" val="2012058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Find the direction of influence</a:t>
            </a:r>
          </a:p>
          <a:p>
            <a:endParaRPr lang="en-US" dirty="0"/>
          </a:p>
          <a:p>
            <a:pPr lvl="1"/>
            <a:r>
              <a:rPr lang="en-US" dirty="0"/>
              <a:t>Temporal order (which came first?)</a:t>
            </a:r>
          </a:p>
        </p:txBody>
      </p:sp>
    </p:spTree>
    <p:extLst>
      <p:ext uri="{BB962C8B-B14F-4D97-AF65-F5344CB8AC3E}">
        <p14:creationId xmlns:p14="http://schemas.microsoft.com/office/powerpoint/2010/main" val="28230881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Find the direction of influence</a:t>
            </a:r>
          </a:p>
          <a:p>
            <a:endParaRPr lang="en-US" dirty="0"/>
          </a:p>
          <a:p>
            <a:pPr lvl="1"/>
            <a:r>
              <a:rPr lang="en-US" dirty="0"/>
              <a:t>Temporal order (which came first?)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“Logic”</a:t>
            </a:r>
          </a:p>
        </p:txBody>
      </p:sp>
    </p:spTree>
    <p:extLst>
      <p:ext uri="{BB962C8B-B14F-4D97-AF65-F5344CB8AC3E}">
        <p14:creationId xmlns:p14="http://schemas.microsoft.com/office/powerpoint/2010/main" val="22289229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Find the direction of influence</a:t>
            </a:r>
          </a:p>
          <a:p>
            <a:endParaRPr lang="en-US" dirty="0"/>
          </a:p>
          <a:p>
            <a:pPr lvl="1"/>
            <a:r>
              <a:rPr lang="en-US" dirty="0"/>
              <a:t>Temporal order (which came first?)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“Logic” (forecasts cannot influence the weather)</a:t>
            </a:r>
          </a:p>
        </p:txBody>
      </p:sp>
    </p:spTree>
    <p:extLst>
      <p:ext uri="{BB962C8B-B14F-4D97-AF65-F5344CB8AC3E}">
        <p14:creationId xmlns:p14="http://schemas.microsoft.com/office/powerpoint/2010/main" val="7960133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Find the direction of influence</a:t>
            </a:r>
          </a:p>
          <a:p>
            <a:endParaRPr lang="en-US" dirty="0"/>
          </a:p>
          <a:p>
            <a:r>
              <a:rPr lang="en-US" dirty="0"/>
              <a:t>Ruling out confounds</a:t>
            </a:r>
          </a:p>
        </p:txBody>
      </p:sp>
    </p:spTree>
    <p:extLst>
      <p:ext uri="{BB962C8B-B14F-4D97-AF65-F5344CB8AC3E}">
        <p14:creationId xmlns:p14="http://schemas.microsoft.com/office/powerpoint/2010/main" val="42861223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Find the direction of influence</a:t>
            </a:r>
          </a:p>
          <a:p>
            <a:endParaRPr lang="en-US" dirty="0"/>
          </a:p>
          <a:p>
            <a:r>
              <a:rPr lang="en-US" dirty="0"/>
              <a:t>Ruling out confounds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C07CAB16-E8C5-4957-A695-DC4CB2185911}"/>
              </a:ext>
            </a:extLst>
          </p:cNvPr>
          <p:cNvGrpSpPr/>
          <p:nvPr/>
        </p:nvGrpSpPr>
        <p:grpSpPr>
          <a:xfrm>
            <a:off x="6555738" y="3921770"/>
            <a:ext cx="2265666" cy="1845691"/>
            <a:chOff x="4759299" y="2993174"/>
            <a:chExt cx="1167090" cy="91213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D815AED-3469-4446-B9A5-D517E425704A}"/>
                </a:ext>
              </a:extLst>
            </p:cNvPr>
            <p:cNvSpPr txBox="1"/>
            <p:nvPr/>
          </p:nvSpPr>
          <p:spPr>
            <a:xfrm flipH="1">
              <a:off x="5165614" y="2993174"/>
              <a:ext cx="331354" cy="34983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4000" dirty="0"/>
                <a:t>C</a:t>
              </a:r>
              <a:endParaRPr lang="he-IL" sz="4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428D953-8F23-45E6-B82B-FAA5C648778C}"/>
                </a:ext>
              </a:extLst>
            </p:cNvPr>
            <p:cNvSpPr txBox="1"/>
            <p:nvPr/>
          </p:nvSpPr>
          <p:spPr>
            <a:xfrm flipH="1">
              <a:off x="4759299" y="3555476"/>
              <a:ext cx="331354" cy="34983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4000" dirty="0"/>
                <a:t>X</a:t>
              </a:r>
              <a:endParaRPr lang="he-IL" sz="4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534F81-0EC8-4D55-A7BD-5D21AEDD2B49}"/>
                </a:ext>
              </a:extLst>
            </p:cNvPr>
            <p:cNvSpPr txBox="1"/>
            <p:nvPr/>
          </p:nvSpPr>
          <p:spPr>
            <a:xfrm flipH="1">
              <a:off x="5595035" y="3551886"/>
              <a:ext cx="331354" cy="34983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4000" dirty="0"/>
                <a:t>Y</a:t>
              </a:r>
              <a:endParaRPr lang="he-IL" sz="400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E1C73B6-6DB7-4EAE-8AB3-47EA76DEFF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6495" y="3242456"/>
              <a:ext cx="247532" cy="3730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784627D-5592-47F6-91F8-03C839FBA36E}"/>
                </a:ext>
              </a:extLst>
            </p:cNvPr>
            <p:cNvCxnSpPr>
              <a:cxnSpLocks/>
            </p:cNvCxnSpPr>
            <p:nvPr/>
          </p:nvCxnSpPr>
          <p:spPr>
            <a:xfrm>
              <a:off x="5374298" y="3243547"/>
              <a:ext cx="254248" cy="3452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241122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causality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Find the direction of influence</a:t>
            </a:r>
          </a:p>
          <a:p>
            <a:endParaRPr lang="en-US" dirty="0"/>
          </a:p>
          <a:p>
            <a:r>
              <a:rPr lang="en-US" dirty="0"/>
              <a:t>Ruling out confounds</a:t>
            </a:r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C07CAB16-E8C5-4957-A695-DC4CB2185911}"/>
              </a:ext>
            </a:extLst>
          </p:cNvPr>
          <p:cNvGrpSpPr/>
          <p:nvPr/>
        </p:nvGrpSpPr>
        <p:grpSpPr>
          <a:xfrm>
            <a:off x="6555738" y="3921770"/>
            <a:ext cx="2265666" cy="1845691"/>
            <a:chOff x="4759299" y="2993174"/>
            <a:chExt cx="1167090" cy="91213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D815AED-3469-4446-B9A5-D517E425704A}"/>
                </a:ext>
              </a:extLst>
            </p:cNvPr>
            <p:cNvSpPr txBox="1"/>
            <p:nvPr/>
          </p:nvSpPr>
          <p:spPr>
            <a:xfrm flipH="1">
              <a:off x="5165614" y="2993174"/>
              <a:ext cx="331354" cy="34983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4000" dirty="0"/>
                <a:t>C</a:t>
              </a:r>
              <a:endParaRPr lang="he-IL" sz="40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428D953-8F23-45E6-B82B-FAA5C648778C}"/>
                </a:ext>
              </a:extLst>
            </p:cNvPr>
            <p:cNvSpPr txBox="1"/>
            <p:nvPr/>
          </p:nvSpPr>
          <p:spPr>
            <a:xfrm flipH="1">
              <a:off x="4759299" y="3555476"/>
              <a:ext cx="331354" cy="34983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4000" dirty="0"/>
                <a:t>X</a:t>
              </a:r>
              <a:endParaRPr lang="he-IL" sz="4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534F81-0EC8-4D55-A7BD-5D21AEDD2B49}"/>
                </a:ext>
              </a:extLst>
            </p:cNvPr>
            <p:cNvSpPr txBox="1"/>
            <p:nvPr/>
          </p:nvSpPr>
          <p:spPr>
            <a:xfrm flipH="1">
              <a:off x="5595035" y="3551886"/>
              <a:ext cx="331354" cy="34983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4000" dirty="0"/>
                <a:t>Y</a:t>
              </a:r>
              <a:endParaRPr lang="he-IL" sz="400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E1C73B6-6DB7-4EAE-8AB3-47EA76DEFF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6495" y="3242456"/>
              <a:ext cx="247532" cy="3730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784627D-5592-47F6-91F8-03C839FBA36E}"/>
                </a:ext>
              </a:extLst>
            </p:cNvPr>
            <p:cNvCxnSpPr>
              <a:cxnSpLocks/>
            </p:cNvCxnSpPr>
            <p:nvPr/>
          </p:nvCxnSpPr>
          <p:spPr>
            <a:xfrm>
              <a:off x="5374298" y="3243547"/>
              <a:ext cx="254248" cy="34528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45503CDC-2DA8-9A62-95FE-B9AE0E4F0278}"/>
              </a:ext>
            </a:extLst>
          </p:cNvPr>
          <p:cNvSpPr/>
          <p:nvPr/>
        </p:nvSpPr>
        <p:spPr>
          <a:xfrm>
            <a:off x="6685597" y="3416569"/>
            <a:ext cx="1727200" cy="2019233"/>
          </a:xfrm>
          <a:prstGeom prst="mathMultiply">
            <a:avLst>
              <a:gd name="adj1" fmla="val 3520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558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study examining historical data over 50 years found that Olympic runners live longer lives compared other Olympic athletes”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study examining historical data over 50 years found that Olympic runners live longer lives compared other Olympic athletes”</a:t>
            </a:r>
          </a:p>
          <a:p>
            <a:endParaRPr lang="en-US" dirty="0"/>
          </a:p>
          <a:p>
            <a:r>
              <a:rPr lang="en-US" dirty="0"/>
              <a:t>Enough to establish </a:t>
            </a:r>
            <a:r>
              <a:rPr lang="en-US" b="1" dirty="0"/>
              <a:t>correlation</a:t>
            </a:r>
            <a:r>
              <a:rPr lang="en-US" dirty="0"/>
              <a:t>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060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study examining historical data over 50 years found that Olympic runners live longer lives compared other Olympic athletes”</a:t>
            </a:r>
          </a:p>
          <a:p>
            <a:endParaRPr lang="en-US" dirty="0"/>
          </a:p>
          <a:p>
            <a:r>
              <a:rPr lang="en-US" dirty="0"/>
              <a:t>Enough to establish </a:t>
            </a:r>
            <a:r>
              <a:rPr lang="en-US" b="1" dirty="0"/>
              <a:t>correlation</a:t>
            </a:r>
            <a:r>
              <a:rPr lang="en-US" dirty="0"/>
              <a:t>?</a:t>
            </a:r>
          </a:p>
          <a:p>
            <a:endParaRPr lang="en-US" dirty="0"/>
          </a:p>
          <a:p>
            <a:pPr lvl="1"/>
            <a:r>
              <a:rPr lang="en-US" dirty="0"/>
              <a:t>Yes – different athlete groups have different life expectancies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9306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study examining historical data over 50 years found that Olympic runners live longer lives compared other Olympic athletes”</a:t>
            </a:r>
          </a:p>
          <a:p>
            <a:endParaRPr lang="en-US" dirty="0"/>
          </a:p>
          <a:p>
            <a:r>
              <a:rPr lang="en-US" dirty="0"/>
              <a:t>Enough to establish </a:t>
            </a:r>
            <a:r>
              <a:rPr lang="en-US" b="1" dirty="0"/>
              <a:t>causation </a:t>
            </a:r>
            <a:r>
              <a:rPr lang="en-US" dirty="0"/>
              <a:t>(running is healthier than other sports at the Olympic level)?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4990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study examining historical data over 50 years found that Olympic runners live longer lives compared other Olympic athletes”</a:t>
            </a:r>
          </a:p>
          <a:p>
            <a:endParaRPr lang="en-US" dirty="0"/>
          </a:p>
          <a:p>
            <a:r>
              <a:rPr lang="en-US" dirty="0"/>
              <a:t>Enough to establish </a:t>
            </a:r>
            <a:r>
              <a:rPr lang="en-US" b="1" dirty="0"/>
              <a:t>causation </a:t>
            </a:r>
            <a:r>
              <a:rPr lang="en-US" dirty="0"/>
              <a:t>(running is healthier than other sports at the Olympic level)?</a:t>
            </a:r>
          </a:p>
          <a:p>
            <a:endParaRPr lang="en-US" dirty="0"/>
          </a:p>
          <a:p>
            <a:r>
              <a:rPr lang="en-US" dirty="0"/>
              <a:t>No.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912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study examining historical data over 50 years found that Olympic runners live longer lives compared other Olympic athletes”</a:t>
            </a:r>
          </a:p>
          <a:p>
            <a:endParaRPr lang="en-US" dirty="0"/>
          </a:p>
          <a:p>
            <a:r>
              <a:rPr lang="en-US" dirty="0"/>
              <a:t>Enough to establish </a:t>
            </a:r>
            <a:r>
              <a:rPr lang="en-US" b="1" dirty="0"/>
              <a:t>causation </a:t>
            </a:r>
            <a:r>
              <a:rPr lang="en-US" dirty="0"/>
              <a:t>(running is healthier than other sports at the Olympic level)?</a:t>
            </a:r>
          </a:p>
          <a:p>
            <a:endParaRPr lang="en-US" dirty="0"/>
          </a:p>
          <a:p>
            <a:r>
              <a:rPr lang="en-US" dirty="0"/>
              <a:t>What would you need to do to establish a causal link between running and living longer?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924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large study found that children who watch TV for more than 2 hours each day have lower reading scores”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1503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large study found that children who watch TV for more than 2 hours each day have lower reading scores”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Enough to establish </a:t>
            </a:r>
            <a:r>
              <a:rPr lang="en-US" b="1" dirty="0"/>
              <a:t>correlation</a:t>
            </a:r>
            <a:r>
              <a:rPr lang="en-US" dirty="0"/>
              <a:t>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417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large study found that children who watch TV for more than 2 hours each day have lower reading scores”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Enough to establish </a:t>
            </a:r>
            <a:r>
              <a:rPr lang="en-US" b="1" dirty="0"/>
              <a:t>causation </a:t>
            </a:r>
            <a:r>
              <a:rPr lang="en-US" dirty="0"/>
              <a:t>(TV watching is bad for reading)?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195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large study found that children who watch TV for more than 2 hours each day have lower reading scores”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Enough to establish </a:t>
            </a:r>
            <a:r>
              <a:rPr lang="en-US" b="1" dirty="0"/>
              <a:t>causation </a:t>
            </a:r>
            <a:r>
              <a:rPr lang="en-US" dirty="0"/>
              <a:t>(TV watching is bad for reading)?</a:t>
            </a:r>
          </a:p>
          <a:p>
            <a:endParaRPr lang="en-US" dirty="0"/>
          </a:p>
          <a:p>
            <a:r>
              <a:rPr lang="en-US" dirty="0"/>
              <a:t>What would you need to do to establish a causal link between watching TV and reading ability?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437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3031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gold standard for establishing causality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Two (or more) equal groups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4153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Two (or more) equal groups</a:t>
            </a:r>
          </a:p>
          <a:p>
            <a:pPr lvl="1"/>
            <a:r>
              <a:rPr lang="en-US" dirty="0"/>
              <a:t>Manipulation group(s) and control group</a:t>
            </a:r>
          </a:p>
        </p:txBody>
      </p:sp>
    </p:spTree>
    <p:extLst>
      <p:ext uri="{BB962C8B-B14F-4D97-AF65-F5344CB8AC3E}">
        <p14:creationId xmlns:p14="http://schemas.microsoft.com/office/powerpoint/2010/main" val="20229530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Two (or more) equal groups</a:t>
            </a:r>
          </a:p>
          <a:p>
            <a:pPr lvl="1"/>
            <a:r>
              <a:rPr lang="en-US" dirty="0"/>
              <a:t>Manipulation group(s) and control group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Manipulation</a:t>
            </a:r>
          </a:p>
        </p:txBody>
      </p:sp>
    </p:spTree>
    <p:extLst>
      <p:ext uri="{BB962C8B-B14F-4D97-AF65-F5344CB8AC3E}">
        <p14:creationId xmlns:p14="http://schemas.microsoft.com/office/powerpoint/2010/main" val="37771694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Two (or more) equal groups</a:t>
            </a:r>
          </a:p>
          <a:p>
            <a:pPr lvl="1"/>
            <a:r>
              <a:rPr lang="en-US" dirty="0"/>
              <a:t>Manipulation group(s) and control group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Manipulation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Statistical test for difference between groups</a:t>
            </a:r>
          </a:p>
        </p:txBody>
      </p:sp>
    </p:spTree>
    <p:extLst>
      <p:ext uri="{BB962C8B-B14F-4D97-AF65-F5344CB8AC3E}">
        <p14:creationId xmlns:p14="http://schemas.microsoft.com/office/powerpoint/2010/main" val="25243686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experiments -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6259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experiments -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Groups are equal before the manipulation and different after the manipulation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C85B1BA6-6FFC-49D4-9576-76DBED10FCA4}"/>
              </a:ext>
            </a:extLst>
          </p:cNvPr>
          <p:cNvSpPr/>
          <p:nvPr/>
        </p:nvSpPr>
        <p:spPr>
          <a:xfrm>
            <a:off x="5071621" y="3346515"/>
            <a:ext cx="1093509" cy="1150071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15729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experiments -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Groups are equal before the manipulation and different after the manipulation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cause</a:t>
            </a:r>
            <a:r>
              <a:rPr lang="en-US" dirty="0"/>
              <a:t> for the difference between the groups is the manipulation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C85B1BA6-6FFC-49D4-9576-76DBED10FCA4}"/>
              </a:ext>
            </a:extLst>
          </p:cNvPr>
          <p:cNvSpPr/>
          <p:nvPr/>
        </p:nvSpPr>
        <p:spPr>
          <a:xfrm>
            <a:off x="5071621" y="3346515"/>
            <a:ext cx="1093509" cy="1150071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3270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experiments - 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Creating equal groups</a:t>
            </a:r>
          </a:p>
        </p:txBody>
      </p:sp>
    </p:spTree>
    <p:extLst>
      <p:ext uri="{BB962C8B-B14F-4D97-AF65-F5344CB8AC3E}">
        <p14:creationId xmlns:p14="http://schemas.microsoft.com/office/powerpoint/2010/main" val="6209303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experiments - 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Creating equal groups</a:t>
            </a:r>
          </a:p>
          <a:p>
            <a:endParaRPr lang="en-US" dirty="0"/>
          </a:p>
          <a:p>
            <a:r>
              <a:rPr lang="en-US" dirty="0"/>
              <a:t>Experimental validity – manipulating only the intended constructs</a:t>
            </a:r>
          </a:p>
        </p:txBody>
      </p:sp>
    </p:spTree>
    <p:extLst>
      <p:ext uri="{BB962C8B-B14F-4D97-AF65-F5344CB8AC3E}">
        <p14:creationId xmlns:p14="http://schemas.microsoft.com/office/powerpoint/2010/main" val="26831094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equal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Matched controls – assigning people to the control and manipulation group in matched pairs based on:</a:t>
            </a:r>
          </a:p>
          <a:p>
            <a:pPr lvl="1"/>
            <a:r>
              <a:rPr lang="en-US" dirty="0"/>
              <a:t>Age</a:t>
            </a:r>
          </a:p>
          <a:p>
            <a:pPr lvl="1"/>
            <a:r>
              <a:rPr lang="en-US" dirty="0"/>
              <a:t>Gender</a:t>
            </a:r>
          </a:p>
          <a:p>
            <a:pPr lvl="1"/>
            <a:r>
              <a:rPr lang="en-US" dirty="0"/>
              <a:t>Income</a:t>
            </a:r>
          </a:p>
          <a:p>
            <a:pPr lvl="1"/>
            <a:r>
              <a:rPr lang="en-US" dirty="0"/>
              <a:t>Education</a:t>
            </a:r>
          </a:p>
          <a:p>
            <a:pPr lvl="1"/>
            <a:r>
              <a:rPr lang="en-US" dirty="0"/>
              <a:t>…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equal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Matched controls – assigning people to the control and manipulation group in matched pairs based on:</a:t>
            </a:r>
          </a:p>
          <a:p>
            <a:pPr lvl="1"/>
            <a:r>
              <a:rPr lang="en-US" dirty="0"/>
              <a:t>Age</a:t>
            </a:r>
          </a:p>
          <a:p>
            <a:pPr lvl="1"/>
            <a:r>
              <a:rPr lang="en-US" dirty="0"/>
              <a:t>Gender</a:t>
            </a:r>
          </a:p>
          <a:p>
            <a:pPr lvl="1"/>
            <a:r>
              <a:rPr lang="en-US" dirty="0"/>
              <a:t>Income</a:t>
            </a:r>
          </a:p>
          <a:p>
            <a:pPr lvl="1"/>
            <a:r>
              <a:rPr lang="en-US" dirty="0"/>
              <a:t>Education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Hard to do with more matched variables</a:t>
            </a:r>
          </a:p>
        </p:txBody>
      </p:sp>
    </p:spTree>
    <p:extLst>
      <p:ext uri="{BB962C8B-B14F-4D97-AF65-F5344CB8AC3E}">
        <p14:creationId xmlns:p14="http://schemas.microsoft.com/office/powerpoint/2010/main" val="12769322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equal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dirty="0"/>
          </a:p>
          <a:p>
            <a:r>
              <a:rPr lang="en-US" dirty="0"/>
              <a:t>Matched controls – assigning people to the control and manipulation group in matched pairs based on:</a:t>
            </a:r>
          </a:p>
          <a:p>
            <a:pPr lvl="1"/>
            <a:r>
              <a:rPr lang="en-US" dirty="0"/>
              <a:t>Age</a:t>
            </a:r>
          </a:p>
          <a:p>
            <a:pPr lvl="1"/>
            <a:r>
              <a:rPr lang="en-US" dirty="0"/>
              <a:t>Gender</a:t>
            </a:r>
          </a:p>
          <a:p>
            <a:pPr lvl="1"/>
            <a:r>
              <a:rPr lang="en-US" dirty="0"/>
              <a:t>Income</a:t>
            </a:r>
          </a:p>
          <a:p>
            <a:pPr lvl="1"/>
            <a:r>
              <a:rPr lang="en-US" dirty="0"/>
              <a:t>Education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Hard to do with more matched variables</a:t>
            </a:r>
          </a:p>
          <a:p>
            <a:r>
              <a:rPr lang="en-US" dirty="0"/>
              <a:t>What about unmatched variables?</a:t>
            </a:r>
          </a:p>
        </p:txBody>
      </p:sp>
    </p:spTree>
    <p:extLst>
      <p:ext uri="{BB962C8B-B14F-4D97-AF65-F5344CB8AC3E}">
        <p14:creationId xmlns:p14="http://schemas.microsoft.com/office/powerpoint/2010/main" val="26560014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equal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dirty="0"/>
          </a:p>
          <a:p>
            <a:r>
              <a:rPr lang="en-US" dirty="0"/>
              <a:t>Random assignment – assign people to control or manipulation group randomly</a:t>
            </a:r>
          </a:p>
        </p:txBody>
      </p:sp>
    </p:spTree>
    <p:extLst>
      <p:ext uri="{BB962C8B-B14F-4D97-AF65-F5344CB8AC3E}">
        <p14:creationId xmlns:p14="http://schemas.microsoft.com/office/powerpoint/2010/main" val="30647742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equal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dirty="0"/>
          </a:p>
          <a:p>
            <a:r>
              <a:rPr lang="en-US" dirty="0"/>
              <a:t>Random assignment – assign people to control or manipulation group randomly</a:t>
            </a:r>
          </a:p>
          <a:p>
            <a:endParaRPr lang="en-US" dirty="0"/>
          </a:p>
          <a:p>
            <a:r>
              <a:rPr lang="en-US" dirty="0"/>
              <a:t>Groups should be equal due to the law of large numbers</a:t>
            </a:r>
          </a:p>
        </p:txBody>
      </p:sp>
    </p:spTree>
    <p:extLst>
      <p:ext uri="{BB962C8B-B14F-4D97-AF65-F5344CB8AC3E}">
        <p14:creationId xmlns:p14="http://schemas.microsoft.com/office/powerpoint/2010/main" val="37986850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equal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dirty="0"/>
          </a:p>
          <a:p>
            <a:r>
              <a:rPr lang="en-US" dirty="0"/>
              <a:t>Random assignment – assign people to control or manipulation group randomly</a:t>
            </a:r>
          </a:p>
          <a:p>
            <a:endParaRPr lang="en-US" dirty="0"/>
          </a:p>
          <a:p>
            <a:r>
              <a:rPr lang="en-US" dirty="0"/>
              <a:t>Groups should be equal due to the law of large numbers</a:t>
            </a:r>
          </a:p>
          <a:p>
            <a:endParaRPr lang="en-US" dirty="0"/>
          </a:p>
          <a:p>
            <a:r>
              <a:rPr lang="en-US" dirty="0"/>
              <a:t>But..</a:t>
            </a:r>
          </a:p>
          <a:p>
            <a:pPr lvl="1"/>
            <a:r>
              <a:rPr lang="en-US" dirty="0"/>
              <a:t>Larger samples needed</a:t>
            </a:r>
          </a:p>
        </p:txBody>
      </p:sp>
    </p:spTree>
    <p:extLst>
      <p:ext uri="{BB962C8B-B14F-4D97-AF65-F5344CB8AC3E}">
        <p14:creationId xmlns:p14="http://schemas.microsoft.com/office/powerpoint/2010/main" val="8015079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equal groups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endParaRPr lang="en-US" dirty="0"/>
              </a:p>
              <a:p>
                <a:r>
                  <a:rPr lang="en-US" dirty="0"/>
                  <a:t>Random assignment – assign people to control or manipulation group randomly</a:t>
                </a:r>
              </a:p>
              <a:p>
                <a:endParaRPr lang="en-US" dirty="0"/>
              </a:p>
              <a:p>
                <a:r>
                  <a:rPr lang="en-US" dirty="0"/>
                  <a:t>Groups should be equal due to the law of large numbers</a:t>
                </a:r>
              </a:p>
              <a:p>
                <a:endParaRPr lang="en-US" dirty="0"/>
              </a:p>
              <a:p>
                <a:r>
                  <a:rPr lang="en-US" dirty="0"/>
                  <a:t>But..</a:t>
                </a:r>
              </a:p>
              <a:p>
                <a:pPr lvl="1"/>
                <a:r>
                  <a:rPr lang="en-US" dirty="0"/>
                  <a:t>Larger samples needed</a:t>
                </a:r>
              </a:p>
              <a:p>
                <a:pPr lvl="1"/>
                <a:r>
                  <a:rPr lang="en-US" dirty="0"/>
                  <a:t>Should be equal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are equal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1043" r="-144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7834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equal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dirty="0"/>
          </a:p>
          <a:p>
            <a:r>
              <a:rPr lang="en-US" dirty="0"/>
              <a:t>Interpretation of results depends on the </a:t>
            </a:r>
            <a:r>
              <a:rPr lang="en-US" i="1" dirty="0"/>
              <a:t>assumption</a:t>
            </a:r>
            <a:r>
              <a:rPr lang="en-US" dirty="0"/>
              <a:t> that groups are equal before the manipulation!</a:t>
            </a:r>
          </a:p>
          <a:p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83098843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equal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dirty="0"/>
          </a:p>
          <a:p>
            <a:r>
              <a:rPr lang="en-US" dirty="0"/>
              <a:t>Interpretation of results depends on the </a:t>
            </a:r>
            <a:r>
              <a:rPr lang="en-US" i="1" dirty="0"/>
              <a:t>assumption</a:t>
            </a:r>
            <a:r>
              <a:rPr lang="en-US" dirty="0"/>
              <a:t> that groups are equal before the manipulation!</a:t>
            </a:r>
          </a:p>
          <a:p>
            <a:endParaRPr lang="en-US" i="1" dirty="0"/>
          </a:p>
          <a:p>
            <a:r>
              <a:rPr lang="en-US" dirty="0"/>
              <a:t>Can be tested, but never exhaustively</a:t>
            </a:r>
          </a:p>
        </p:txBody>
      </p:sp>
    </p:spTree>
    <p:extLst>
      <p:ext uri="{BB962C8B-B14F-4D97-AF65-F5344CB8AC3E}">
        <p14:creationId xmlns:p14="http://schemas.microsoft.com/office/powerpoint/2010/main" val="2774677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4ED7F-907F-4479-8059-670F0F275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experiments common in business?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E0BD3-A39C-FB8D-FA43-936FAFD55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182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09AB5-33E2-3E20-2713-35CC2051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A/B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D1A16-0210-6223-37BB-99333CCE6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799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09AB5-33E2-3E20-2713-35CC2051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A/B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D1A16-0210-6223-37BB-99333CCE6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3E3F0D-7E70-974E-7E90-CE60E1A33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291" y="2092960"/>
            <a:ext cx="4486123" cy="397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897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9AD9-5C40-4C47-9105-53B591C7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validity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734E-0161-46F8-A505-54FA7AD92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1919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9AD9-5C40-4C47-9105-53B591C7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validity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734E-0161-46F8-A505-54FA7AD92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Example experiment:</a:t>
            </a:r>
          </a:p>
          <a:p>
            <a:pPr lvl="1"/>
            <a:r>
              <a:rPr lang="en-US" dirty="0"/>
              <a:t>2,000 participants with headache</a:t>
            </a:r>
          </a:p>
        </p:txBody>
      </p:sp>
    </p:spTree>
    <p:extLst>
      <p:ext uri="{BB962C8B-B14F-4D97-AF65-F5344CB8AC3E}">
        <p14:creationId xmlns:p14="http://schemas.microsoft.com/office/powerpoint/2010/main" val="226334345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9AD9-5C40-4C47-9105-53B591C7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validity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734E-0161-46F8-A505-54FA7AD92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Example experiment:</a:t>
            </a:r>
          </a:p>
          <a:p>
            <a:pPr lvl="1"/>
            <a:r>
              <a:rPr lang="en-US" dirty="0"/>
              <a:t>2,000 participants with headache</a:t>
            </a:r>
          </a:p>
          <a:p>
            <a:pPr lvl="1"/>
            <a:r>
              <a:rPr lang="en-US" dirty="0"/>
              <a:t>Random assignment</a:t>
            </a:r>
          </a:p>
          <a:p>
            <a:pPr lvl="2"/>
            <a:r>
              <a:rPr lang="en-US" dirty="0"/>
              <a:t>1,000 control group (do nothing)</a:t>
            </a:r>
          </a:p>
          <a:p>
            <a:pPr lvl="2"/>
            <a:r>
              <a:rPr lang="en-US" dirty="0"/>
              <a:t>1,000 take Paracetamol (</a:t>
            </a:r>
            <a:r>
              <a:rPr lang="he-IL" dirty="0"/>
              <a:t>אקמול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507848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9AD9-5C40-4C47-9105-53B591C7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validity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734E-0161-46F8-A505-54FA7AD92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Example experiment:</a:t>
            </a:r>
          </a:p>
          <a:p>
            <a:pPr lvl="1"/>
            <a:r>
              <a:rPr lang="en-US" dirty="0"/>
              <a:t>2,000 participants with headache</a:t>
            </a:r>
          </a:p>
          <a:p>
            <a:pPr lvl="1"/>
            <a:r>
              <a:rPr lang="en-US" dirty="0"/>
              <a:t>Random assignment</a:t>
            </a:r>
          </a:p>
          <a:p>
            <a:pPr lvl="2"/>
            <a:r>
              <a:rPr lang="en-US" dirty="0"/>
              <a:t>1,000 control group (do nothing)</a:t>
            </a:r>
          </a:p>
          <a:p>
            <a:pPr lvl="2"/>
            <a:r>
              <a:rPr lang="en-US" dirty="0"/>
              <a:t>1,000 take Paracetamol (</a:t>
            </a:r>
            <a:r>
              <a:rPr lang="he-IL" dirty="0"/>
              <a:t>אקמול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After 1 hour, ask about current pain level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7075696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9AD9-5C40-4C47-9105-53B591C7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validity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734E-0161-46F8-A505-54FA7AD92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Example experiment:</a:t>
            </a:r>
          </a:p>
          <a:p>
            <a:pPr lvl="1"/>
            <a:r>
              <a:rPr lang="en-US" dirty="0"/>
              <a:t>2,000 participants with headache</a:t>
            </a:r>
          </a:p>
          <a:p>
            <a:pPr lvl="1"/>
            <a:r>
              <a:rPr lang="en-US" dirty="0"/>
              <a:t>Random assignment</a:t>
            </a:r>
          </a:p>
          <a:p>
            <a:pPr lvl="2"/>
            <a:r>
              <a:rPr lang="en-US" dirty="0"/>
              <a:t>1,000 control group (do nothing)</a:t>
            </a:r>
          </a:p>
          <a:p>
            <a:pPr lvl="2"/>
            <a:r>
              <a:rPr lang="en-US" dirty="0"/>
              <a:t>1,000 take Paracetamol (</a:t>
            </a:r>
            <a:r>
              <a:rPr lang="he-IL" dirty="0"/>
              <a:t>אקמול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After 1 hour, ask about current pain level</a:t>
            </a:r>
          </a:p>
          <a:p>
            <a:pPr lvl="1"/>
            <a:r>
              <a:rPr lang="en-US" dirty="0"/>
              <a:t>Result: Pain significantly lower in paracetamol group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4424013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9AD9-5C40-4C47-9105-53B591C7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validity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734E-0161-46F8-A505-54FA7AD92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Example experiment:</a:t>
            </a:r>
          </a:p>
          <a:p>
            <a:pPr lvl="1"/>
            <a:r>
              <a:rPr lang="en-US" dirty="0"/>
              <a:t>2,000 participants with headache</a:t>
            </a:r>
          </a:p>
          <a:p>
            <a:pPr lvl="1"/>
            <a:r>
              <a:rPr lang="en-US" dirty="0"/>
              <a:t>Random assignment</a:t>
            </a:r>
          </a:p>
          <a:p>
            <a:pPr lvl="2"/>
            <a:r>
              <a:rPr lang="en-US" dirty="0"/>
              <a:t>1,000 control group (do nothing)</a:t>
            </a:r>
          </a:p>
          <a:p>
            <a:pPr lvl="2"/>
            <a:r>
              <a:rPr lang="en-US" dirty="0"/>
              <a:t>1,000 take Paracetamol (</a:t>
            </a:r>
            <a:r>
              <a:rPr lang="he-IL" dirty="0"/>
              <a:t>אקמול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After 1 hour, ask about current pain level</a:t>
            </a:r>
          </a:p>
          <a:p>
            <a:pPr lvl="1"/>
            <a:r>
              <a:rPr lang="en-US" dirty="0"/>
              <a:t>Result: Pain significantly lower in paracetamol group</a:t>
            </a:r>
            <a:endParaRPr lang="he-IL" dirty="0"/>
          </a:p>
          <a:p>
            <a:r>
              <a:rPr lang="en-US" dirty="0"/>
              <a:t>Does paracetamol decrease pain?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7383276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9AD9-5C40-4C47-9105-53B591C7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validity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C734E-0161-46F8-A505-54FA7AD92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Example experiment:</a:t>
            </a:r>
          </a:p>
          <a:p>
            <a:pPr lvl="1"/>
            <a:r>
              <a:rPr lang="en-US" dirty="0"/>
              <a:t>2,000 participants with headache</a:t>
            </a:r>
          </a:p>
          <a:p>
            <a:pPr lvl="1"/>
            <a:r>
              <a:rPr lang="en-US" dirty="0"/>
              <a:t>Random assignment</a:t>
            </a:r>
          </a:p>
          <a:p>
            <a:pPr lvl="2"/>
            <a:r>
              <a:rPr lang="en-US" dirty="0"/>
              <a:t>1,000 control group (do nothing)</a:t>
            </a:r>
          </a:p>
          <a:p>
            <a:pPr lvl="2"/>
            <a:r>
              <a:rPr lang="en-US" dirty="0"/>
              <a:t>1,000 take Paracetamol (</a:t>
            </a:r>
            <a:r>
              <a:rPr lang="he-IL" dirty="0"/>
              <a:t>אקמול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After 1 hour, ask about current pain level</a:t>
            </a:r>
          </a:p>
          <a:p>
            <a:pPr lvl="1"/>
            <a:r>
              <a:rPr lang="en-US" dirty="0"/>
              <a:t>Result: Pain significantly lower in paracetamol group</a:t>
            </a:r>
            <a:endParaRPr lang="he-IL" dirty="0"/>
          </a:p>
          <a:p>
            <a:r>
              <a:rPr lang="en-US" dirty="0"/>
              <a:t>Does paracetamol decrease pain?</a:t>
            </a:r>
          </a:p>
          <a:p>
            <a:pPr lvl="1"/>
            <a:r>
              <a:rPr lang="en-US" dirty="0"/>
              <a:t>Is there an alternative explanation for the result?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7375961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E4788-DBD0-F025-6D09-1369A0CE1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EA869-A233-7351-2922-8C4BA5F39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7942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E4788-DBD0-F025-6D09-1369A0CE1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EA869-A233-7351-2922-8C4BA5F39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Participant expectations</a:t>
            </a:r>
          </a:p>
        </p:txBody>
      </p:sp>
    </p:spTree>
    <p:extLst>
      <p:ext uri="{BB962C8B-B14F-4D97-AF65-F5344CB8AC3E}">
        <p14:creationId xmlns:p14="http://schemas.microsoft.com/office/powerpoint/2010/main" val="72141551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Placebo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04622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Placebo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Latin for “shall be pleasing”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Placebo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Latin for “shall be pleasing”</a:t>
            </a:r>
          </a:p>
          <a:p>
            <a:endParaRPr lang="en-US" dirty="0"/>
          </a:p>
          <a:p>
            <a:r>
              <a:rPr lang="en-US" dirty="0"/>
              <a:t>Placebo effect: when we expect something to help, it does</a:t>
            </a:r>
          </a:p>
        </p:txBody>
      </p:sp>
    </p:spTree>
    <p:extLst>
      <p:ext uri="{BB962C8B-B14F-4D97-AF65-F5344CB8AC3E}">
        <p14:creationId xmlns:p14="http://schemas.microsoft.com/office/powerpoint/2010/main" val="13742241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Placebo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Latin for “shall be pleasing”</a:t>
            </a:r>
          </a:p>
          <a:p>
            <a:endParaRPr lang="en-US" dirty="0"/>
          </a:p>
          <a:p>
            <a:r>
              <a:rPr lang="en-US" dirty="0"/>
              <a:t>Placebo effect: when we expect something to help, it does</a:t>
            </a:r>
          </a:p>
          <a:p>
            <a:endParaRPr lang="en-US" dirty="0"/>
          </a:p>
          <a:p>
            <a:r>
              <a:rPr lang="en-US" dirty="0"/>
              <a:t>Real effectiveness: placebo effects were the leading cause of medical treatment success until the late 18</a:t>
            </a:r>
            <a:r>
              <a:rPr lang="en-US" baseline="30000" dirty="0"/>
              <a:t>th</a:t>
            </a:r>
            <a:r>
              <a:rPr lang="en-US" dirty="0"/>
              <a:t> century</a:t>
            </a:r>
          </a:p>
        </p:txBody>
      </p:sp>
    </p:spTree>
    <p:extLst>
      <p:ext uri="{BB962C8B-B14F-4D97-AF65-F5344CB8AC3E}">
        <p14:creationId xmlns:p14="http://schemas.microsoft.com/office/powerpoint/2010/main" val="14459565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Nocebo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Nocebo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When we expect something to have negative effects, it does</a:t>
            </a:r>
          </a:p>
        </p:txBody>
      </p:sp>
    </p:spTree>
    <p:extLst>
      <p:ext uri="{BB962C8B-B14F-4D97-AF65-F5344CB8AC3E}">
        <p14:creationId xmlns:p14="http://schemas.microsoft.com/office/powerpoint/2010/main" val="212321686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Nocebo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When we expect something to have negative effects, it does</a:t>
            </a:r>
          </a:p>
          <a:p>
            <a:endParaRPr lang="en-US" dirty="0"/>
          </a:p>
          <a:p>
            <a:r>
              <a:rPr lang="en-US" dirty="0"/>
              <a:t>E.g., expected medication side effects</a:t>
            </a:r>
          </a:p>
        </p:txBody>
      </p:sp>
      <p:pic>
        <p:nvPicPr>
          <p:cNvPr id="3074" name="Picture 2" descr="Happy Cartoon Voodoo Doll Stock Illustration - Download Image Now - Voodoo  Doll, 2015, Cartoon - iStock">
            <a:extLst>
              <a:ext uri="{FF2B5EF4-FFF2-40B4-BE49-F238E27FC236}">
                <a16:creationId xmlns:a16="http://schemas.microsoft.com/office/drawing/2014/main" id="{EE44CD0E-5871-4066-98DB-78981133C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700" y="4603276"/>
            <a:ext cx="1262932" cy="138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74765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Hawthorne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Series of studies conducted at Hawthorne Works plant, Illinois, between 1924 and 1927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Hawthorne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Series of studies conducted at Hawthorne Works plant, Illinois, between 1924 and 1927</a:t>
            </a:r>
          </a:p>
          <a:p>
            <a:endParaRPr lang="en-US" dirty="0"/>
          </a:p>
          <a:p>
            <a:r>
              <a:rPr lang="en-US" dirty="0"/>
              <a:t>Tested influence of working conditions on productivity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4683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Hawthorne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Series of studies conducted at Hawthorne Works plant, Illinois, between 1924 and 1927</a:t>
            </a:r>
          </a:p>
          <a:p>
            <a:endParaRPr lang="en-US" dirty="0"/>
          </a:p>
          <a:p>
            <a:r>
              <a:rPr lang="en-US" dirty="0"/>
              <a:t>Tested influence of working conditions on productivity</a:t>
            </a:r>
          </a:p>
          <a:p>
            <a:endParaRPr lang="en-US" dirty="0"/>
          </a:p>
          <a:p>
            <a:r>
              <a:rPr lang="en-US" dirty="0"/>
              <a:t>Changes to:</a:t>
            </a:r>
          </a:p>
          <a:p>
            <a:pPr lvl="1"/>
            <a:r>
              <a:rPr lang="en-US" dirty="0"/>
              <a:t>Room lighting (increase / decrease / return to baseline)</a:t>
            </a:r>
          </a:p>
          <a:p>
            <a:pPr lvl="1"/>
            <a:r>
              <a:rPr lang="en-US" dirty="0"/>
              <a:t>Break length (increase / decrease / return to baseline)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734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Hawthorne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Series of studies conducted at Hawthorne Works plant, Illinois, between 1924 and 1927</a:t>
            </a:r>
          </a:p>
          <a:p>
            <a:endParaRPr lang="en-US" dirty="0"/>
          </a:p>
          <a:p>
            <a:r>
              <a:rPr lang="en-US" dirty="0"/>
              <a:t>Tested influence of working conditions on productivity</a:t>
            </a:r>
          </a:p>
          <a:p>
            <a:endParaRPr lang="en-US" dirty="0"/>
          </a:p>
          <a:p>
            <a:r>
              <a:rPr lang="en-US" dirty="0"/>
              <a:t>What were the optimal conditions?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37242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Hawthorne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Series of studies conducted at Hawthorne Works plant, Illinois, between 1924 and 1927</a:t>
            </a:r>
          </a:p>
          <a:p>
            <a:endParaRPr lang="en-US" dirty="0"/>
          </a:p>
          <a:p>
            <a:r>
              <a:rPr lang="en-US" dirty="0"/>
              <a:t>Tested influence of working conditions on productivity</a:t>
            </a:r>
          </a:p>
          <a:p>
            <a:endParaRPr lang="en-US" dirty="0"/>
          </a:p>
          <a:p>
            <a:r>
              <a:rPr lang="en-US" dirty="0"/>
              <a:t>Every change led to increased productivity initially!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97770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Hawthorne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Series of studies conducted at Hawthorne Works plant, Illinois, between 1924 and 1927</a:t>
            </a:r>
          </a:p>
          <a:p>
            <a:endParaRPr lang="en-US" dirty="0"/>
          </a:p>
          <a:p>
            <a:r>
              <a:rPr lang="en-US" dirty="0"/>
              <a:t>Tested influence of working conditions on productivity</a:t>
            </a:r>
          </a:p>
          <a:p>
            <a:endParaRPr lang="en-US" dirty="0"/>
          </a:p>
          <a:p>
            <a:r>
              <a:rPr lang="en-US" dirty="0"/>
              <a:t>Every change led to increased productivity initially!</a:t>
            </a:r>
          </a:p>
          <a:p>
            <a:pPr lvl="1"/>
            <a:r>
              <a:rPr lang="en-US" dirty="0"/>
              <a:t>Why?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01199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Hawthorne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Being part of the manipulation group:</a:t>
            </a:r>
          </a:p>
          <a:p>
            <a:pPr lvl="1"/>
            <a:r>
              <a:rPr lang="en-US" dirty="0"/>
              <a:t>Feeling special</a:t>
            </a:r>
          </a:p>
          <a:p>
            <a:pPr lvl="1"/>
            <a:r>
              <a:rPr lang="en-US" dirty="0"/>
              <a:t>Closer oversight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42253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Participant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Participant knows they are in manipulation group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3711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Participant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Participant knows they are in manipulation group</a:t>
            </a:r>
          </a:p>
          <a:p>
            <a:endParaRPr lang="en-US" dirty="0"/>
          </a:p>
          <a:p>
            <a:r>
              <a:rPr lang="en-US" dirty="0"/>
              <a:t>Participant expects effect</a:t>
            </a:r>
          </a:p>
          <a:p>
            <a:pPr lvl="1"/>
            <a:endParaRPr lang="en-US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D7F50802-6E38-4CFD-96EC-8FCDCE3648E1}"/>
              </a:ext>
            </a:extLst>
          </p:cNvPr>
          <p:cNvSpPr/>
          <p:nvPr/>
        </p:nvSpPr>
        <p:spPr>
          <a:xfrm>
            <a:off x="2620651" y="2841363"/>
            <a:ext cx="537328" cy="54439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4436874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Participant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Participant knows they are in manipulation group</a:t>
            </a:r>
          </a:p>
          <a:p>
            <a:endParaRPr lang="en-US" dirty="0"/>
          </a:p>
          <a:p>
            <a:r>
              <a:rPr lang="en-US" dirty="0"/>
              <a:t>Participant expects effect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manipulation appears to have an effect</a:t>
            </a:r>
          </a:p>
          <a:p>
            <a:pPr lvl="1"/>
            <a:endParaRPr lang="en-US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D7F50802-6E38-4CFD-96EC-8FCDCE3648E1}"/>
              </a:ext>
            </a:extLst>
          </p:cNvPr>
          <p:cNvSpPr/>
          <p:nvPr/>
        </p:nvSpPr>
        <p:spPr>
          <a:xfrm>
            <a:off x="2620651" y="2841363"/>
            <a:ext cx="537328" cy="54439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FAEC5895-77BE-4543-BB21-287F4EB40800}"/>
              </a:ext>
            </a:extLst>
          </p:cNvPr>
          <p:cNvSpPr/>
          <p:nvPr/>
        </p:nvSpPr>
        <p:spPr>
          <a:xfrm>
            <a:off x="2620651" y="4129300"/>
            <a:ext cx="537328" cy="54439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0300868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E4788-DBD0-F025-6D09-1369A0CE1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EA869-A233-7351-2922-8C4BA5F39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Participant expectations</a:t>
            </a:r>
          </a:p>
        </p:txBody>
      </p:sp>
    </p:spTree>
    <p:extLst>
      <p:ext uri="{BB962C8B-B14F-4D97-AF65-F5344CB8AC3E}">
        <p14:creationId xmlns:p14="http://schemas.microsoft.com/office/powerpoint/2010/main" val="118942824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E4788-DBD0-F025-6D09-1369A0CE1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EA869-A233-7351-2922-8C4BA5F39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Participant expectations</a:t>
            </a:r>
          </a:p>
          <a:p>
            <a:endParaRPr lang="en-US" dirty="0"/>
          </a:p>
          <a:p>
            <a:r>
              <a:rPr lang="en-US" dirty="0"/>
              <a:t>Experimenter expectations</a:t>
            </a:r>
          </a:p>
        </p:txBody>
      </p:sp>
    </p:spTree>
    <p:extLst>
      <p:ext uri="{BB962C8B-B14F-4D97-AF65-F5344CB8AC3E}">
        <p14:creationId xmlns:p14="http://schemas.microsoft.com/office/powerpoint/2010/main" val="206700257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Clever Hans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Clever Hans | Story, Effect, &amp; Facts | Britannica">
            <a:extLst>
              <a:ext uri="{FF2B5EF4-FFF2-40B4-BE49-F238E27FC236}">
                <a16:creationId xmlns:a16="http://schemas.microsoft.com/office/drawing/2014/main" id="{9A5E0D81-4AEA-4942-B60D-7DA70AC88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919" y="3562359"/>
            <a:ext cx="4818881" cy="284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34319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Clever Hans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Clever Hans (a horse) could answer math questions by tapping the number with his foot</a:t>
            </a:r>
          </a:p>
        </p:txBody>
      </p:sp>
      <p:pic>
        <p:nvPicPr>
          <p:cNvPr id="4098" name="Picture 2" descr="Clever Hans | Story, Effect, &amp; Facts | Britannica">
            <a:extLst>
              <a:ext uri="{FF2B5EF4-FFF2-40B4-BE49-F238E27FC236}">
                <a16:creationId xmlns:a16="http://schemas.microsoft.com/office/drawing/2014/main" id="{9A5E0D81-4AEA-4942-B60D-7DA70AC88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919" y="3562359"/>
            <a:ext cx="4818881" cy="284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Clever Hans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Clever Hans (a horse) could answer math questions by tapping the number with his foot</a:t>
            </a:r>
          </a:p>
          <a:p>
            <a:endParaRPr lang="en-US" dirty="0"/>
          </a:p>
          <a:p>
            <a:r>
              <a:rPr lang="en-US" dirty="0"/>
              <a:t>How?</a:t>
            </a:r>
          </a:p>
        </p:txBody>
      </p:sp>
      <p:pic>
        <p:nvPicPr>
          <p:cNvPr id="4098" name="Picture 2" descr="Clever Hans | Story, Effect, &amp; Facts | Britannica">
            <a:extLst>
              <a:ext uri="{FF2B5EF4-FFF2-40B4-BE49-F238E27FC236}">
                <a16:creationId xmlns:a16="http://schemas.microsoft.com/office/drawing/2014/main" id="{9A5E0D81-4AEA-4942-B60D-7DA70AC88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919" y="3562359"/>
            <a:ext cx="4818881" cy="284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30535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Clever Hans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Clever Hans (a horse) could answer math questions by tapping the number with his foot</a:t>
            </a:r>
          </a:p>
          <a:p>
            <a:endParaRPr lang="en-US" dirty="0"/>
          </a:p>
          <a:p>
            <a:r>
              <a:rPr lang="en-US" dirty="0"/>
              <a:t>The person asking knew the answer</a:t>
            </a:r>
          </a:p>
          <a:p>
            <a:endParaRPr lang="en-US" dirty="0"/>
          </a:p>
        </p:txBody>
      </p:sp>
      <p:pic>
        <p:nvPicPr>
          <p:cNvPr id="4098" name="Picture 2" descr="Clever Hans | Story, Effect, &amp; Facts | Britannica">
            <a:extLst>
              <a:ext uri="{FF2B5EF4-FFF2-40B4-BE49-F238E27FC236}">
                <a16:creationId xmlns:a16="http://schemas.microsoft.com/office/drawing/2014/main" id="{9A5E0D81-4AEA-4942-B60D-7DA70AC88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919" y="3562359"/>
            <a:ext cx="4818881" cy="284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9228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Clever Hans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Clever Hans (a horse) could answer math questions by tapping the number with his foot</a:t>
            </a:r>
          </a:p>
          <a:p>
            <a:endParaRPr lang="en-US" dirty="0"/>
          </a:p>
          <a:p>
            <a:r>
              <a:rPr lang="en-US" dirty="0"/>
              <a:t>The person asking knew the answer</a:t>
            </a:r>
          </a:p>
          <a:p>
            <a:endParaRPr lang="en-US" dirty="0"/>
          </a:p>
          <a:p>
            <a:r>
              <a:rPr lang="en-US" dirty="0"/>
              <a:t>Hans responded to subtle body </a:t>
            </a:r>
            <a:br>
              <a:rPr lang="en-US" dirty="0"/>
            </a:br>
            <a:r>
              <a:rPr lang="en-US" dirty="0"/>
              <a:t>language</a:t>
            </a:r>
          </a:p>
        </p:txBody>
      </p:sp>
      <p:pic>
        <p:nvPicPr>
          <p:cNvPr id="4098" name="Picture 2" descr="Clever Hans | Story, Effect, &amp; Facts | Britannica">
            <a:extLst>
              <a:ext uri="{FF2B5EF4-FFF2-40B4-BE49-F238E27FC236}">
                <a16:creationId xmlns:a16="http://schemas.microsoft.com/office/drawing/2014/main" id="{9A5E0D81-4AEA-4942-B60D-7DA70AC88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919" y="3562359"/>
            <a:ext cx="4818881" cy="2843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41309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D372-57E5-4B50-B835-1B8A7D3A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Pygmalion effect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B00E6-914D-4293-837E-4D46D85AF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99328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D372-57E5-4B50-B835-1B8A7D3A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Pygmalion effect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B00E6-914D-4293-837E-4D46D85AF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Teachers told some (</a:t>
            </a:r>
            <a:r>
              <a:rPr lang="en-US" i="1" dirty="0"/>
              <a:t>randomly selected</a:t>
            </a:r>
            <a:r>
              <a:rPr lang="en-US" dirty="0"/>
              <a:t>) children scored high on a “potential for learning” test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7792848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D372-57E5-4B50-B835-1B8A7D3A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Pygmalion effect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B00E6-914D-4293-837E-4D46D85AF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Teachers told some (</a:t>
            </a:r>
            <a:r>
              <a:rPr lang="en-US" i="1" dirty="0"/>
              <a:t>randomly selected</a:t>
            </a:r>
            <a:r>
              <a:rPr lang="en-US" dirty="0"/>
              <a:t>) children scored high on a “potential for learning” test</a:t>
            </a:r>
            <a:endParaRPr lang="he-IL" dirty="0"/>
          </a:p>
          <a:p>
            <a:endParaRPr lang="en-US" dirty="0"/>
          </a:p>
          <a:p>
            <a:r>
              <a:rPr lang="en-US" dirty="0"/>
              <a:t>Those children in fact scored higher by the end of the year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593493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D372-57E5-4B50-B835-1B8A7D3A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Pygmalion effect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B00E6-914D-4293-837E-4D46D85AF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Teachers told some (</a:t>
            </a:r>
            <a:r>
              <a:rPr lang="en-US" i="1" dirty="0"/>
              <a:t>randomly selected</a:t>
            </a:r>
            <a:r>
              <a:rPr lang="en-US" dirty="0"/>
              <a:t>) children scored high on a “potential for learning” test</a:t>
            </a:r>
            <a:endParaRPr lang="he-IL" dirty="0"/>
          </a:p>
          <a:p>
            <a:endParaRPr lang="en-US" dirty="0"/>
          </a:p>
          <a:p>
            <a:r>
              <a:rPr lang="en-US" dirty="0"/>
              <a:t>Those children in fact scored higher by the end of the year</a:t>
            </a:r>
          </a:p>
          <a:p>
            <a:endParaRPr lang="en-US" dirty="0"/>
          </a:p>
          <a:p>
            <a:r>
              <a:rPr lang="en-US" dirty="0"/>
              <a:t>Higher expectations lead to better results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0330400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Experimenter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experimenter knows expected results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D7F50802-6E38-4CFD-96EC-8FCDCE3648E1}"/>
              </a:ext>
            </a:extLst>
          </p:cNvPr>
          <p:cNvSpPr/>
          <p:nvPr/>
        </p:nvSpPr>
        <p:spPr>
          <a:xfrm>
            <a:off x="3685880" y="2828990"/>
            <a:ext cx="537328" cy="54439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375544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Experimenter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experimenter knows expected results</a:t>
            </a:r>
          </a:p>
          <a:p>
            <a:endParaRPr lang="en-US" dirty="0"/>
          </a:p>
          <a:p>
            <a:r>
              <a:rPr lang="en-US" dirty="0"/>
              <a:t>(subtle) differences in participant treatment</a:t>
            </a:r>
          </a:p>
          <a:p>
            <a:pPr marL="0" indent="0">
              <a:buNone/>
            </a:pPr>
            <a:r>
              <a:rPr lang="en-US" dirty="0"/>
              <a:t>And / or</a:t>
            </a:r>
          </a:p>
          <a:p>
            <a:r>
              <a:rPr lang="en-US" dirty="0"/>
              <a:t>(subtle) differences in interpretation of ambiguous results</a:t>
            </a:r>
          </a:p>
          <a:p>
            <a:pPr lvl="1"/>
            <a:endParaRPr lang="en-US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D7F50802-6E38-4CFD-96EC-8FCDCE3648E1}"/>
              </a:ext>
            </a:extLst>
          </p:cNvPr>
          <p:cNvSpPr/>
          <p:nvPr/>
        </p:nvSpPr>
        <p:spPr>
          <a:xfrm>
            <a:off x="3685880" y="2828990"/>
            <a:ext cx="537328" cy="54439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523788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Experimenter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experimenter knows expected results</a:t>
            </a:r>
          </a:p>
          <a:p>
            <a:endParaRPr lang="en-US" dirty="0"/>
          </a:p>
          <a:p>
            <a:r>
              <a:rPr lang="en-US" dirty="0"/>
              <a:t>(subtle) differences in participant treatment</a:t>
            </a:r>
          </a:p>
          <a:p>
            <a:pPr marL="0" indent="0">
              <a:buNone/>
            </a:pPr>
            <a:r>
              <a:rPr lang="en-US" dirty="0"/>
              <a:t>And / or</a:t>
            </a:r>
          </a:p>
          <a:p>
            <a:r>
              <a:rPr lang="en-US" dirty="0"/>
              <a:t>(subtle) differences in interpretation of ambiguous results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manipulation appears to have an effect</a:t>
            </a:r>
          </a:p>
          <a:p>
            <a:pPr lvl="1"/>
            <a:endParaRPr lang="en-US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D7F50802-6E38-4CFD-96EC-8FCDCE3648E1}"/>
              </a:ext>
            </a:extLst>
          </p:cNvPr>
          <p:cNvSpPr/>
          <p:nvPr/>
        </p:nvSpPr>
        <p:spPr>
          <a:xfrm>
            <a:off x="3685880" y="2828990"/>
            <a:ext cx="537328" cy="54439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FAEC5895-77BE-4543-BB21-287F4EB40800}"/>
              </a:ext>
            </a:extLst>
          </p:cNvPr>
          <p:cNvSpPr/>
          <p:nvPr/>
        </p:nvSpPr>
        <p:spPr>
          <a:xfrm>
            <a:off x="3685880" y="4921151"/>
            <a:ext cx="537328" cy="54439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203892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“Blinding”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To eliminate possible expectation effects: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13464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“Blinding”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To eliminate possible expectation effects: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“Blind” participants – participants do not know which group they are in</a:t>
            </a:r>
          </a:p>
        </p:txBody>
      </p:sp>
    </p:spTree>
    <p:extLst>
      <p:ext uri="{BB962C8B-B14F-4D97-AF65-F5344CB8AC3E}">
        <p14:creationId xmlns:p14="http://schemas.microsoft.com/office/powerpoint/2010/main" val="338091396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“Blinding”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To eliminate possible expectation effects: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“Blind” participants – participants do not know which group they are in</a:t>
            </a:r>
          </a:p>
          <a:p>
            <a:pPr lvl="2"/>
            <a:r>
              <a:rPr lang="en-US" dirty="0"/>
              <a:t>How?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“Blinding”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To eliminate possible expectation effects: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“Blind” participants – participants do not know which group they are in</a:t>
            </a:r>
          </a:p>
          <a:p>
            <a:pPr lvl="2"/>
            <a:r>
              <a:rPr lang="en-US" dirty="0"/>
              <a:t>Placebo / sham treatment</a:t>
            </a:r>
          </a:p>
          <a:p>
            <a:pPr lvl="2"/>
            <a:r>
              <a:rPr lang="en-US" dirty="0"/>
              <a:t>Inform participants of group only after the experiment is over</a:t>
            </a:r>
          </a:p>
        </p:txBody>
      </p:sp>
    </p:spTree>
    <p:extLst>
      <p:ext uri="{BB962C8B-B14F-4D97-AF65-F5344CB8AC3E}">
        <p14:creationId xmlns:p14="http://schemas.microsoft.com/office/powerpoint/2010/main" val="372669791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“Blinding”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To eliminate possible expectation effects: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“Blind” participants – participants do not know which group they are in</a:t>
            </a:r>
          </a:p>
          <a:p>
            <a:pPr lvl="2"/>
            <a:r>
              <a:rPr lang="en-US" dirty="0"/>
              <a:t>Placebo / sham treatment</a:t>
            </a:r>
          </a:p>
          <a:p>
            <a:pPr lvl="2"/>
            <a:r>
              <a:rPr lang="en-US" dirty="0"/>
              <a:t>Inform participants of group only after the experiment is over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“Blind” experimenter – experimenter does not know assigned group or expected results</a:t>
            </a:r>
          </a:p>
        </p:txBody>
      </p:sp>
    </p:spTree>
    <p:extLst>
      <p:ext uri="{BB962C8B-B14F-4D97-AF65-F5344CB8AC3E}">
        <p14:creationId xmlns:p14="http://schemas.microsoft.com/office/powerpoint/2010/main" val="108101688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“Blinding”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To eliminate possible expectation effects: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“Blind” participants – participants do not know which group they are in</a:t>
            </a:r>
          </a:p>
          <a:p>
            <a:pPr lvl="2"/>
            <a:r>
              <a:rPr lang="en-US" dirty="0"/>
              <a:t>Placebo / sham treatment</a:t>
            </a:r>
          </a:p>
          <a:p>
            <a:pPr lvl="2"/>
            <a:r>
              <a:rPr lang="en-US" dirty="0"/>
              <a:t>Inform participants of group only after the experiment is over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“Blind” experimenter – experimenter does not know assigned group or expected results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“Double blind” – both participants and experimenters are “blind”</a:t>
            </a:r>
          </a:p>
        </p:txBody>
      </p:sp>
    </p:spTree>
    <p:extLst>
      <p:ext uri="{BB962C8B-B14F-4D97-AF65-F5344CB8AC3E}">
        <p14:creationId xmlns:p14="http://schemas.microsoft.com/office/powerpoint/2010/main" val="181898999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study found that children who watch TV for more than 2 hours each day have lower reading scores”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59794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study found that children who watch TV for more than 2 hours each day have lower reading scores”</a:t>
            </a:r>
          </a:p>
          <a:p>
            <a:endParaRPr lang="en-US" dirty="0"/>
          </a:p>
          <a:p>
            <a:r>
              <a:rPr lang="en-US" dirty="0"/>
              <a:t>How would we test with an experiment?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Quasi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many cases, we cannot manipulate constructs we care about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Quasi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many cases, we cannot manipulate constructs we care about</a:t>
            </a:r>
          </a:p>
          <a:p>
            <a:endParaRPr lang="en-US" dirty="0"/>
          </a:p>
          <a:p>
            <a:r>
              <a:rPr lang="en-US" dirty="0"/>
              <a:t>Examples?</a:t>
            </a:r>
          </a:p>
        </p:txBody>
      </p:sp>
    </p:spTree>
    <p:extLst>
      <p:ext uri="{BB962C8B-B14F-4D97-AF65-F5344CB8AC3E}">
        <p14:creationId xmlns:p14="http://schemas.microsoft.com/office/powerpoint/2010/main" val="122585555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Quasi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many cases, we cannot manipulate constructs we care about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Medical conditions (e.g., cancer, depression)</a:t>
            </a:r>
          </a:p>
          <a:p>
            <a:pPr lvl="1"/>
            <a:r>
              <a:rPr lang="en-US" dirty="0"/>
              <a:t>Economic status</a:t>
            </a:r>
          </a:p>
          <a:p>
            <a:pPr lvl="1"/>
            <a:r>
              <a:rPr lang="en-US" dirty="0"/>
              <a:t>Education level</a:t>
            </a:r>
          </a:p>
          <a:p>
            <a:pPr lvl="1"/>
            <a:r>
              <a:rPr lang="en-US" dirty="0"/>
              <a:t>Gender</a:t>
            </a:r>
          </a:p>
          <a:p>
            <a:pPr lvl="1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7468132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Quasi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Quasi experiment: an experiment where group assignment is not done by the researcher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71512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Quasi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Quasi experiment: an experiment where group assignment is not done by the researcher</a:t>
            </a:r>
          </a:p>
          <a:p>
            <a:endParaRPr lang="en-US" dirty="0"/>
          </a:p>
          <a:p>
            <a:r>
              <a:rPr lang="en-US" dirty="0"/>
              <a:t>Also known as observational study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59670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Quasi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Quasi experiment: an experiment where group assignment is not done by the researcher</a:t>
            </a:r>
          </a:p>
          <a:p>
            <a:endParaRPr lang="en-US" dirty="0"/>
          </a:p>
          <a:p>
            <a:r>
              <a:rPr lang="en-US" dirty="0"/>
              <a:t>E.g., comparing depressed patients to healthy participants on walking speed</a:t>
            </a:r>
          </a:p>
        </p:txBody>
      </p:sp>
    </p:spTree>
    <p:extLst>
      <p:ext uri="{BB962C8B-B14F-4D97-AF65-F5344CB8AC3E}">
        <p14:creationId xmlns:p14="http://schemas.microsoft.com/office/powerpoint/2010/main" val="68840591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Quasi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Quasi experiment: an experiment where group assignment is not done by the researcher</a:t>
            </a:r>
          </a:p>
          <a:p>
            <a:endParaRPr lang="en-US" dirty="0"/>
          </a:p>
          <a:p>
            <a:r>
              <a:rPr lang="en-US" dirty="0"/>
              <a:t>Can still support, but not fully establish, causality</a:t>
            </a:r>
          </a:p>
        </p:txBody>
      </p:sp>
    </p:spTree>
    <p:extLst>
      <p:ext uri="{BB962C8B-B14F-4D97-AF65-F5344CB8AC3E}">
        <p14:creationId xmlns:p14="http://schemas.microsoft.com/office/powerpoint/2010/main" val="329294616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Quasi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Quasi experiment: an experiment where group assignment is not done by the researcher</a:t>
            </a:r>
          </a:p>
          <a:p>
            <a:endParaRPr lang="en-US" dirty="0"/>
          </a:p>
          <a:p>
            <a:r>
              <a:rPr lang="en-US" dirty="0"/>
              <a:t>Can still support, but not fully establish, causality</a:t>
            </a:r>
          </a:p>
          <a:p>
            <a:pPr lvl="1"/>
            <a:r>
              <a:rPr lang="en-US" dirty="0"/>
              <a:t>Establish temporal order</a:t>
            </a:r>
          </a:p>
        </p:txBody>
      </p:sp>
    </p:spTree>
    <p:extLst>
      <p:ext uri="{BB962C8B-B14F-4D97-AF65-F5344CB8AC3E}">
        <p14:creationId xmlns:p14="http://schemas.microsoft.com/office/powerpoint/2010/main" val="396043065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Quasi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Quasi experiment: an experiment where group assignment is not done by the researcher</a:t>
            </a:r>
          </a:p>
          <a:p>
            <a:endParaRPr lang="en-US" dirty="0"/>
          </a:p>
          <a:p>
            <a:r>
              <a:rPr lang="en-US" dirty="0"/>
              <a:t>Can still support, but not fully establish, causality</a:t>
            </a:r>
          </a:p>
          <a:p>
            <a:pPr lvl="1"/>
            <a:r>
              <a:rPr lang="en-US" dirty="0"/>
              <a:t>Establish temporal order</a:t>
            </a:r>
          </a:p>
          <a:p>
            <a:pPr lvl="1"/>
            <a:r>
              <a:rPr lang="en-US" dirty="0"/>
              <a:t>Rule out possible confounds</a:t>
            </a:r>
          </a:p>
        </p:txBody>
      </p:sp>
    </p:spTree>
    <p:extLst>
      <p:ext uri="{BB962C8B-B14F-4D97-AF65-F5344CB8AC3E}">
        <p14:creationId xmlns:p14="http://schemas.microsoft.com/office/powerpoint/2010/main" val="388607026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Quasi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Quasi experiment: an experiment where group assignment is not done by the researcher</a:t>
            </a:r>
          </a:p>
          <a:p>
            <a:endParaRPr lang="en-US" dirty="0"/>
          </a:p>
          <a:p>
            <a:r>
              <a:rPr lang="en-US" dirty="0"/>
              <a:t>Can still support, but not fully establish, causality</a:t>
            </a:r>
          </a:p>
          <a:p>
            <a:pPr lvl="1"/>
            <a:r>
              <a:rPr lang="en-US" dirty="0"/>
              <a:t>Establish temporal order</a:t>
            </a:r>
          </a:p>
          <a:p>
            <a:pPr lvl="1"/>
            <a:r>
              <a:rPr lang="en-US" dirty="0"/>
              <a:t>Rule out possible confounds	   test possible confounds and show absence of correlation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FF86A4-9665-4C85-83E2-EDF4B2947872}"/>
              </a:ext>
            </a:extLst>
          </p:cNvPr>
          <p:cNvCxnSpPr>
            <a:cxnSpLocks/>
          </p:cNvCxnSpPr>
          <p:nvPr/>
        </p:nvCxnSpPr>
        <p:spPr>
          <a:xfrm>
            <a:off x="5139180" y="4799816"/>
            <a:ext cx="46976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41049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Is Alzheimer’s prevalence influenced by gender?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Is Alzheimer’s prevalence influenced by gender?</a:t>
            </a:r>
          </a:p>
          <a:p>
            <a:endParaRPr lang="en-US" dirty="0"/>
          </a:p>
          <a:p>
            <a:r>
              <a:rPr lang="en-US" dirty="0"/>
              <a:t>Correlation – Alzheimer's is more common in women</a:t>
            </a:r>
          </a:p>
          <a:p>
            <a:endParaRPr lang="en-US" dirty="0"/>
          </a:p>
        </p:txBody>
      </p:sp>
      <p:pic>
        <p:nvPicPr>
          <p:cNvPr id="4" name="Picture 2" descr="File:Checkmark green.svg - Wikipedia">
            <a:extLst>
              <a:ext uri="{FF2B5EF4-FFF2-40B4-BE49-F238E27FC236}">
                <a16:creationId xmlns:a16="http://schemas.microsoft.com/office/drawing/2014/main" id="{EDB84F8E-E551-4911-BBFE-7752EC681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5714" y="3352046"/>
            <a:ext cx="515768" cy="44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97680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Is Alzheimer’s prevalence influenced by gender?</a:t>
            </a:r>
          </a:p>
          <a:p>
            <a:endParaRPr lang="en-US" dirty="0"/>
          </a:p>
          <a:p>
            <a:r>
              <a:rPr lang="en-US" dirty="0"/>
              <a:t>Correlation – Alzheimer's is more common in women</a:t>
            </a:r>
          </a:p>
          <a:p>
            <a:endParaRPr lang="en-US" dirty="0"/>
          </a:p>
          <a:p>
            <a:r>
              <a:rPr lang="en-US" dirty="0"/>
              <a:t>Temporal order – gender is determined well before </a:t>
            </a:r>
            <a:r>
              <a:rPr lang="en-US" dirty="0" err="1"/>
              <a:t>Alzhimer’s</a:t>
            </a:r>
            <a:r>
              <a:rPr lang="en-US" dirty="0"/>
              <a:t> onset</a:t>
            </a:r>
          </a:p>
        </p:txBody>
      </p:sp>
      <p:pic>
        <p:nvPicPr>
          <p:cNvPr id="4" name="Picture 2" descr="File:Checkmark green.svg - Wikipedia">
            <a:extLst>
              <a:ext uri="{FF2B5EF4-FFF2-40B4-BE49-F238E27FC236}">
                <a16:creationId xmlns:a16="http://schemas.microsoft.com/office/drawing/2014/main" id="{EDB84F8E-E551-4911-BBFE-7752EC681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8465" y="4332434"/>
            <a:ext cx="515768" cy="44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ile:Checkmark green.svg - Wikipedia">
            <a:extLst>
              <a:ext uri="{FF2B5EF4-FFF2-40B4-BE49-F238E27FC236}">
                <a16:creationId xmlns:a16="http://schemas.microsoft.com/office/drawing/2014/main" id="{CB5D8390-B472-45C8-BCEE-9C7713FAD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5714" y="3352046"/>
            <a:ext cx="515768" cy="44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972963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Is Alzheimer’s prevalence influenced by gender?</a:t>
            </a:r>
          </a:p>
          <a:p>
            <a:endParaRPr lang="en-US" dirty="0"/>
          </a:p>
          <a:p>
            <a:r>
              <a:rPr lang="en-US" dirty="0"/>
              <a:t>Correlation – Alzheimer's is more common in women</a:t>
            </a:r>
          </a:p>
          <a:p>
            <a:endParaRPr lang="en-US" dirty="0"/>
          </a:p>
          <a:p>
            <a:r>
              <a:rPr lang="en-US" dirty="0"/>
              <a:t>Temporal order – gender is determined well before </a:t>
            </a:r>
            <a:r>
              <a:rPr lang="en-US" dirty="0" err="1"/>
              <a:t>Alzhimer’s</a:t>
            </a:r>
            <a:r>
              <a:rPr lang="en-US" dirty="0"/>
              <a:t> onset</a:t>
            </a:r>
          </a:p>
          <a:p>
            <a:endParaRPr lang="en-US" dirty="0"/>
          </a:p>
          <a:p>
            <a:r>
              <a:rPr lang="en-US" dirty="0"/>
              <a:t>Testing confounds – when comparing same aged people, Alzheimer's is </a:t>
            </a:r>
            <a:r>
              <a:rPr lang="en-US" b="1" dirty="0"/>
              <a:t>not</a:t>
            </a:r>
            <a:r>
              <a:rPr lang="en-US" dirty="0"/>
              <a:t> more common in women</a:t>
            </a:r>
          </a:p>
        </p:txBody>
      </p:sp>
      <p:pic>
        <p:nvPicPr>
          <p:cNvPr id="4" name="Picture 2" descr="File:Checkmark green.svg - Wikipedia">
            <a:extLst>
              <a:ext uri="{FF2B5EF4-FFF2-40B4-BE49-F238E27FC236}">
                <a16:creationId xmlns:a16="http://schemas.microsoft.com/office/drawing/2014/main" id="{EDB84F8E-E551-4911-BBFE-7752EC681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4318" y="4134471"/>
            <a:ext cx="515768" cy="44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ile:Checkmark green.svg - Wikipedia">
            <a:extLst>
              <a:ext uri="{FF2B5EF4-FFF2-40B4-BE49-F238E27FC236}">
                <a16:creationId xmlns:a16="http://schemas.microsoft.com/office/drawing/2014/main" id="{CB5D8390-B472-45C8-BCEE-9C7713FAD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8007" y="3205113"/>
            <a:ext cx="515768" cy="44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ultiplication Sign 5">
            <a:extLst>
              <a:ext uri="{FF2B5EF4-FFF2-40B4-BE49-F238E27FC236}">
                <a16:creationId xmlns:a16="http://schemas.microsoft.com/office/drawing/2014/main" id="{F9378F40-1665-4959-8C09-F9C2C1F424EB}"/>
              </a:ext>
            </a:extLst>
          </p:cNvPr>
          <p:cNvSpPr/>
          <p:nvPr/>
        </p:nvSpPr>
        <p:spPr>
          <a:xfrm>
            <a:off x="10962587" y="5189455"/>
            <a:ext cx="782425" cy="782425"/>
          </a:xfrm>
          <a:prstGeom prst="mathMultiply">
            <a:avLst>
              <a:gd name="adj1" fmla="val 785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267533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When groups are not assigned by the experimenter, differences might be due to selection bias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“A teacher offers students an extra revision session before the test. Students who come to the extra session do better on the test.”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13077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“A teacher offers students an extra revision session before the test. Students who come to the extra session do better on the test.”</a:t>
            </a:r>
          </a:p>
          <a:p>
            <a:endParaRPr lang="en-US" dirty="0"/>
          </a:p>
          <a:p>
            <a:r>
              <a:rPr lang="en-US" dirty="0"/>
              <a:t>Does the extra session improve students’ test scores?</a:t>
            </a:r>
          </a:p>
        </p:txBody>
      </p:sp>
    </p:spTree>
    <p:extLst>
      <p:ext uri="{BB962C8B-B14F-4D97-AF65-F5344CB8AC3E}">
        <p14:creationId xmlns:p14="http://schemas.microsoft.com/office/powerpoint/2010/main" val="134906598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“A teacher offers students an extra revision session before the test. Students who come to the extra session do better on the test.”</a:t>
            </a:r>
          </a:p>
          <a:p>
            <a:endParaRPr lang="en-US" dirty="0"/>
          </a:p>
          <a:p>
            <a:r>
              <a:rPr lang="en-US" dirty="0"/>
              <a:t>Which students come to the extra session?</a:t>
            </a:r>
          </a:p>
        </p:txBody>
      </p:sp>
    </p:spTree>
    <p:extLst>
      <p:ext uri="{BB962C8B-B14F-4D97-AF65-F5344CB8AC3E}">
        <p14:creationId xmlns:p14="http://schemas.microsoft.com/office/powerpoint/2010/main" val="217916725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45513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When participants determine which group they are in, group differences might arise due to selection, not manipulation.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When participants determine which group they are in, group differences might arise due to selection, not manipulation.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Active selection (volunteering)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44515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When participants determine which group they are in, group differences might arise due to selection, not manipulation.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Active selection (volunteering)</a:t>
            </a:r>
          </a:p>
          <a:p>
            <a:pPr lvl="1"/>
            <a:r>
              <a:rPr lang="en-US" dirty="0"/>
              <a:t>Unintentional selection</a:t>
            </a:r>
            <a:br>
              <a:rPr lang="en-US" dirty="0"/>
            </a:br>
            <a:r>
              <a:rPr lang="en-US" dirty="0"/>
              <a:t>e.g., compliant and non-compliant participants</a:t>
            </a:r>
          </a:p>
        </p:txBody>
      </p:sp>
    </p:spTree>
    <p:extLst>
      <p:ext uri="{BB962C8B-B14F-4D97-AF65-F5344CB8AC3E}">
        <p14:creationId xmlns:p14="http://schemas.microsoft.com/office/powerpoint/2010/main" val="252529425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46355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When group assignment is influenced by external factors, these factors may lead to differences between groups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When group assignment is influenced by external factors, these factors may lead to differences between groups</a:t>
            </a:r>
          </a:p>
          <a:p>
            <a:endParaRPr lang="en-US" dirty="0"/>
          </a:p>
          <a:p>
            <a:r>
              <a:rPr lang="en-US" dirty="0"/>
              <a:t>E.g., In test of ultrasound screening effectiveness, screened pregnancies had higher chance of low birth weight.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05183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When group assignment is influenced by external factors, these factors may lead to differences between groups</a:t>
            </a:r>
          </a:p>
          <a:p>
            <a:endParaRPr lang="en-US" dirty="0"/>
          </a:p>
          <a:p>
            <a:r>
              <a:rPr lang="en-US" dirty="0"/>
              <a:t>E.g., In test of ultrasound screening effectiveness, screened pregnancies had higher chance of low birth weight.</a:t>
            </a:r>
          </a:p>
          <a:p>
            <a:endParaRPr lang="en-US" dirty="0"/>
          </a:p>
          <a:p>
            <a:r>
              <a:rPr lang="en-US" dirty="0"/>
              <a:t>Does ultrasound negatively impact pregnancy?</a:t>
            </a:r>
          </a:p>
        </p:txBody>
      </p:sp>
    </p:spTree>
    <p:extLst>
      <p:ext uri="{BB962C8B-B14F-4D97-AF65-F5344CB8AC3E}">
        <p14:creationId xmlns:p14="http://schemas.microsoft.com/office/powerpoint/2010/main" val="339851317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When group assignment is influenced by external factors, these factors may lead to differences between groups</a:t>
            </a:r>
          </a:p>
          <a:p>
            <a:endParaRPr lang="en-US" dirty="0"/>
          </a:p>
          <a:p>
            <a:r>
              <a:rPr lang="en-US" dirty="0"/>
              <a:t>E.g., In test of ultrasound screening effectiveness, screened pregnancies had higher chance of low birth weight.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When a medical screening procedure is new, who is referred to the new procedure?</a:t>
            </a:r>
          </a:p>
        </p:txBody>
      </p:sp>
    </p:spTree>
    <p:extLst>
      <p:ext uri="{BB962C8B-B14F-4D97-AF65-F5344CB8AC3E}">
        <p14:creationId xmlns:p14="http://schemas.microsoft.com/office/powerpoint/2010/main" val="178050117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ECD8B-39C8-3F0B-B400-77D1D68B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plan an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566F-759E-877C-34CD-C569214C0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7272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ECD8B-39C8-3F0B-B400-77D1D68B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plan an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566F-759E-877C-34CD-C569214C0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potential causal link</a:t>
            </a:r>
          </a:p>
        </p:txBody>
      </p:sp>
    </p:spTree>
    <p:extLst>
      <p:ext uri="{BB962C8B-B14F-4D97-AF65-F5344CB8AC3E}">
        <p14:creationId xmlns:p14="http://schemas.microsoft.com/office/powerpoint/2010/main" val="226930206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ECD8B-39C8-3F0B-B400-77D1D68B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plan an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566F-759E-877C-34CD-C569214C0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potential causal link</a:t>
            </a:r>
          </a:p>
          <a:p>
            <a:endParaRPr lang="en-US" dirty="0"/>
          </a:p>
          <a:p>
            <a:r>
              <a:rPr lang="en-US" dirty="0"/>
              <a:t>What is the manipulation?</a:t>
            </a:r>
          </a:p>
        </p:txBody>
      </p:sp>
    </p:spTree>
    <p:extLst>
      <p:ext uri="{BB962C8B-B14F-4D97-AF65-F5344CB8AC3E}">
        <p14:creationId xmlns:p14="http://schemas.microsoft.com/office/powerpoint/2010/main" val="190595731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ECD8B-39C8-3F0B-B400-77D1D68B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plan an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566F-759E-877C-34CD-C569214C0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potential causal link</a:t>
            </a:r>
          </a:p>
          <a:p>
            <a:endParaRPr lang="en-US" dirty="0"/>
          </a:p>
          <a:p>
            <a:r>
              <a:rPr lang="en-US" dirty="0"/>
              <a:t>What is the manipulation?</a:t>
            </a:r>
          </a:p>
          <a:p>
            <a:endParaRPr lang="en-US" dirty="0"/>
          </a:p>
          <a:p>
            <a:r>
              <a:rPr lang="en-US" dirty="0"/>
              <a:t>What is the appropriate control?</a:t>
            </a:r>
          </a:p>
        </p:txBody>
      </p:sp>
    </p:spTree>
    <p:extLst>
      <p:ext uri="{BB962C8B-B14F-4D97-AF65-F5344CB8AC3E}">
        <p14:creationId xmlns:p14="http://schemas.microsoft.com/office/powerpoint/2010/main" val="300749494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ECD8B-39C8-3F0B-B400-77D1D68B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plan an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2566F-759E-877C-34CD-C569214C0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potential causal link</a:t>
            </a:r>
          </a:p>
          <a:p>
            <a:endParaRPr lang="en-US" dirty="0"/>
          </a:p>
          <a:p>
            <a:r>
              <a:rPr lang="en-US" dirty="0"/>
              <a:t>What is the manipulation?</a:t>
            </a:r>
          </a:p>
          <a:p>
            <a:endParaRPr lang="en-US" dirty="0"/>
          </a:p>
          <a:p>
            <a:r>
              <a:rPr lang="en-US" dirty="0"/>
              <a:t>What is the appropriate control?</a:t>
            </a:r>
          </a:p>
          <a:p>
            <a:endParaRPr lang="en-US" dirty="0"/>
          </a:p>
          <a:p>
            <a:r>
              <a:rPr lang="en-US" dirty="0"/>
              <a:t>Blinding?</a:t>
            </a:r>
          </a:p>
        </p:txBody>
      </p:sp>
    </p:spTree>
    <p:extLst>
      <p:ext uri="{BB962C8B-B14F-4D97-AF65-F5344CB8AC3E}">
        <p14:creationId xmlns:p14="http://schemas.microsoft.com/office/powerpoint/2010/main" val="185130905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388015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some cases, causal influences may not lead to apparent statistical correlations, or even show inverse correlations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some cases, causal influences may not lead to apparent statistical correlations, or even show inverse correlations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0AFD6EA-3492-981D-E9E9-D198D41F1E6E}"/>
              </a:ext>
            </a:extLst>
          </p:cNvPr>
          <p:cNvGrpSpPr/>
          <p:nvPr/>
        </p:nvGrpSpPr>
        <p:grpSpPr>
          <a:xfrm>
            <a:off x="2215299" y="4001294"/>
            <a:ext cx="2514439" cy="1409555"/>
            <a:chOff x="2215299" y="4001294"/>
            <a:chExt cx="2514439" cy="14095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C9A8CF-B548-4B44-81C4-8C9A737BF38C}"/>
                </a:ext>
              </a:extLst>
            </p:cNvPr>
            <p:cNvSpPr txBox="1"/>
            <p:nvPr/>
          </p:nvSpPr>
          <p:spPr>
            <a:xfrm>
              <a:off x="2215299" y="4637988"/>
              <a:ext cx="410690" cy="58477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3200" b="1" dirty="0"/>
                <a:t>X</a:t>
              </a:r>
              <a:endParaRPr lang="he-IL" sz="3200" b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350FCA-F4CC-494F-A805-F58234180C21}"/>
                </a:ext>
              </a:extLst>
            </p:cNvPr>
            <p:cNvSpPr txBox="1"/>
            <p:nvPr/>
          </p:nvSpPr>
          <p:spPr>
            <a:xfrm>
              <a:off x="4319048" y="4637987"/>
              <a:ext cx="410690" cy="58477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3200" b="1" dirty="0"/>
                <a:t>Y</a:t>
              </a:r>
              <a:endParaRPr lang="he-IL" sz="3200" b="1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DF26C79-62F7-4CD7-8278-263D81EE5542}"/>
                </a:ext>
              </a:extLst>
            </p:cNvPr>
            <p:cNvSpPr txBox="1"/>
            <p:nvPr/>
          </p:nvSpPr>
          <p:spPr>
            <a:xfrm>
              <a:off x="3283670" y="4001294"/>
              <a:ext cx="378630" cy="58477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3200" b="1" dirty="0"/>
                <a:t>S</a:t>
              </a:r>
              <a:endParaRPr lang="he-IL" sz="3200" b="1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B5B19CD-258A-4915-9734-FAD4803E31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7894" y="4334063"/>
              <a:ext cx="657681" cy="47291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B822D6D-1856-4F4D-9A76-F9B41A8CF2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8411" y="4969214"/>
              <a:ext cx="1705940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E674504-1A91-461F-804A-0123359131A8}"/>
                </a:ext>
              </a:extLst>
            </p:cNvPr>
            <p:cNvCxnSpPr>
              <a:cxnSpLocks/>
            </p:cNvCxnSpPr>
            <p:nvPr/>
          </p:nvCxnSpPr>
          <p:spPr>
            <a:xfrm>
              <a:off x="3636733" y="4374927"/>
              <a:ext cx="732709" cy="48070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Plus Sign 14">
              <a:extLst>
                <a:ext uri="{FF2B5EF4-FFF2-40B4-BE49-F238E27FC236}">
                  <a16:creationId xmlns:a16="http://schemas.microsoft.com/office/drawing/2014/main" id="{0549AFB0-3050-485B-8C97-710D3C40AE04}"/>
                </a:ext>
              </a:extLst>
            </p:cNvPr>
            <p:cNvSpPr/>
            <p:nvPr/>
          </p:nvSpPr>
          <p:spPr>
            <a:xfrm>
              <a:off x="3295575" y="5028612"/>
              <a:ext cx="382237" cy="382237"/>
            </a:xfrm>
            <a:prstGeom prst="mathPlus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6" name="Plus Sign 15">
              <a:extLst>
                <a:ext uri="{FF2B5EF4-FFF2-40B4-BE49-F238E27FC236}">
                  <a16:creationId xmlns:a16="http://schemas.microsoft.com/office/drawing/2014/main" id="{C1147975-B333-4CFA-BD82-969C3C970B1A}"/>
                </a:ext>
              </a:extLst>
            </p:cNvPr>
            <p:cNvSpPr/>
            <p:nvPr/>
          </p:nvSpPr>
          <p:spPr>
            <a:xfrm>
              <a:off x="2587180" y="4171825"/>
              <a:ext cx="382237" cy="382237"/>
            </a:xfrm>
            <a:prstGeom prst="mathPlus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7" name="Minus Sign 16">
              <a:extLst>
                <a:ext uri="{FF2B5EF4-FFF2-40B4-BE49-F238E27FC236}">
                  <a16:creationId xmlns:a16="http://schemas.microsoft.com/office/drawing/2014/main" id="{BF68A71B-DD86-453A-8B2E-4669D4E755D6}"/>
                </a:ext>
              </a:extLst>
            </p:cNvPr>
            <p:cNvSpPr/>
            <p:nvPr/>
          </p:nvSpPr>
          <p:spPr>
            <a:xfrm flipV="1">
              <a:off x="3941351" y="4315529"/>
              <a:ext cx="349013" cy="162202"/>
            </a:xfrm>
            <a:prstGeom prst="mathMinus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408520005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In some cases, causal influences may not lead to apparent statistical correlations, or even show inverse correlations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9A8CF-B548-4B44-81C4-8C9A737BF38C}"/>
              </a:ext>
            </a:extLst>
          </p:cNvPr>
          <p:cNvSpPr txBox="1"/>
          <p:nvPr/>
        </p:nvSpPr>
        <p:spPr>
          <a:xfrm>
            <a:off x="2215299" y="4637988"/>
            <a:ext cx="410690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b="1" dirty="0"/>
              <a:t>X</a:t>
            </a:r>
            <a:endParaRPr lang="he-IL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50FCA-F4CC-494F-A805-F58234180C21}"/>
              </a:ext>
            </a:extLst>
          </p:cNvPr>
          <p:cNvSpPr txBox="1"/>
          <p:nvPr/>
        </p:nvSpPr>
        <p:spPr>
          <a:xfrm>
            <a:off x="4319048" y="4637987"/>
            <a:ext cx="410690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b="1" dirty="0"/>
              <a:t>Y</a:t>
            </a:r>
            <a:endParaRPr lang="he-IL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26C79-62F7-4CD7-8278-263D81EE5542}"/>
              </a:ext>
            </a:extLst>
          </p:cNvPr>
          <p:cNvSpPr txBox="1"/>
          <p:nvPr/>
        </p:nvSpPr>
        <p:spPr>
          <a:xfrm>
            <a:off x="3283670" y="4001294"/>
            <a:ext cx="378630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b="1" dirty="0"/>
              <a:t>S</a:t>
            </a:r>
            <a:endParaRPr lang="he-IL" sz="32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5B19CD-258A-4915-9734-FAD4803E31D5}"/>
              </a:ext>
            </a:extLst>
          </p:cNvPr>
          <p:cNvCxnSpPr>
            <a:cxnSpLocks/>
          </p:cNvCxnSpPr>
          <p:nvPr/>
        </p:nvCxnSpPr>
        <p:spPr>
          <a:xfrm flipV="1">
            <a:off x="2637894" y="4334063"/>
            <a:ext cx="657681" cy="472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822D6D-1856-4F4D-9A76-F9B41A8CF28E}"/>
              </a:ext>
            </a:extLst>
          </p:cNvPr>
          <p:cNvCxnSpPr>
            <a:cxnSpLocks/>
          </p:cNvCxnSpPr>
          <p:nvPr/>
        </p:nvCxnSpPr>
        <p:spPr>
          <a:xfrm flipV="1">
            <a:off x="2698411" y="4969214"/>
            <a:ext cx="1705940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674504-1A91-461F-804A-0123359131A8}"/>
              </a:ext>
            </a:extLst>
          </p:cNvPr>
          <p:cNvCxnSpPr>
            <a:cxnSpLocks/>
          </p:cNvCxnSpPr>
          <p:nvPr/>
        </p:nvCxnSpPr>
        <p:spPr>
          <a:xfrm>
            <a:off x="3636733" y="4374927"/>
            <a:ext cx="732709" cy="4807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lus Sign 14">
            <a:extLst>
              <a:ext uri="{FF2B5EF4-FFF2-40B4-BE49-F238E27FC236}">
                <a16:creationId xmlns:a16="http://schemas.microsoft.com/office/drawing/2014/main" id="{0549AFB0-3050-485B-8C97-710D3C40AE04}"/>
              </a:ext>
            </a:extLst>
          </p:cNvPr>
          <p:cNvSpPr/>
          <p:nvPr/>
        </p:nvSpPr>
        <p:spPr>
          <a:xfrm>
            <a:off x="3295575" y="5028612"/>
            <a:ext cx="382237" cy="382237"/>
          </a:xfrm>
          <a:prstGeom prst="mathPlus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Plus Sign 15">
            <a:extLst>
              <a:ext uri="{FF2B5EF4-FFF2-40B4-BE49-F238E27FC236}">
                <a16:creationId xmlns:a16="http://schemas.microsoft.com/office/drawing/2014/main" id="{C1147975-B333-4CFA-BD82-969C3C970B1A}"/>
              </a:ext>
            </a:extLst>
          </p:cNvPr>
          <p:cNvSpPr/>
          <p:nvPr/>
        </p:nvSpPr>
        <p:spPr>
          <a:xfrm>
            <a:off x="2587180" y="4171825"/>
            <a:ext cx="382237" cy="382237"/>
          </a:xfrm>
          <a:prstGeom prst="mathPlus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Minus Sign 16">
            <a:extLst>
              <a:ext uri="{FF2B5EF4-FFF2-40B4-BE49-F238E27FC236}">
                <a16:creationId xmlns:a16="http://schemas.microsoft.com/office/drawing/2014/main" id="{BF68A71B-DD86-453A-8B2E-4669D4E755D6}"/>
              </a:ext>
            </a:extLst>
          </p:cNvPr>
          <p:cNvSpPr/>
          <p:nvPr/>
        </p:nvSpPr>
        <p:spPr>
          <a:xfrm flipV="1">
            <a:off x="3941351" y="4315529"/>
            <a:ext cx="349013" cy="162202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196542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In some cases, causal influences may not lead to apparent statistical correlations, or even show inverse correlations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9A8CF-B548-4B44-81C4-8C9A737BF38C}"/>
              </a:ext>
            </a:extLst>
          </p:cNvPr>
          <p:cNvSpPr txBox="1"/>
          <p:nvPr/>
        </p:nvSpPr>
        <p:spPr>
          <a:xfrm>
            <a:off x="1525943" y="4554062"/>
            <a:ext cx="10818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Initial fire intensity</a:t>
            </a:r>
            <a:endParaRPr lang="he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26C79-62F7-4CD7-8278-263D81EE5542}"/>
              </a:ext>
            </a:extLst>
          </p:cNvPr>
          <p:cNvSpPr txBox="1"/>
          <p:nvPr/>
        </p:nvSpPr>
        <p:spPr>
          <a:xfrm>
            <a:off x="3283670" y="4001294"/>
            <a:ext cx="375424" cy="58477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200" b="1" dirty="0"/>
              <a:t>?</a:t>
            </a:r>
            <a:endParaRPr lang="he-IL" sz="32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5B19CD-258A-4915-9734-FAD4803E31D5}"/>
              </a:ext>
            </a:extLst>
          </p:cNvPr>
          <p:cNvCxnSpPr>
            <a:cxnSpLocks/>
          </p:cNvCxnSpPr>
          <p:nvPr/>
        </p:nvCxnSpPr>
        <p:spPr>
          <a:xfrm flipV="1">
            <a:off x="2637894" y="4334063"/>
            <a:ext cx="657681" cy="472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822D6D-1856-4F4D-9A76-F9B41A8CF28E}"/>
              </a:ext>
            </a:extLst>
          </p:cNvPr>
          <p:cNvCxnSpPr>
            <a:cxnSpLocks/>
          </p:cNvCxnSpPr>
          <p:nvPr/>
        </p:nvCxnSpPr>
        <p:spPr>
          <a:xfrm flipV="1">
            <a:off x="2698411" y="4969214"/>
            <a:ext cx="1705940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674504-1A91-461F-804A-0123359131A8}"/>
              </a:ext>
            </a:extLst>
          </p:cNvPr>
          <p:cNvCxnSpPr>
            <a:cxnSpLocks/>
          </p:cNvCxnSpPr>
          <p:nvPr/>
        </p:nvCxnSpPr>
        <p:spPr>
          <a:xfrm>
            <a:off x="3636733" y="4374927"/>
            <a:ext cx="732709" cy="4807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lus Sign 14">
            <a:extLst>
              <a:ext uri="{FF2B5EF4-FFF2-40B4-BE49-F238E27FC236}">
                <a16:creationId xmlns:a16="http://schemas.microsoft.com/office/drawing/2014/main" id="{0549AFB0-3050-485B-8C97-710D3C40AE04}"/>
              </a:ext>
            </a:extLst>
          </p:cNvPr>
          <p:cNvSpPr/>
          <p:nvPr/>
        </p:nvSpPr>
        <p:spPr>
          <a:xfrm>
            <a:off x="3295575" y="5028612"/>
            <a:ext cx="382237" cy="382237"/>
          </a:xfrm>
          <a:prstGeom prst="mathPlus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Plus Sign 15">
            <a:extLst>
              <a:ext uri="{FF2B5EF4-FFF2-40B4-BE49-F238E27FC236}">
                <a16:creationId xmlns:a16="http://schemas.microsoft.com/office/drawing/2014/main" id="{C1147975-B333-4CFA-BD82-969C3C970B1A}"/>
              </a:ext>
            </a:extLst>
          </p:cNvPr>
          <p:cNvSpPr/>
          <p:nvPr/>
        </p:nvSpPr>
        <p:spPr>
          <a:xfrm>
            <a:off x="2587180" y="4171825"/>
            <a:ext cx="382237" cy="382237"/>
          </a:xfrm>
          <a:prstGeom prst="mathPlus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Minus Sign 16">
            <a:extLst>
              <a:ext uri="{FF2B5EF4-FFF2-40B4-BE49-F238E27FC236}">
                <a16:creationId xmlns:a16="http://schemas.microsoft.com/office/drawing/2014/main" id="{BF68A71B-DD86-453A-8B2E-4669D4E755D6}"/>
              </a:ext>
            </a:extLst>
          </p:cNvPr>
          <p:cNvSpPr/>
          <p:nvPr/>
        </p:nvSpPr>
        <p:spPr>
          <a:xfrm flipV="1">
            <a:off x="3941351" y="4315529"/>
            <a:ext cx="349013" cy="162202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D29E48-B67A-4659-BF02-F4CF35951672}"/>
              </a:ext>
            </a:extLst>
          </p:cNvPr>
          <p:cNvSpPr txBox="1"/>
          <p:nvPr/>
        </p:nvSpPr>
        <p:spPr>
          <a:xfrm>
            <a:off x="4404351" y="4573399"/>
            <a:ext cx="135029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Cost of fire damage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16334147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In some cases, causal influences may not lead to apparent statistical correlations, or even show inverse correlations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9A8CF-B548-4B44-81C4-8C9A737BF38C}"/>
              </a:ext>
            </a:extLst>
          </p:cNvPr>
          <p:cNvSpPr txBox="1"/>
          <p:nvPr/>
        </p:nvSpPr>
        <p:spPr>
          <a:xfrm>
            <a:off x="1525943" y="4554062"/>
            <a:ext cx="10818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Initial fire intensity</a:t>
            </a:r>
            <a:endParaRPr lang="he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5B19CD-258A-4915-9734-FAD4803E31D5}"/>
              </a:ext>
            </a:extLst>
          </p:cNvPr>
          <p:cNvCxnSpPr>
            <a:cxnSpLocks/>
          </p:cNvCxnSpPr>
          <p:nvPr/>
        </p:nvCxnSpPr>
        <p:spPr>
          <a:xfrm flipV="1">
            <a:off x="2637894" y="4334063"/>
            <a:ext cx="657681" cy="472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822D6D-1856-4F4D-9A76-F9B41A8CF28E}"/>
              </a:ext>
            </a:extLst>
          </p:cNvPr>
          <p:cNvCxnSpPr>
            <a:cxnSpLocks/>
          </p:cNvCxnSpPr>
          <p:nvPr/>
        </p:nvCxnSpPr>
        <p:spPr>
          <a:xfrm flipV="1">
            <a:off x="2698411" y="4969214"/>
            <a:ext cx="1705940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674504-1A91-461F-804A-0123359131A8}"/>
              </a:ext>
            </a:extLst>
          </p:cNvPr>
          <p:cNvCxnSpPr>
            <a:cxnSpLocks/>
          </p:cNvCxnSpPr>
          <p:nvPr/>
        </p:nvCxnSpPr>
        <p:spPr>
          <a:xfrm>
            <a:off x="3636733" y="4374927"/>
            <a:ext cx="732709" cy="4807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lus Sign 14">
            <a:extLst>
              <a:ext uri="{FF2B5EF4-FFF2-40B4-BE49-F238E27FC236}">
                <a16:creationId xmlns:a16="http://schemas.microsoft.com/office/drawing/2014/main" id="{0549AFB0-3050-485B-8C97-710D3C40AE04}"/>
              </a:ext>
            </a:extLst>
          </p:cNvPr>
          <p:cNvSpPr/>
          <p:nvPr/>
        </p:nvSpPr>
        <p:spPr>
          <a:xfrm>
            <a:off x="3295575" y="5028612"/>
            <a:ext cx="382237" cy="382237"/>
          </a:xfrm>
          <a:prstGeom prst="mathPlus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Plus Sign 15">
            <a:extLst>
              <a:ext uri="{FF2B5EF4-FFF2-40B4-BE49-F238E27FC236}">
                <a16:creationId xmlns:a16="http://schemas.microsoft.com/office/drawing/2014/main" id="{C1147975-B333-4CFA-BD82-969C3C970B1A}"/>
              </a:ext>
            </a:extLst>
          </p:cNvPr>
          <p:cNvSpPr/>
          <p:nvPr/>
        </p:nvSpPr>
        <p:spPr>
          <a:xfrm>
            <a:off x="2587180" y="4171825"/>
            <a:ext cx="382237" cy="382237"/>
          </a:xfrm>
          <a:prstGeom prst="mathPlus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Minus Sign 16">
            <a:extLst>
              <a:ext uri="{FF2B5EF4-FFF2-40B4-BE49-F238E27FC236}">
                <a16:creationId xmlns:a16="http://schemas.microsoft.com/office/drawing/2014/main" id="{BF68A71B-DD86-453A-8B2E-4669D4E755D6}"/>
              </a:ext>
            </a:extLst>
          </p:cNvPr>
          <p:cNvSpPr/>
          <p:nvPr/>
        </p:nvSpPr>
        <p:spPr>
          <a:xfrm flipV="1">
            <a:off x="3941351" y="4315529"/>
            <a:ext cx="349013" cy="162202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D29E48-B67A-4659-BF02-F4CF35951672}"/>
              </a:ext>
            </a:extLst>
          </p:cNvPr>
          <p:cNvSpPr txBox="1"/>
          <p:nvPr/>
        </p:nvSpPr>
        <p:spPr>
          <a:xfrm>
            <a:off x="4404351" y="4573399"/>
            <a:ext cx="135029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Cost of fire damage</a:t>
            </a:r>
            <a:endParaRPr lang="he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D6CE68-6789-4433-81C9-1CB9CD477A9C}"/>
              </a:ext>
            </a:extLst>
          </p:cNvPr>
          <p:cNvSpPr txBox="1"/>
          <p:nvPr/>
        </p:nvSpPr>
        <p:spPr>
          <a:xfrm>
            <a:off x="2925210" y="3872398"/>
            <a:ext cx="1081889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Number of firemen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1671857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some cases, causal influences may not lead to apparent statistical correlations, or even show inverse correlations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0AFD6EA-3492-981D-E9E9-D198D41F1E6E}"/>
              </a:ext>
            </a:extLst>
          </p:cNvPr>
          <p:cNvGrpSpPr/>
          <p:nvPr/>
        </p:nvGrpSpPr>
        <p:grpSpPr>
          <a:xfrm>
            <a:off x="895256" y="3774682"/>
            <a:ext cx="2514439" cy="1409555"/>
            <a:chOff x="2215299" y="4001294"/>
            <a:chExt cx="2514439" cy="14095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C9A8CF-B548-4B44-81C4-8C9A737BF38C}"/>
                </a:ext>
              </a:extLst>
            </p:cNvPr>
            <p:cNvSpPr txBox="1"/>
            <p:nvPr/>
          </p:nvSpPr>
          <p:spPr>
            <a:xfrm>
              <a:off x="2215299" y="4637988"/>
              <a:ext cx="410690" cy="58477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3200" b="1" dirty="0"/>
                <a:t>X</a:t>
              </a:r>
              <a:endParaRPr lang="he-IL" sz="3200" b="1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350FCA-F4CC-494F-A805-F58234180C21}"/>
                </a:ext>
              </a:extLst>
            </p:cNvPr>
            <p:cNvSpPr txBox="1"/>
            <p:nvPr/>
          </p:nvSpPr>
          <p:spPr>
            <a:xfrm>
              <a:off x="4319048" y="4637987"/>
              <a:ext cx="410690" cy="58477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3200" b="1" dirty="0"/>
                <a:t>Y</a:t>
              </a:r>
              <a:endParaRPr lang="he-IL" sz="3200" b="1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DF26C79-62F7-4CD7-8278-263D81EE5542}"/>
                </a:ext>
              </a:extLst>
            </p:cNvPr>
            <p:cNvSpPr txBox="1"/>
            <p:nvPr/>
          </p:nvSpPr>
          <p:spPr>
            <a:xfrm>
              <a:off x="3283670" y="4001294"/>
              <a:ext cx="378630" cy="58477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3200" b="1" dirty="0"/>
                <a:t>S</a:t>
              </a:r>
              <a:endParaRPr lang="he-IL" sz="3200" b="1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B5B19CD-258A-4915-9734-FAD4803E31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7894" y="4334063"/>
              <a:ext cx="657681" cy="47291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B822D6D-1856-4F4D-9A76-F9B41A8CF2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8411" y="4969214"/>
              <a:ext cx="1705940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E674504-1A91-461F-804A-0123359131A8}"/>
                </a:ext>
              </a:extLst>
            </p:cNvPr>
            <p:cNvCxnSpPr>
              <a:cxnSpLocks/>
            </p:cNvCxnSpPr>
            <p:nvPr/>
          </p:nvCxnSpPr>
          <p:spPr>
            <a:xfrm>
              <a:off x="3636733" y="4374927"/>
              <a:ext cx="732709" cy="48070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Plus Sign 14">
              <a:extLst>
                <a:ext uri="{FF2B5EF4-FFF2-40B4-BE49-F238E27FC236}">
                  <a16:creationId xmlns:a16="http://schemas.microsoft.com/office/drawing/2014/main" id="{0549AFB0-3050-485B-8C97-710D3C40AE04}"/>
                </a:ext>
              </a:extLst>
            </p:cNvPr>
            <p:cNvSpPr/>
            <p:nvPr/>
          </p:nvSpPr>
          <p:spPr>
            <a:xfrm>
              <a:off x="3295575" y="5028612"/>
              <a:ext cx="382237" cy="382237"/>
            </a:xfrm>
            <a:prstGeom prst="mathPlus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6" name="Plus Sign 15">
              <a:extLst>
                <a:ext uri="{FF2B5EF4-FFF2-40B4-BE49-F238E27FC236}">
                  <a16:creationId xmlns:a16="http://schemas.microsoft.com/office/drawing/2014/main" id="{C1147975-B333-4CFA-BD82-969C3C970B1A}"/>
                </a:ext>
              </a:extLst>
            </p:cNvPr>
            <p:cNvSpPr/>
            <p:nvPr/>
          </p:nvSpPr>
          <p:spPr>
            <a:xfrm>
              <a:off x="2587180" y="4171825"/>
              <a:ext cx="382237" cy="382237"/>
            </a:xfrm>
            <a:prstGeom prst="mathPlus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7" name="Minus Sign 16">
              <a:extLst>
                <a:ext uri="{FF2B5EF4-FFF2-40B4-BE49-F238E27FC236}">
                  <a16:creationId xmlns:a16="http://schemas.microsoft.com/office/drawing/2014/main" id="{BF68A71B-DD86-453A-8B2E-4669D4E755D6}"/>
                </a:ext>
              </a:extLst>
            </p:cNvPr>
            <p:cNvSpPr/>
            <p:nvPr/>
          </p:nvSpPr>
          <p:spPr>
            <a:xfrm flipV="1">
              <a:off x="3941351" y="4315529"/>
              <a:ext cx="349013" cy="162202"/>
            </a:xfrm>
            <a:prstGeom prst="mathMinus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BC42796-0A7F-CF90-2157-2F675E97289D}"/>
              </a:ext>
            </a:extLst>
          </p:cNvPr>
          <p:cNvGrpSpPr/>
          <p:nvPr/>
        </p:nvGrpSpPr>
        <p:grpSpPr>
          <a:xfrm>
            <a:off x="6276061" y="3692486"/>
            <a:ext cx="2514439" cy="1269928"/>
            <a:chOff x="6784549" y="3849284"/>
            <a:chExt cx="2514439" cy="126992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0681779-8786-5766-28BE-4E17FA94190E}"/>
                </a:ext>
              </a:extLst>
            </p:cNvPr>
            <p:cNvGrpSpPr/>
            <p:nvPr/>
          </p:nvGrpSpPr>
          <p:grpSpPr>
            <a:xfrm>
              <a:off x="6784549" y="3849284"/>
              <a:ext cx="2514439" cy="1221469"/>
              <a:chOff x="2215299" y="4001294"/>
              <a:chExt cx="2514439" cy="122146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362CDB-9FEB-850D-6DCA-E09666E7953B}"/>
                  </a:ext>
                </a:extLst>
              </p:cNvPr>
              <p:cNvSpPr txBox="1"/>
              <p:nvPr/>
            </p:nvSpPr>
            <p:spPr>
              <a:xfrm>
                <a:off x="2215299" y="4637988"/>
                <a:ext cx="410690" cy="58477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sz="3200" b="1" dirty="0"/>
                  <a:t>X</a:t>
                </a:r>
                <a:endParaRPr lang="he-IL" sz="3200" b="1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2D99DFB-CB45-04EA-CD0C-AA7E15A58BEA}"/>
                  </a:ext>
                </a:extLst>
              </p:cNvPr>
              <p:cNvSpPr txBox="1"/>
              <p:nvPr/>
            </p:nvSpPr>
            <p:spPr>
              <a:xfrm>
                <a:off x="4319048" y="4637987"/>
                <a:ext cx="410690" cy="58477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sz="3200" b="1" dirty="0"/>
                  <a:t>Y</a:t>
                </a:r>
                <a:endParaRPr lang="he-IL" sz="3200" b="1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E1ED884-7169-3AC3-25E2-988EF1103790}"/>
                  </a:ext>
                </a:extLst>
              </p:cNvPr>
              <p:cNvSpPr txBox="1"/>
              <p:nvPr/>
            </p:nvSpPr>
            <p:spPr>
              <a:xfrm>
                <a:off x="3283670" y="4001294"/>
                <a:ext cx="378630" cy="58477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sz="3200" b="1" dirty="0"/>
                  <a:t>S</a:t>
                </a:r>
                <a:endParaRPr lang="he-IL" sz="3200" b="1" dirty="0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095DA33-AADA-B028-52BA-46ACF99A1C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37894" y="4334063"/>
                <a:ext cx="657681" cy="472913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A99E4F0E-C1A7-5D33-C93C-855AA4816D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8411" y="4969214"/>
                <a:ext cx="1705940" cy="1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3B0A0BF3-7AF1-8317-C41D-A5CD0449D7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6733" y="4374927"/>
                <a:ext cx="732709" cy="480708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Plus Sign 24">
                <a:extLst>
                  <a:ext uri="{FF2B5EF4-FFF2-40B4-BE49-F238E27FC236}">
                    <a16:creationId xmlns:a16="http://schemas.microsoft.com/office/drawing/2014/main" id="{1692FD56-3AEC-406B-7884-A14EE5EBB1E7}"/>
                  </a:ext>
                </a:extLst>
              </p:cNvPr>
              <p:cNvSpPr/>
              <p:nvPr/>
            </p:nvSpPr>
            <p:spPr>
              <a:xfrm>
                <a:off x="2587180" y="4171825"/>
                <a:ext cx="382237" cy="382237"/>
              </a:xfrm>
              <a:prstGeom prst="mathPlus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</p:grpSp>
        <p:sp>
          <p:nvSpPr>
            <p:cNvPr id="27" name="Minus Sign 26">
              <a:extLst>
                <a:ext uri="{FF2B5EF4-FFF2-40B4-BE49-F238E27FC236}">
                  <a16:creationId xmlns:a16="http://schemas.microsoft.com/office/drawing/2014/main" id="{5D6CF37D-E8A9-74EC-FEC9-C09206E4AA04}"/>
                </a:ext>
              </a:extLst>
            </p:cNvPr>
            <p:cNvSpPr/>
            <p:nvPr/>
          </p:nvSpPr>
          <p:spPr>
            <a:xfrm flipV="1">
              <a:off x="7852920" y="4957010"/>
              <a:ext cx="349013" cy="162202"/>
            </a:xfrm>
            <a:prstGeom prst="mathMinus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8" name="Plus Sign 27">
              <a:extLst>
                <a:ext uri="{FF2B5EF4-FFF2-40B4-BE49-F238E27FC236}">
                  <a16:creationId xmlns:a16="http://schemas.microsoft.com/office/drawing/2014/main" id="{FAC6629E-B1F8-4C2C-18B6-7CB56DBD3696}"/>
                </a:ext>
              </a:extLst>
            </p:cNvPr>
            <p:cNvSpPr/>
            <p:nvPr/>
          </p:nvSpPr>
          <p:spPr>
            <a:xfrm>
              <a:off x="8526436" y="4005597"/>
              <a:ext cx="382237" cy="382237"/>
            </a:xfrm>
            <a:prstGeom prst="mathPlus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D64CCE4-FCC4-AF26-4DCD-47C62E2F0E71}"/>
              </a:ext>
            </a:extLst>
          </p:cNvPr>
          <p:cNvGrpSpPr/>
          <p:nvPr/>
        </p:nvGrpSpPr>
        <p:grpSpPr>
          <a:xfrm>
            <a:off x="784695" y="5305172"/>
            <a:ext cx="2514439" cy="1409555"/>
            <a:chOff x="2215299" y="4001294"/>
            <a:chExt cx="2514439" cy="140955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2F93661-6236-15E3-84F4-10911BE4AC46}"/>
                </a:ext>
              </a:extLst>
            </p:cNvPr>
            <p:cNvSpPr txBox="1"/>
            <p:nvPr/>
          </p:nvSpPr>
          <p:spPr>
            <a:xfrm>
              <a:off x="2215299" y="4637988"/>
              <a:ext cx="410690" cy="58477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3200" b="1" dirty="0"/>
                <a:t>X</a:t>
              </a:r>
              <a:endParaRPr lang="he-IL" sz="32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2E2CACB-A777-9621-9A4E-56CB29CBF329}"/>
                </a:ext>
              </a:extLst>
            </p:cNvPr>
            <p:cNvSpPr txBox="1"/>
            <p:nvPr/>
          </p:nvSpPr>
          <p:spPr>
            <a:xfrm>
              <a:off x="4319048" y="4637987"/>
              <a:ext cx="410690" cy="58477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3200" b="1" dirty="0"/>
                <a:t>Y</a:t>
              </a:r>
              <a:endParaRPr lang="he-IL" sz="3200" b="1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1EC7E6C-6E98-6620-0D19-99224B6D6ABC}"/>
                </a:ext>
              </a:extLst>
            </p:cNvPr>
            <p:cNvSpPr txBox="1"/>
            <p:nvPr/>
          </p:nvSpPr>
          <p:spPr>
            <a:xfrm>
              <a:off x="3283670" y="4001294"/>
              <a:ext cx="378630" cy="58477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sz="3200" b="1" dirty="0"/>
                <a:t>S</a:t>
              </a:r>
              <a:endParaRPr lang="he-IL" sz="3200" b="1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AF8057C-C96A-6301-664A-27D9EF7A7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7894" y="4334063"/>
              <a:ext cx="657681" cy="472913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CAB3EB8-E522-D300-D6D8-FA6407BEC4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8411" y="4969214"/>
              <a:ext cx="1705940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C1EE49B-EAE9-4E76-5675-4062C9FFC8FE}"/>
                </a:ext>
              </a:extLst>
            </p:cNvPr>
            <p:cNvCxnSpPr>
              <a:cxnSpLocks/>
            </p:cNvCxnSpPr>
            <p:nvPr/>
          </p:nvCxnSpPr>
          <p:spPr>
            <a:xfrm>
              <a:off x="3636733" y="4374927"/>
              <a:ext cx="732709" cy="48070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Plus Sign 34">
              <a:extLst>
                <a:ext uri="{FF2B5EF4-FFF2-40B4-BE49-F238E27FC236}">
                  <a16:creationId xmlns:a16="http://schemas.microsoft.com/office/drawing/2014/main" id="{83377EDF-9DE8-1F56-F2C7-2571D694B22C}"/>
                </a:ext>
              </a:extLst>
            </p:cNvPr>
            <p:cNvSpPr/>
            <p:nvPr/>
          </p:nvSpPr>
          <p:spPr>
            <a:xfrm>
              <a:off x="3295575" y="5028612"/>
              <a:ext cx="382237" cy="382237"/>
            </a:xfrm>
            <a:prstGeom prst="mathPlus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6" name="Plus Sign 35">
              <a:extLst>
                <a:ext uri="{FF2B5EF4-FFF2-40B4-BE49-F238E27FC236}">
                  <a16:creationId xmlns:a16="http://schemas.microsoft.com/office/drawing/2014/main" id="{A5A5D7D1-BC5E-2013-BE5A-3BC4ACA3AA7A}"/>
                </a:ext>
              </a:extLst>
            </p:cNvPr>
            <p:cNvSpPr/>
            <p:nvPr/>
          </p:nvSpPr>
          <p:spPr>
            <a:xfrm>
              <a:off x="3945269" y="4171825"/>
              <a:ext cx="382237" cy="382237"/>
            </a:xfrm>
            <a:prstGeom prst="mathPlus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7" name="Minus Sign 36">
              <a:extLst>
                <a:ext uri="{FF2B5EF4-FFF2-40B4-BE49-F238E27FC236}">
                  <a16:creationId xmlns:a16="http://schemas.microsoft.com/office/drawing/2014/main" id="{BB67B74F-BFA3-F38F-CE5B-1670E8F55E20}"/>
                </a:ext>
              </a:extLst>
            </p:cNvPr>
            <p:cNvSpPr/>
            <p:nvPr/>
          </p:nvSpPr>
          <p:spPr>
            <a:xfrm flipV="1">
              <a:off x="2661300" y="4328181"/>
              <a:ext cx="349013" cy="162202"/>
            </a:xfrm>
            <a:prstGeom prst="mathMinus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3E043A2-4311-6F20-A1C8-22EBF43B0E2F}"/>
              </a:ext>
            </a:extLst>
          </p:cNvPr>
          <p:cNvGrpSpPr/>
          <p:nvPr/>
        </p:nvGrpSpPr>
        <p:grpSpPr>
          <a:xfrm>
            <a:off x="6264405" y="5327377"/>
            <a:ext cx="2514439" cy="1269928"/>
            <a:chOff x="6784549" y="3849284"/>
            <a:chExt cx="2514439" cy="126992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994A7CE-C386-E227-7A8E-DB7954404DEC}"/>
                </a:ext>
              </a:extLst>
            </p:cNvPr>
            <p:cNvGrpSpPr/>
            <p:nvPr/>
          </p:nvGrpSpPr>
          <p:grpSpPr>
            <a:xfrm>
              <a:off x="6784549" y="3849284"/>
              <a:ext cx="2514439" cy="1221469"/>
              <a:chOff x="2215299" y="4001294"/>
              <a:chExt cx="2514439" cy="1221469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BA96194-A19D-A629-874A-53B8658807CA}"/>
                  </a:ext>
                </a:extLst>
              </p:cNvPr>
              <p:cNvSpPr txBox="1"/>
              <p:nvPr/>
            </p:nvSpPr>
            <p:spPr>
              <a:xfrm>
                <a:off x="2215299" y="4637988"/>
                <a:ext cx="410690" cy="58477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sz="3200" b="1" dirty="0"/>
                  <a:t>X</a:t>
                </a:r>
                <a:endParaRPr lang="he-IL" sz="3200" b="1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2A1C0F8-EB2C-6DD7-E377-3B1BC39F9CAE}"/>
                  </a:ext>
                </a:extLst>
              </p:cNvPr>
              <p:cNvSpPr txBox="1"/>
              <p:nvPr/>
            </p:nvSpPr>
            <p:spPr>
              <a:xfrm>
                <a:off x="4319048" y="4637987"/>
                <a:ext cx="410690" cy="58477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sz="3200" b="1" dirty="0"/>
                  <a:t>Y</a:t>
                </a:r>
                <a:endParaRPr lang="he-IL" sz="3200" b="1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6B701E-CACB-EEAD-56AD-9D643145BE81}"/>
                  </a:ext>
                </a:extLst>
              </p:cNvPr>
              <p:cNvSpPr txBox="1"/>
              <p:nvPr/>
            </p:nvSpPr>
            <p:spPr>
              <a:xfrm>
                <a:off x="3283670" y="4001294"/>
                <a:ext cx="378630" cy="58477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 sz="3200" b="1" dirty="0"/>
                  <a:t>S</a:t>
                </a:r>
                <a:endParaRPr lang="he-IL" sz="3200" b="1" dirty="0"/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05128970-E7B8-937B-AA97-18B7F72390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37894" y="4334063"/>
                <a:ext cx="657681" cy="472913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DB768A3B-52A8-55BE-C3C0-3E3C87F7C6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8411" y="4969214"/>
                <a:ext cx="1705940" cy="1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AADD16E6-75CB-B6BE-392A-539AB43380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6733" y="4374927"/>
                <a:ext cx="732709" cy="480708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Minus Sign 39">
              <a:extLst>
                <a:ext uri="{FF2B5EF4-FFF2-40B4-BE49-F238E27FC236}">
                  <a16:creationId xmlns:a16="http://schemas.microsoft.com/office/drawing/2014/main" id="{9BB30D96-E6C8-88DA-162A-7B56869431E4}"/>
                </a:ext>
              </a:extLst>
            </p:cNvPr>
            <p:cNvSpPr/>
            <p:nvPr/>
          </p:nvSpPr>
          <p:spPr>
            <a:xfrm flipV="1">
              <a:off x="7852920" y="4957010"/>
              <a:ext cx="349013" cy="162202"/>
            </a:xfrm>
            <a:prstGeom prst="mathMinus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49" name="Minus Sign 48">
            <a:extLst>
              <a:ext uri="{FF2B5EF4-FFF2-40B4-BE49-F238E27FC236}">
                <a16:creationId xmlns:a16="http://schemas.microsoft.com/office/drawing/2014/main" id="{FF7C074F-13EF-1FDC-E260-3BADBCBADE79}"/>
              </a:ext>
            </a:extLst>
          </p:cNvPr>
          <p:cNvSpPr/>
          <p:nvPr/>
        </p:nvSpPr>
        <p:spPr>
          <a:xfrm flipV="1">
            <a:off x="6584666" y="5664696"/>
            <a:ext cx="349013" cy="162202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0" name="Minus Sign 49">
            <a:extLst>
              <a:ext uri="{FF2B5EF4-FFF2-40B4-BE49-F238E27FC236}">
                <a16:creationId xmlns:a16="http://schemas.microsoft.com/office/drawing/2014/main" id="{A956B82B-91D2-083B-F48A-31B93452C9DE}"/>
              </a:ext>
            </a:extLst>
          </p:cNvPr>
          <p:cNvSpPr/>
          <p:nvPr/>
        </p:nvSpPr>
        <p:spPr>
          <a:xfrm flipV="1">
            <a:off x="8025736" y="5653788"/>
            <a:ext cx="349013" cy="162202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815775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some cases, a positive causal influence may even appear as a negative correlation</a:t>
            </a:r>
          </a:p>
        </p:txBody>
      </p:sp>
    </p:spTree>
    <p:extLst>
      <p:ext uri="{BB962C8B-B14F-4D97-AF65-F5344CB8AC3E}">
        <p14:creationId xmlns:p14="http://schemas.microsoft.com/office/powerpoint/2010/main" val="167240115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“Integrative schools teach special education and normal students in joint classes while mainstream schools teach them in separate classes. </a:t>
            </a:r>
            <a:br>
              <a:rPr lang="en-US" dirty="0"/>
            </a:br>
            <a:r>
              <a:rPr lang="en-US" dirty="0"/>
              <a:t>At the end of the year, all students from integrative and mainstream schools took a qualifying test. 57% of integrative school students passed, while 60% of mainstream school students passed”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501813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“Integrative schools teach special education and normal students in joint classes while mainstream schools teach them in separate classes. </a:t>
            </a:r>
            <a:br>
              <a:rPr lang="en-US" dirty="0"/>
            </a:br>
            <a:r>
              <a:rPr lang="en-US" dirty="0"/>
              <a:t>At the end of the year, all students from integrative and mainstream schools took a qualifying test. 57% of integrative school students passed, while 60% of mainstream school students passed”</a:t>
            </a:r>
          </a:p>
          <a:p>
            <a:endParaRPr lang="en-US" dirty="0"/>
          </a:p>
          <a:p>
            <a:r>
              <a:rPr lang="en-US" dirty="0"/>
              <a:t>Do integrative schools have worse outcomes?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59936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Mainstream schools:</a:t>
            </a:r>
          </a:p>
          <a:p>
            <a:pPr lvl="1"/>
            <a:r>
              <a:rPr lang="en-US" dirty="0"/>
              <a:t>Special education students: 200 students, 20% pass rate</a:t>
            </a:r>
          </a:p>
          <a:p>
            <a:pPr lvl="1"/>
            <a:r>
              <a:rPr lang="en-US" dirty="0"/>
              <a:t>Normal students: 800 students, 70% pass rate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1003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Mainstream schools:</a:t>
            </a:r>
          </a:p>
          <a:p>
            <a:pPr lvl="1"/>
            <a:r>
              <a:rPr lang="en-US" dirty="0"/>
              <a:t>Special education students: 200 students, 20% pass rate</a:t>
            </a:r>
          </a:p>
          <a:p>
            <a:pPr lvl="1"/>
            <a:r>
              <a:rPr lang="en-US" dirty="0"/>
              <a:t>Normal students: 800 students, 70% pass rate</a:t>
            </a:r>
          </a:p>
          <a:p>
            <a:endParaRPr lang="en-US" dirty="0"/>
          </a:p>
          <a:p>
            <a:r>
              <a:rPr lang="en-US" dirty="0"/>
              <a:t>Integrative schools:</a:t>
            </a:r>
          </a:p>
          <a:p>
            <a:pPr lvl="1"/>
            <a:r>
              <a:rPr lang="en-US" dirty="0"/>
              <a:t>Special education students: 400 students, 30% pass rate</a:t>
            </a:r>
          </a:p>
          <a:p>
            <a:pPr lvl="1"/>
            <a:r>
              <a:rPr lang="en-US" dirty="0"/>
              <a:t>Normal students: 600 students, 75% pass rate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63918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Mainstream schools:</a:t>
            </a:r>
          </a:p>
          <a:p>
            <a:pPr lvl="1"/>
            <a:r>
              <a:rPr lang="en-US" dirty="0"/>
              <a:t>Special education students: 200 students, 20% pass rate</a:t>
            </a:r>
          </a:p>
          <a:p>
            <a:pPr lvl="1"/>
            <a:r>
              <a:rPr lang="en-US" dirty="0"/>
              <a:t>Normal students: 800 students, 70% pass rate</a:t>
            </a:r>
          </a:p>
          <a:p>
            <a:endParaRPr lang="en-US" dirty="0"/>
          </a:p>
          <a:p>
            <a:r>
              <a:rPr lang="en-US" dirty="0"/>
              <a:t>Integrative schools:</a:t>
            </a:r>
          </a:p>
          <a:p>
            <a:pPr lvl="1"/>
            <a:r>
              <a:rPr lang="en-US" dirty="0"/>
              <a:t>Special education students: 400 students, 30% pass rate</a:t>
            </a:r>
          </a:p>
          <a:p>
            <a:pPr lvl="1"/>
            <a:r>
              <a:rPr lang="en-US" dirty="0"/>
              <a:t>Normal students: 600 students, 75% pass rate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22D900-E315-4F8A-C27A-67A99BF98090}"/>
                  </a:ext>
                </a:extLst>
              </p:cNvPr>
              <p:cNvSpPr txBox="1"/>
              <p:nvPr/>
            </p:nvSpPr>
            <p:spPr>
              <a:xfrm>
                <a:off x="8717280" y="2540000"/>
                <a:ext cx="3398687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%∗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%∗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800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22D900-E315-4F8A-C27A-67A99BF98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280" y="2540000"/>
                <a:ext cx="3398687" cy="612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6C12F3-C934-4999-DB78-98A922C4A8A9}"/>
                  </a:ext>
                </a:extLst>
              </p:cNvPr>
              <p:cNvSpPr txBox="1"/>
              <p:nvPr/>
            </p:nvSpPr>
            <p:spPr>
              <a:xfrm>
                <a:off x="8717279" y="4354310"/>
                <a:ext cx="3398687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%∗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400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%∗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600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6C12F3-C934-4999-DB78-98A922C4A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279" y="4354310"/>
                <a:ext cx="3398687" cy="6127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5326810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9A8CF-B548-4B44-81C4-8C9A737BF38C}"/>
              </a:ext>
            </a:extLst>
          </p:cNvPr>
          <p:cNvSpPr txBox="1"/>
          <p:nvPr/>
        </p:nvSpPr>
        <p:spPr>
          <a:xfrm>
            <a:off x="3780230" y="3743357"/>
            <a:ext cx="125971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Integrative school</a:t>
            </a:r>
            <a:endParaRPr lang="he-I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5B19CD-258A-4915-9734-FAD4803E31D5}"/>
              </a:ext>
            </a:extLst>
          </p:cNvPr>
          <p:cNvCxnSpPr>
            <a:cxnSpLocks/>
          </p:cNvCxnSpPr>
          <p:nvPr/>
        </p:nvCxnSpPr>
        <p:spPr>
          <a:xfrm flipV="1">
            <a:off x="5070009" y="3523358"/>
            <a:ext cx="657681" cy="4729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822D6D-1856-4F4D-9A76-F9B41A8CF28E}"/>
              </a:ext>
            </a:extLst>
          </p:cNvPr>
          <p:cNvCxnSpPr>
            <a:cxnSpLocks/>
          </p:cNvCxnSpPr>
          <p:nvPr/>
        </p:nvCxnSpPr>
        <p:spPr>
          <a:xfrm flipV="1">
            <a:off x="5130526" y="4158509"/>
            <a:ext cx="1705940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674504-1A91-461F-804A-0123359131A8}"/>
              </a:ext>
            </a:extLst>
          </p:cNvPr>
          <p:cNvCxnSpPr>
            <a:cxnSpLocks/>
          </p:cNvCxnSpPr>
          <p:nvPr/>
        </p:nvCxnSpPr>
        <p:spPr>
          <a:xfrm>
            <a:off x="6068848" y="3564222"/>
            <a:ext cx="732709" cy="48070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lus Sign 14">
            <a:extLst>
              <a:ext uri="{FF2B5EF4-FFF2-40B4-BE49-F238E27FC236}">
                <a16:creationId xmlns:a16="http://schemas.microsoft.com/office/drawing/2014/main" id="{0549AFB0-3050-485B-8C97-710D3C40AE04}"/>
              </a:ext>
            </a:extLst>
          </p:cNvPr>
          <p:cNvSpPr/>
          <p:nvPr/>
        </p:nvSpPr>
        <p:spPr>
          <a:xfrm>
            <a:off x="5727690" y="4217907"/>
            <a:ext cx="382237" cy="382237"/>
          </a:xfrm>
          <a:prstGeom prst="mathPlus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Plus Sign 15">
            <a:extLst>
              <a:ext uri="{FF2B5EF4-FFF2-40B4-BE49-F238E27FC236}">
                <a16:creationId xmlns:a16="http://schemas.microsoft.com/office/drawing/2014/main" id="{C1147975-B333-4CFA-BD82-969C3C970B1A}"/>
              </a:ext>
            </a:extLst>
          </p:cNvPr>
          <p:cNvSpPr/>
          <p:nvPr/>
        </p:nvSpPr>
        <p:spPr>
          <a:xfrm>
            <a:off x="5019295" y="3361120"/>
            <a:ext cx="382237" cy="382237"/>
          </a:xfrm>
          <a:prstGeom prst="mathPlus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Minus Sign 16">
            <a:extLst>
              <a:ext uri="{FF2B5EF4-FFF2-40B4-BE49-F238E27FC236}">
                <a16:creationId xmlns:a16="http://schemas.microsoft.com/office/drawing/2014/main" id="{BF68A71B-DD86-453A-8B2E-4669D4E755D6}"/>
              </a:ext>
            </a:extLst>
          </p:cNvPr>
          <p:cNvSpPr/>
          <p:nvPr/>
        </p:nvSpPr>
        <p:spPr>
          <a:xfrm flipV="1">
            <a:off x="6373466" y="3504824"/>
            <a:ext cx="349013" cy="162202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D29E48-B67A-4659-BF02-F4CF35951672}"/>
              </a:ext>
            </a:extLst>
          </p:cNvPr>
          <p:cNvSpPr txBox="1"/>
          <p:nvPr/>
        </p:nvSpPr>
        <p:spPr>
          <a:xfrm>
            <a:off x="6836466" y="3762694"/>
            <a:ext cx="135029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Overall pass rate</a:t>
            </a:r>
            <a:endParaRPr lang="he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D6CE68-6789-4433-81C9-1CB9CD477A9C}"/>
              </a:ext>
            </a:extLst>
          </p:cNvPr>
          <p:cNvSpPr txBox="1"/>
          <p:nvPr/>
        </p:nvSpPr>
        <p:spPr>
          <a:xfrm>
            <a:off x="4929905" y="2786124"/>
            <a:ext cx="197780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Number of special education students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8752277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23F4-AA00-4B2F-B675-98B886FF4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up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CF70C-C32A-4749-A374-75A102A40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27605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23F4-AA00-4B2F-B675-98B886FF4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up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CF70C-C32A-4749-A374-75A102A40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establish causation</a:t>
            </a:r>
          </a:p>
          <a:p>
            <a:pPr lvl="1"/>
            <a:r>
              <a:rPr lang="en-US" dirty="0"/>
              <a:t>Correlation (usually)</a:t>
            </a:r>
          </a:p>
          <a:p>
            <a:pPr lvl="1"/>
            <a:r>
              <a:rPr lang="en-US" dirty="0"/>
              <a:t>Temporal order</a:t>
            </a:r>
          </a:p>
          <a:p>
            <a:pPr lvl="1"/>
            <a:r>
              <a:rPr lang="en-US" dirty="0"/>
              <a:t>Ruling out all possible confounds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38275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23F4-AA00-4B2F-B675-98B886FF4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up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CF70C-C32A-4749-A374-75A102A40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establish causation</a:t>
            </a:r>
          </a:p>
          <a:p>
            <a:pPr lvl="1"/>
            <a:r>
              <a:rPr lang="en-US" dirty="0"/>
              <a:t>Correlation (usually)</a:t>
            </a:r>
          </a:p>
          <a:p>
            <a:pPr lvl="1"/>
            <a:r>
              <a:rPr lang="en-US" dirty="0"/>
              <a:t>Temporal order</a:t>
            </a:r>
          </a:p>
          <a:p>
            <a:pPr lvl="1"/>
            <a:r>
              <a:rPr lang="en-US" dirty="0"/>
              <a:t>Ruling out all possible confounds</a:t>
            </a:r>
          </a:p>
          <a:p>
            <a:r>
              <a:rPr lang="en-US" dirty="0"/>
              <a:t>Controlled (matched or random assignment), double blind experiment – the gold standard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65888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23F4-AA00-4B2F-B675-98B886FF4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Summing up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CF70C-C32A-4749-A374-75A102A40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establish causation</a:t>
            </a:r>
          </a:p>
          <a:p>
            <a:pPr lvl="1"/>
            <a:r>
              <a:rPr lang="en-US" dirty="0"/>
              <a:t>Correlation (usually)</a:t>
            </a:r>
          </a:p>
          <a:p>
            <a:pPr lvl="1"/>
            <a:r>
              <a:rPr lang="en-US" dirty="0"/>
              <a:t>Temporal order</a:t>
            </a:r>
          </a:p>
          <a:p>
            <a:pPr lvl="1"/>
            <a:r>
              <a:rPr lang="en-US" dirty="0"/>
              <a:t>Ruling out all possible confounds</a:t>
            </a:r>
          </a:p>
          <a:p>
            <a:r>
              <a:rPr lang="en-US" dirty="0"/>
              <a:t>Controlled (matched or random assignment), double blind experiment – the gold standard</a:t>
            </a:r>
          </a:p>
          <a:p>
            <a:r>
              <a:rPr lang="en-US" dirty="0"/>
              <a:t>Quasi experiments: not perfect, but better than nothing</a:t>
            </a:r>
          </a:p>
          <a:p>
            <a:pPr lvl="1"/>
            <a:r>
              <a:rPr lang="en-US" dirty="0"/>
              <a:t>Need to actively rule out confounds</a:t>
            </a:r>
          </a:p>
          <a:p>
            <a:pPr lvl="1"/>
            <a:r>
              <a:rPr lang="en-US" dirty="0"/>
              <a:t>Beware selection biases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10539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7BD25-47AC-4ADD-802E-1634B75EA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D5D9A-850D-45AA-B5C9-DF463D6A5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The law of large numbers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Sampling, surveys and sampling biases</a:t>
            </a:r>
          </a:p>
        </p:txBody>
      </p:sp>
    </p:spTree>
    <p:extLst>
      <p:ext uri="{BB962C8B-B14F-4D97-AF65-F5344CB8AC3E}">
        <p14:creationId xmlns:p14="http://schemas.microsoft.com/office/powerpoint/2010/main" val="318399997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example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An observational study found that women who regularly do yoga have a lower chance of miscarriage. </a:t>
            </a:r>
            <a:br>
              <a:rPr lang="en-US" dirty="0"/>
            </a:br>
            <a:r>
              <a:rPr lang="en-US" dirty="0"/>
              <a:t>Can we conclude that doing yoga lowers the chance of miscarriages?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example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the US, the death rate (number of deaths per 100,000 living in the area) in cities is higher than in rural areas. Can we conclude that city living is unhealthy?</a:t>
            </a:r>
          </a:p>
        </p:txBody>
      </p:sp>
    </p:spTree>
    <p:extLst>
      <p:ext uri="{BB962C8B-B14F-4D97-AF65-F5344CB8AC3E}">
        <p14:creationId xmlns:p14="http://schemas.microsoft.com/office/powerpoint/2010/main" val="399614943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example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During the great depression unemployment in the US was extremely high. However, more educated people had a lower rate unemployment. Can we conclude that education protected workers from unemployment at the time?</a:t>
            </a:r>
          </a:p>
        </p:txBody>
      </p:sp>
    </p:spTree>
    <p:extLst>
      <p:ext uri="{BB962C8B-B14F-4D97-AF65-F5344CB8AC3E}">
        <p14:creationId xmlns:p14="http://schemas.microsoft.com/office/powerpoint/2010/main" val="240220733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example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In the national math graduation exam, students have a choice between answering a question on matrix algebra or functional analysis.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Functional analysis is known to be the harder subject, and only a small portion of students pick this topic.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Despite this, success rate on the two topics is nearly identical.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How could we explain this finding?</a:t>
            </a:r>
          </a:p>
        </p:txBody>
      </p:sp>
    </p:spTree>
    <p:extLst>
      <p:ext uri="{BB962C8B-B14F-4D97-AF65-F5344CB8AC3E}">
        <p14:creationId xmlns:p14="http://schemas.microsoft.com/office/powerpoint/2010/main" val="63252186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example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survey found a possible influence of pet ownership during childhood and career success. Of the 74 CEOs surveyed, 94% owned a dog, cat or both as children. The surveyed CEOs claimed that owning a pet as children helped them develop good character, which contributed to their successful careers.</a:t>
            </a:r>
            <a:br>
              <a:rPr lang="en-US" dirty="0"/>
            </a:br>
            <a:r>
              <a:rPr lang="en-US" dirty="0"/>
              <a:t>Evaluate this claim.</a:t>
            </a:r>
          </a:p>
        </p:txBody>
      </p:sp>
    </p:spTree>
    <p:extLst>
      <p:ext uri="{BB962C8B-B14F-4D97-AF65-F5344CB8AC3E}">
        <p14:creationId xmlns:p14="http://schemas.microsoft.com/office/powerpoint/2010/main" val="8556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1189</TotalTime>
  <Words>4019</Words>
  <Application>Microsoft Office PowerPoint</Application>
  <PresentationFormat>Widescreen</PresentationFormat>
  <Paragraphs>926</Paragraphs>
  <Slides>183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183</vt:i4>
      </vt:variant>
    </vt:vector>
  </HeadingPairs>
  <TitlesOfParts>
    <vt:vector size="188" baseType="lpstr">
      <vt:lpstr>Arial</vt:lpstr>
      <vt:lpstr>Calibri</vt:lpstr>
      <vt:lpstr>Cambria Math</vt:lpstr>
      <vt:lpstr>Lucida</vt:lpstr>
      <vt:lpstr>Office Theme</vt:lpstr>
      <vt:lpstr>PowerPoint Presentation</vt:lpstr>
      <vt:lpstr>Critical Thinking</vt:lpstr>
      <vt:lpstr>Last week:  Correlation and causation</vt:lpstr>
      <vt:lpstr>Last week:  Correlation and causation</vt:lpstr>
      <vt:lpstr>Last week:  Correlation and causation</vt:lpstr>
      <vt:lpstr>Last week:  Correlation and causation</vt:lpstr>
      <vt:lpstr>Last week:  Correlation and causation</vt:lpstr>
      <vt:lpstr>Last week:  Correlation and causation</vt:lpstr>
      <vt:lpstr>Last week:  Correlation and causation</vt:lpstr>
      <vt:lpstr>Last week:  Correlation and causation</vt:lpstr>
      <vt:lpstr>Last week:  Correlation and causation</vt:lpstr>
      <vt:lpstr>Last week:  Correlation and causation</vt:lpstr>
      <vt:lpstr>Last week:  Correlation and causation</vt:lpstr>
      <vt:lpstr>Last week:  Correlation and causation</vt:lpstr>
      <vt:lpstr>Last week:  Correlation and causation</vt:lpstr>
      <vt:lpstr>Last week: Evaluating a claimed correlation</vt:lpstr>
      <vt:lpstr>Last week: Evaluating a claimed correlation</vt:lpstr>
      <vt:lpstr>Last week: Evaluating a claimed correlation</vt:lpstr>
      <vt:lpstr>Last week: Evaluating a claimed correlation</vt:lpstr>
      <vt:lpstr>Last week: Evaluating a claimed correlation</vt:lpstr>
      <vt:lpstr>Why correlation ≠ causation</vt:lpstr>
      <vt:lpstr>Why correlation ≠ causation</vt:lpstr>
      <vt:lpstr>Why correlation ≠ causation</vt:lpstr>
      <vt:lpstr>Confounding variable</vt:lpstr>
      <vt:lpstr>Confounding variable</vt:lpstr>
      <vt:lpstr>Summary </vt:lpstr>
      <vt:lpstr>Summary </vt:lpstr>
      <vt:lpstr>Summary </vt:lpstr>
      <vt:lpstr>Summary </vt:lpstr>
      <vt:lpstr>Is knowing correlations useful?</vt:lpstr>
      <vt:lpstr>Is knowing correlations useful?</vt:lpstr>
      <vt:lpstr>Is knowing correlations useful?</vt:lpstr>
      <vt:lpstr>Is knowing correlations useful?</vt:lpstr>
      <vt:lpstr>Is knowing correlations useful?</vt:lpstr>
      <vt:lpstr>Is knowing correlations useful?</vt:lpstr>
      <vt:lpstr>What do we need causation for?</vt:lpstr>
      <vt:lpstr>What do we need causation for?</vt:lpstr>
      <vt:lpstr>Establishing causality</vt:lpstr>
      <vt:lpstr>Establishing causality</vt:lpstr>
      <vt:lpstr>Establishing causality</vt:lpstr>
      <vt:lpstr>Establishing causality</vt:lpstr>
      <vt:lpstr>Establishing causality</vt:lpstr>
      <vt:lpstr>Establishing causality</vt:lpstr>
      <vt:lpstr>Establishing causality</vt:lpstr>
      <vt:lpstr>Establishing causality</vt:lpstr>
      <vt:lpstr>Establishing causality</vt:lpstr>
      <vt:lpstr>Example cases</vt:lpstr>
      <vt:lpstr>Example cases</vt:lpstr>
      <vt:lpstr>Example cases</vt:lpstr>
      <vt:lpstr>Example cases</vt:lpstr>
      <vt:lpstr>Example cases</vt:lpstr>
      <vt:lpstr>Example cases</vt:lpstr>
      <vt:lpstr>Example cases</vt:lpstr>
      <vt:lpstr>Example cases</vt:lpstr>
      <vt:lpstr>Example cases</vt:lpstr>
      <vt:lpstr>Example cases</vt:lpstr>
      <vt:lpstr>Controlled experiments</vt:lpstr>
      <vt:lpstr>Controlled experiments</vt:lpstr>
      <vt:lpstr>Controlled experiments</vt:lpstr>
      <vt:lpstr>Controlled experiments</vt:lpstr>
      <vt:lpstr>Controlled experiments</vt:lpstr>
      <vt:lpstr>Controlled experiments</vt:lpstr>
      <vt:lpstr>Controlled experiments - logic</vt:lpstr>
      <vt:lpstr>Controlled experiments - logic</vt:lpstr>
      <vt:lpstr>Controlled experiments - logic</vt:lpstr>
      <vt:lpstr>Controlled experiments - complications</vt:lpstr>
      <vt:lpstr>Controlled experiments - complications</vt:lpstr>
      <vt:lpstr>Creating equal groups</vt:lpstr>
      <vt:lpstr>Creating equal groups</vt:lpstr>
      <vt:lpstr>Creating equal groups</vt:lpstr>
      <vt:lpstr>Creating equal groups</vt:lpstr>
      <vt:lpstr>Creating equal groups</vt:lpstr>
      <vt:lpstr>Creating equal groups</vt:lpstr>
      <vt:lpstr>Creating equal groups</vt:lpstr>
      <vt:lpstr>Creating equal groups</vt:lpstr>
      <vt:lpstr>Creating equal groups</vt:lpstr>
      <vt:lpstr>Are experiments common in business?</vt:lpstr>
      <vt:lpstr>A/B testing</vt:lpstr>
      <vt:lpstr>A/B testing</vt:lpstr>
      <vt:lpstr>Experimental validity</vt:lpstr>
      <vt:lpstr>Experimental validity</vt:lpstr>
      <vt:lpstr>Experimental validity</vt:lpstr>
      <vt:lpstr>Experimental validity</vt:lpstr>
      <vt:lpstr>Experimental validity</vt:lpstr>
      <vt:lpstr>Experimental validity</vt:lpstr>
      <vt:lpstr>Experimental validity</vt:lpstr>
      <vt:lpstr>Expectation effects</vt:lpstr>
      <vt:lpstr>Expectation effects</vt:lpstr>
      <vt:lpstr>Placebo</vt:lpstr>
      <vt:lpstr>Placebo</vt:lpstr>
      <vt:lpstr>Placebo</vt:lpstr>
      <vt:lpstr>Placebo</vt:lpstr>
      <vt:lpstr>Nocebo </vt:lpstr>
      <vt:lpstr>Nocebo </vt:lpstr>
      <vt:lpstr>Nocebo </vt:lpstr>
      <vt:lpstr>Hawthorne effect</vt:lpstr>
      <vt:lpstr>Hawthorne effect</vt:lpstr>
      <vt:lpstr>Hawthorne effect</vt:lpstr>
      <vt:lpstr>Hawthorne effect</vt:lpstr>
      <vt:lpstr>Hawthorne effect</vt:lpstr>
      <vt:lpstr>Hawthorne effect</vt:lpstr>
      <vt:lpstr>Hawthorne effect</vt:lpstr>
      <vt:lpstr>Participant expectations</vt:lpstr>
      <vt:lpstr>Participant expectations</vt:lpstr>
      <vt:lpstr>Participant expectations</vt:lpstr>
      <vt:lpstr>Expectation effects</vt:lpstr>
      <vt:lpstr>Expectation effects</vt:lpstr>
      <vt:lpstr>Clever Hans</vt:lpstr>
      <vt:lpstr>Clever Hans</vt:lpstr>
      <vt:lpstr>Clever Hans</vt:lpstr>
      <vt:lpstr>Clever Hans</vt:lpstr>
      <vt:lpstr>Clever Hans</vt:lpstr>
      <vt:lpstr>Pygmalion effect</vt:lpstr>
      <vt:lpstr>Pygmalion effect</vt:lpstr>
      <vt:lpstr>Pygmalion effect</vt:lpstr>
      <vt:lpstr>Pygmalion effect</vt:lpstr>
      <vt:lpstr>Experimenter expectations</vt:lpstr>
      <vt:lpstr>Experimenter expectations</vt:lpstr>
      <vt:lpstr>Experimenter expectations</vt:lpstr>
      <vt:lpstr>“Blinding”</vt:lpstr>
      <vt:lpstr>“Blinding”</vt:lpstr>
      <vt:lpstr>“Blinding”</vt:lpstr>
      <vt:lpstr>“Blinding”</vt:lpstr>
      <vt:lpstr>“Blinding”</vt:lpstr>
      <vt:lpstr>“Blinding”</vt:lpstr>
      <vt:lpstr>Example experiment</vt:lpstr>
      <vt:lpstr>Example experiment</vt:lpstr>
      <vt:lpstr>Quasi experiments</vt:lpstr>
      <vt:lpstr>Quasi experiments</vt:lpstr>
      <vt:lpstr>Quasi experiments</vt:lpstr>
      <vt:lpstr>Quasi experiments</vt:lpstr>
      <vt:lpstr>Quasi experiments</vt:lpstr>
      <vt:lpstr>Quasi experiments</vt:lpstr>
      <vt:lpstr>Quasi experiments</vt:lpstr>
      <vt:lpstr>Quasi experiments</vt:lpstr>
      <vt:lpstr>Quasi experiments</vt:lpstr>
      <vt:lpstr>Quasi experiments</vt:lpstr>
      <vt:lpstr>Example</vt:lpstr>
      <vt:lpstr>Example</vt:lpstr>
      <vt:lpstr>Example</vt:lpstr>
      <vt:lpstr>Example</vt:lpstr>
      <vt:lpstr>Selection bias</vt:lpstr>
      <vt:lpstr>Selection bias</vt:lpstr>
      <vt:lpstr>Selection bias</vt:lpstr>
      <vt:lpstr>Selection bias</vt:lpstr>
      <vt:lpstr>Self selection</vt:lpstr>
      <vt:lpstr>Self selection</vt:lpstr>
      <vt:lpstr>Self selection</vt:lpstr>
      <vt:lpstr>Self selection</vt:lpstr>
      <vt:lpstr>External selection</vt:lpstr>
      <vt:lpstr>External selection</vt:lpstr>
      <vt:lpstr>External selection</vt:lpstr>
      <vt:lpstr>External selection</vt:lpstr>
      <vt:lpstr>External selection</vt:lpstr>
      <vt:lpstr>Let’s plan an experiment</vt:lpstr>
      <vt:lpstr>Let’s plan an experiment</vt:lpstr>
      <vt:lpstr>Let’s plan an experiment</vt:lpstr>
      <vt:lpstr>Let’s plan an experiment</vt:lpstr>
      <vt:lpstr>Let’s plan an experiment</vt:lpstr>
      <vt:lpstr>Suppression </vt:lpstr>
      <vt:lpstr>Suppression </vt:lpstr>
      <vt:lpstr>Suppression </vt:lpstr>
      <vt:lpstr>Suppression </vt:lpstr>
      <vt:lpstr>Suppression </vt:lpstr>
      <vt:lpstr>Suppression </vt:lpstr>
      <vt:lpstr>Suppression </vt:lpstr>
      <vt:lpstr>Suppression</vt:lpstr>
      <vt:lpstr>Suppression</vt:lpstr>
      <vt:lpstr>Suppression</vt:lpstr>
      <vt:lpstr>Suppression</vt:lpstr>
      <vt:lpstr>Suppression</vt:lpstr>
      <vt:lpstr>Suppression</vt:lpstr>
      <vt:lpstr>Suppression </vt:lpstr>
      <vt:lpstr>Summing up </vt:lpstr>
      <vt:lpstr>Summing up </vt:lpstr>
      <vt:lpstr>Summing up </vt:lpstr>
      <vt:lpstr>Summing up </vt:lpstr>
      <vt:lpstr>Next week</vt:lpstr>
      <vt:lpstr>Additional example questions</vt:lpstr>
      <vt:lpstr>Additional example questions</vt:lpstr>
      <vt:lpstr>Additional example questions</vt:lpstr>
      <vt:lpstr>Additional example questions</vt:lpstr>
      <vt:lpstr>Additional example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Asael Sklar</cp:lastModifiedBy>
  <cp:revision>92</cp:revision>
  <dcterms:created xsi:type="dcterms:W3CDTF">2023-03-14T09:27:11Z</dcterms:created>
  <dcterms:modified xsi:type="dcterms:W3CDTF">2024-04-07T10:42:58Z</dcterms:modified>
</cp:coreProperties>
</file>