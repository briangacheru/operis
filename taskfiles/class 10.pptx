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8"/>
  </p:notesMasterIdLst>
  <p:sldIdLst>
    <p:sldId id="455" r:id="rId2"/>
    <p:sldId id="256" r:id="rId3"/>
    <p:sldId id="1090" r:id="rId4"/>
    <p:sldId id="1252" r:id="rId5"/>
    <p:sldId id="1239" r:id="rId6"/>
    <p:sldId id="1281" r:id="rId7"/>
    <p:sldId id="1358" r:id="rId8"/>
    <p:sldId id="1283" r:id="rId9"/>
    <p:sldId id="1359" r:id="rId10"/>
    <p:sldId id="1296" r:id="rId11"/>
    <p:sldId id="1450" r:id="rId12"/>
    <p:sldId id="1303" r:id="rId13"/>
    <p:sldId id="1305" r:id="rId14"/>
    <p:sldId id="1364" r:id="rId15"/>
    <p:sldId id="1363" r:id="rId16"/>
    <p:sldId id="1362" r:id="rId17"/>
    <p:sldId id="1360" r:id="rId18"/>
    <p:sldId id="1361" r:id="rId19"/>
    <p:sldId id="1365" r:id="rId20"/>
    <p:sldId id="1366" r:id="rId21"/>
    <p:sldId id="1368" r:id="rId22"/>
    <p:sldId id="1369" r:id="rId23"/>
    <p:sldId id="1370" r:id="rId24"/>
    <p:sldId id="1371" r:id="rId25"/>
    <p:sldId id="1372" r:id="rId26"/>
    <p:sldId id="1373" r:id="rId27"/>
    <p:sldId id="1374" r:id="rId28"/>
    <p:sldId id="1375" r:id="rId29"/>
    <p:sldId id="1377" r:id="rId30"/>
    <p:sldId id="1378" r:id="rId31"/>
    <p:sldId id="1379" r:id="rId32"/>
    <p:sldId id="1383" r:id="rId33"/>
    <p:sldId id="1380" r:id="rId34"/>
    <p:sldId id="1381" r:id="rId35"/>
    <p:sldId id="1382" r:id="rId36"/>
    <p:sldId id="1384" r:id="rId37"/>
    <p:sldId id="1385" r:id="rId38"/>
    <p:sldId id="1386" r:id="rId39"/>
    <p:sldId id="1387" r:id="rId40"/>
    <p:sldId id="1388" r:id="rId41"/>
    <p:sldId id="1389" r:id="rId42"/>
    <p:sldId id="1390" r:id="rId43"/>
    <p:sldId id="1391" r:id="rId44"/>
    <p:sldId id="1392" r:id="rId45"/>
    <p:sldId id="1393" r:id="rId46"/>
    <p:sldId id="1394" r:id="rId47"/>
    <p:sldId id="1395" r:id="rId48"/>
    <p:sldId id="1396" r:id="rId49"/>
    <p:sldId id="1397" r:id="rId50"/>
    <p:sldId id="1399" r:id="rId51"/>
    <p:sldId id="1398" r:id="rId52"/>
    <p:sldId id="1400" r:id="rId53"/>
    <p:sldId id="1402" r:id="rId54"/>
    <p:sldId id="1403" r:id="rId55"/>
    <p:sldId id="1404" r:id="rId56"/>
    <p:sldId id="1405" r:id="rId57"/>
    <p:sldId id="1408" r:id="rId58"/>
    <p:sldId id="1407" r:id="rId59"/>
    <p:sldId id="1409" r:id="rId60"/>
    <p:sldId id="1410" r:id="rId61"/>
    <p:sldId id="1411" r:id="rId62"/>
    <p:sldId id="1412" r:id="rId63"/>
    <p:sldId id="1413" r:id="rId64"/>
    <p:sldId id="1414" r:id="rId65"/>
    <p:sldId id="1415" r:id="rId66"/>
    <p:sldId id="1416" r:id="rId67"/>
    <p:sldId id="1417" r:id="rId68"/>
    <p:sldId id="1418" r:id="rId69"/>
    <p:sldId id="1420" r:id="rId70"/>
    <p:sldId id="1419" r:id="rId71"/>
    <p:sldId id="1421" r:id="rId72"/>
    <p:sldId id="1422" r:id="rId73"/>
    <p:sldId id="1423" r:id="rId74"/>
    <p:sldId id="1425" r:id="rId75"/>
    <p:sldId id="1426" r:id="rId76"/>
    <p:sldId id="1427" r:id="rId77"/>
    <p:sldId id="1428" r:id="rId78"/>
    <p:sldId id="1429" r:id="rId79"/>
    <p:sldId id="1430" r:id="rId80"/>
    <p:sldId id="1431" r:id="rId81"/>
    <p:sldId id="1432" r:id="rId82"/>
    <p:sldId id="1439" r:id="rId83"/>
    <p:sldId id="1438" r:id="rId84"/>
    <p:sldId id="1436" r:id="rId85"/>
    <p:sldId id="1437" r:id="rId86"/>
    <p:sldId id="1448" r:id="rId87"/>
    <p:sldId id="1433" r:id="rId88"/>
    <p:sldId id="1434" r:id="rId89"/>
    <p:sldId id="1440" r:id="rId90"/>
    <p:sldId id="1441" r:id="rId91"/>
    <p:sldId id="1442" r:id="rId92"/>
    <p:sldId id="1443" r:id="rId93"/>
    <p:sldId id="1444" r:id="rId94"/>
    <p:sldId id="1449" r:id="rId95"/>
    <p:sldId id="282" r:id="rId96"/>
    <p:sldId id="1169" r:id="rId97"/>
  </p:sldIdLst>
  <p:sldSz cx="12192000" cy="6858000"/>
  <p:notesSz cx="6858000" cy="9144000"/>
  <p:defaultText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CC2F4"/>
    <a:srgbClr val="C5DB13"/>
    <a:srgbClr val="C0504E"/>
    <a:srgbClr val="4F81B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34" autoAdjust="0"/>
    <p:restoredTop sz="93447" autoAdjust="0"/>
  </p:normalViewPr>
  <p:slideViewPr>
    <p:cSldViewPr snapToGrid="0">
      <p:cViewPr varScale="1">
        <p:scale>
          <a:sx n="59" d="100"/>
          <a:sy n="59" d="100"/>
        </p:scale>
        <p:origin x="808" y="5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notesMaster" Target="notesMasters/notesMaster1.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he-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vl1pPr>
          </a:lstStyle>
          <a:p>
            <a:fld id="{31957827-8C2D-4076-A916-84C904EA7792}" type="datetimeFigureOut">
              <a:rPr lang="he-IL" smtClean="0"/>
              <a:t>י'/סיון/תשפ"ד</a:t>
            </a:fld>
            <a:endParaRPr lang="he-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he-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vl1pPr>
          </a:lstStyle>
          <a:p>
            <a:endParaRPr lang="he-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vl1pPr>
          </a:lstStyle>
          <a:p>
            <a:fld id="{3726873D-A266-4EF3-A828-38ACE1A593FA}" type="slidenum">
              <a:rPr lang="he-IL" smtClean="0"/>
              <a:t>‹#›</a:t>
            </a:fld>
            <a:endParaRPr lang="he-IL"/>
          </a:p>
        </p:txBody>
      </p:sp>
    </p:spTree>
    <p:extLst>
      <p:ext uri="{BB962C8B-B14F-4D97-AF65-F5344CB8AC3E}">
        <p14:creationId xmlns:p14="http://schemas.microsoft.com/office/powerpoint/2010/main" val="798331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See also https://calibration-practice.neocities.org/</a:t>
            </a:r>
          </a:p>
          <a:p>
            <a:endParaRPr lang="he-IL" dirty="0"/>
          </a:p>
        </p:txBody>
      </p:sp>
      <p:sp>
        <p:nvSpPr>
          <p:cNvPr id="4" name="Slide Number Placeholder 3"/>
          <p:cNvSpPr>
            <a:spLocks noGrp="1"/>
          </p:cNvSpPr>
          <p:nvPr>
            <p:ph type="sldNum" sz="quarter" idx="5"/>
          </p:nvPr>
        </p:nvSpPr>
        <p:spPr/>
        <p:txBody>
          <a:bodyPr/>
          <a:lstStyle/>
          <a:p>
            <a:fld id="{3726873D-A266-4EF3-A828-38ACE1A593FA}" type="slidenum">
              <a:rPr lang="he-IL" smtClean="0"/>
              <a:t>19</a:t>
            </a:fld>
            <a:endParaRPr lang="he-IL"/>
          </a:p>
        </p:txBody>
      </p:sp>
    </p:spTree>
    <p:extLst>
      <p:ext uri="{BB962C8B-B14F-4D97-AF65-F5344CB8AC3E}">
        <p14:creationId xmlns:p14="http://schemas.microsoft.com/office/powerpoint/2010/main" val="21966017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B4B5F-D909-4A0F-AE4A-E8916C4FB80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he-IL"/>
          </a:p>
        </p:txBody>
      </p:sp>
      <p:sp>
        <p:nvSpPr>
          <p:cNvPr id="3" name="Subtitle 2">
            <a:extLst>
              <a:ext uri="{FF2B5EF4-FFF2-40B4-BE49-F238E27FC236}">
                <a16:creationId xmlns:a16="http://schemas.microsoft.com/office/drawing/2014/main" id="{CF7AAD46-DB96-4530-98A7-889C26342DB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he-IL"/>
          </a:p>
        </p:txBody>
      </p:sp>
      <p:sp>
        <p:nvSpPr>
          <p:cNvPr id="4" name="Date Placeholder 3">
            <a:extLst>
              <a:ext uri="{FF2B5EF4-FFF2-40B4-BE49-F238E27FC236}">
                <a16:creationId xmlns:a16="http://schemas.microsoft.com/office/drawing/2014/main" id="{63EEAD7F-C9D0-481B-9AA8-A7615BAF5D99}"/>
              </a:ext>
            </a:extLst>
          </p:cNvPr>
          <p:cNvSpPr>
            <a:spLocks noGrp="1"/>
          </p:cNvSpPr>
          <p:nvPr>
            <p:ph type="dt" sz="half" idx="10"/>
          </p:nvPr>
        </p:nvSpPr>
        <p:spPr/>
        <p:txBody>
          <a:bodyPr/>
          <a:lstStyle/>
          <a:p>
            <a:fld id="{87DE35E2-AA4F-416D-8CAD-131A18FA01CD}" type="datetimeFigureOut">
              <a:rPr lang="he-IL" smtClean="0"/>
              <a:pPr/>
              <a:t>י'/סיון/תשפ"ד</a:t>
            </a:fld>
            <a:endParaRPr lang="he-IL"/>
          </a:p>
        </p:txBody>
      </p:sp>
      <p:sp>
        <p:nvSpPr>
          <p:cNvPr id="5" name="Footer Placeholder 4">
            <a:extLst>
              <a:ext uri="{FF2B5EF4-FFF2-40B4-BE49-F238E27FC236}">
                <a16:creationId xmlns:a16="http://schemas.microsoft.com/office/drawing/2014/main" id="{03C45C26-70B5-4E9B-B446-B6C3C6FB47B1}"/>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5949CB9B-A674-4D7C-BAE3-F2A48F5CE91C}"/>
              </a:ext>
            </a:extLst>
          </p:cNvPr>
          <p:cNvSpPr>
            <a:spLocks noGrp="1"/>
          </p:cNvSpPr>
          <p:nvPr>
            <p:ph type="sldNum" sz="quarter" idx="12"/>
          </p:nvPr>
        </p:nvSpPr>
        <p:spPr/>
        <p:txBody>
          <a:bodyPr/>
          <a:lstStyle/>
          <a:p>
            <a:fld id="{DC1BA66D-806E-4772-B411-A8999DC4ED47}" type="slidenum">
              <a:rPr lang="he-IL" smtClean="0"/>
              <a:pPr/>
              <a:t>‹#›</a:t>
            </a:fld>
            <a:endParaRPr lang="he-IL"/>
          </a:p>
        </p:txBody>
      </p:sp>
    </p:spTree>
    <p:extLst>
      <p:ext uri="{BB962C8B-B14F-4D97-AF65-F5344CB8AC3E}">
        <p14:creationId xmlns:p14="http://schemas.microsoft.com/office/powerpoint/2010/main" val="42406616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BE075-CE5F-4B81-9B1A-6C6FEFE51BA1}"/>
              </a:ext>
            </a:extLst>
          </p:cNvPr>
          <p:cNvSpPr>
            <a:spLocks noGrp="1"/>
          </p:cNvSpPr>
          <p:nvPr>
            <p:ph type="title"/>
          </p:nvPr>
        </p:nvSpPr>
        <p:spPr/>
        <p:txBody>
          <a:bodyPr/>
          <a:lstStyle/>
          <a:p>
            <a:r>
              <a:rPr lang="en-US"/>
              <a:t>Click to edit Master title style</a:t>
            </a:r>
            <a:endParaRPr lang="he-IL"/>
          </a:p>
        </p:txBody>
      </p:sp>
      <p:sp>
        <p:nvSpPr>
          <p:cNvPr id="3" name="Content Placeholder 2">
            <a:extLst>
              <a:ext uri="{FF2B5EF4-FFF2-40B4-BE49-F238E27FC236}">
                <a16:creationId xmlns:a16="http://schemas.microsoft.com/office/drawing/2014/main" id="{7926E25E-A925-4F3F-9CC7-7F6DCB341490}"/>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24738FEF-D2CF-454D-8F12-DC5C8AAA3A08}"/>
              </a:ext>
            </a:extLst>
          </p:cNvPr>
          <p:cNvSpPr>
            <a:spLocks noGrp="1"/>
          </p:cNvSpPr>
          <p:nvPr>
            <p:ph type="dt" sz="half" idx="10"/>
          </p:nvPr>
        </p:nvSpPr>
        <p:spPr/>
        <p:txBody>
          <a:bodyPr/>
          <a:lstStyle/>
          <a:p>
            <a:fld id="{87DE35E2-AA4F-416D-8CAD-131A18FA01CD}" type="datetimeFigureOut">
              <a:rPr lang="he-IL" smtClean="0"/>
              <a:pPr/>
              <a:t>י'/סיון/תשפ"ד</a:t>
            </a:fld>
            <a:endParaRPr lang="he-IL"/>
          </a:p>
        </p:txBody>
      </p:sp>
      <p:sp>
        <p:nvSpPr>
          <p:cNvPr id="5" name="Footer Placeholder 4">
            <a:extLst>
              <a:ext uri="{FF2B5EF4-FFF2-40B4-BE49-F238E27FC236}">
                <a16:creationId xmlns:a16="http://schemas.microsoft.com/office/drawing/2014/main" id="{C740758F-D25E-40EF-92E1-2AFBA7D42158}"/>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5BF82E25-548E-44CB-A85A-85936C77880D}"/>
              </a:ext>
            </a:extLst>
          </p:cNvPr>
          <p:cNvSpPr>
            <a:spLocks noGrp="1"/>
          </p:cNvSpPr>
          <p:nvPr>
            <p:ph type="sldNum" sz="quarter" idx="12"/>
          </p:nvPr>
        </p:nvSpPr>
        <p:spPr/>
        <p:txBody>
          <a:bodyPr/>
          <a:lstStyle/>
          <a:p>
            <a:fld id="{DC1BA66D-806E-4772-B411-A8999DC4ED47}" type="slidenum">
              <a:rPr lang="he-IL" smtClean="0"/>
              <a:pPr/>
              <a:t>‹#›</a:t>
            </a:fld>
            <a:endParaRPr lang="he-IL"/>
          </a:p>
        </p:txBody>
      </p:sp>
    </p:spTree>
    <p:extLst>
      <p:ext uri="{BB962C8B-B14F-4D97-AF65-F5344CB8AC3E}">
        <p14:creationId xmlns:p14="http://schemas.microsoft.com/office/powerpoint/2010/main" val="1693409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D0211-859A-4E43-875D-A998EBD1FD7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he-IL"/>
          </a:p>
        </p:txBody>
      </p:sp>
      <p:sp>
        <p:nvSpPr>
          <p:cNvPr id="3" name="Text Placeholder 2">
            <a:extLst>
              <a:ext uri="{FF2B5EF4-FFF2-40B4-BE49-F238E27FC236}">
                <a16:creationId xmlns:a16="http://schemas.microsoft.com/office/drawing/2014/main" id="{B0EDEC4E-C4A5-4D71-9D8C-DD8E3C071E1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79586BEF-E7C4-4B20-BEE7-3515AC233348}"/>
              </a:ext>
            </a:extLst>
          </p:cNvPr>
          <p:cNvSpPr>
            <a:spLocks noGrp="1"/>
          </p:cNvSpPr>
          <p:nvPr>
            <p:ph type="dt" sz="half" idx="10"/>
          </p:nvPr>
        </p:nvSpPr>
        <p:spPr/>
        <p:txBody>
          <a:bodyPr/>
          <a:lstStyle/>
          <a:p>
            <a:fld id="{87DE35E2-AA4F-416D-8CAD-131A18FA01CD}" type="datetimeFigureOut">
              <a:rPr lang="he-IL" smtClean="0"/>
              <a:pPr/>
              <a:t>י'/סיון/תשפ"ד</a:t>
            </a:fld>
            <a:endParaRPr lang="he-IL"/>
          </a:p>
        </p:txBody>
      </p:sp>
      <p:sp>
        <p:nvSpPr>
          <p:cNvPr id="5" name="Footer Placeholder 4">
            <a:extLst>
              <a:ext uri="{FF2B5EF4-FFF2-40B4-BE49-F238E27FC236}">
                <a16:creationId xmlns:a16="http://schemas.microsoft.com/office/drawing/2014/main" id="{7B0EC691-D3D2-4F71-95B1-52BAE51A9640}"/>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724755B8-2EB7-447D-9CF0-75B68FAC3A0A}"/>
              </a:ext>
            </a:extLst>
          </p:cNvPr>
          <p:cNvSpPr>
            <a:spLocks noGrp="1"/>
          </p:cNvSpPr>
          <p:nvPr>
            <p:ph type="sldNum" sz="quarter" idx="12"/>
          </p:nvPr>
        </p:nvSpPr>
        <p:spPr/>
        <p:txBody>
          <a:bodyPr/>
          <a:lstStyle/>
          <a:p>
            <a:fld id="{DC1BA66D-806E-4772-B411-A8999DC4ED47}" type="slidenum">
              <a:rPr lang="he-IL" smtClean="0"/>
              <a:pPr/>
              <a:t>‹#›</a:t>
            </a:fld>
            <a:endParaRPr lang="he-IL"/>
          </a:p>
        </p:txBody>
      </p:sp>
    </p:spTree>
    <p:extLst>
      <p:ext uri="{BB962C8B-B14F-4D97-AF65-F5344CB8AC3E}">
        <p14:creationId xmlns:p14="http://schemas.microsoft.com/office/powerpoint/2010/main" val="28756788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D824C-3586-4E3B-845F-CE6A5690CFD7}"/>
              </a:ext>
            </a:extLst>
          </p:cNvPr>
          <p:cNvSpPr>
            <a:spLocks noGrp="1"/>
          </p:cNvSpPr>
          <p:nvPr>
            <p:ph type="title"/>
          </p:nvPr>
        </p:nvSpPr>
        <p:spPr/>
        <p:txBody>
          <a:bodyPr/>
          <a:lstStyle/>
          <a:p>
            <a:r>
              <a:rPr lang="en-US"/>
              <a:t>Click to edit Master title style</a:t>
            </a:r>
            <a:endParaRPr lang="he-IL"/>
          </a:p>
        </p:txBody>
      </p:sp>
      <p:sp>
        <p:nvSpPr>
          <p:cNvPr id="3" name="Content Placeholder 2">
            <a:extLst>
              <a:ext uri="{FF2B5EF4-FFF2-40B4-BE49-F238E27FC236}">
                <a16:creationId xmlns:a16="http://schemas.microsoft.com/office/drawing/2014/main" id="{1C4FE792-12B0-4571-A7F3-47167EFC638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Content Placeholder 3">
            <a:extLst>
              <a:ext uri="{FF2B5EF4-FFF2-40B4-BE49-F238E27FC236}">
                <a16:creationId xmlns:a16="http://schemas.microsoft.com/office/drawing/2014/main" id="{E48FF35C-74F0-4067-8D4A-236DE41AD548}"/>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Date Placeholder 4">
            <a:extLst>
              <a:ext uri="{FF2B5EF4-FFF2-40B4-BE49-F238E27FC236}">
                <a16:creationId xmlns:a16="http://schemas.microsoft.com/office/drawing/2014/main" id="{F1098D18-D13D-4F5F-97AA-E05AC0227316}"/>
              </a:ext>
            </a:extLst>
          </p:cNvPr>
          <p:cNvSpPr>
            <a:spLocks noGrp="1"/>
          </p:cNvSpPr>
          <p:nvPr>
            <p:ph type="dt" sz="half" idx="10"/>
          </p:nvPr>
        </p:nvSpPr>
        <p:spPr/>
        <p:txBody>
          <a:bodyPr/>
          <a:lstStyle/>
          <a:p>
            <a:fld id="{87DE35E2-AA4F-416D-8CAD-131A18FA01CD}" type="datetimeFigureOut">
              <a:rPr lang="he-IL" smtClean="0"/>
              <a:pPr/>
              <a:t>י'/סיון/תשפ"ד</a:t>
            </a:fld>
            <a:endParaRPr lang="he-IL"/>
          </a:p>
        </p:txBody>
      </p:sp>
      <p:sp>
        <p:nvSpPr>
          <p:cNvPr id="6" name="Footer Placeholder 5">
            <a:extLst>
              <a:ext uri="{FF2B5EF4-FFF2-40B4-BE49-F238E27FC236}">
                <a16:creationId xmlns:a16="http://schemas.microsoft.com/office/drawing/2014/main" id="{7D81DCEA-ED13-43B4-AC61-A61BF3032E5B}"/>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BF637409-9DCC-4CF9-9345-A09B76419A96}"/>
              </a:ext>
            </a:extLst>
          </p:cNvPr>
          <p:cNvSpPr>
            <a:spLocks noGrp="1"/>
          </p:cNvSpPr>
          <p:nvPr>
            <p:ph type="sldNum" sz="quarter" idx="12"/>
          </p:nvPr>
        </p:nvSpPr>
        <p:spPr/>
        <p:txBody>
          <a:bodyPr/>
          <a:lstStyle/>
          <a:p>
            <a:fld id="{DC1BA66D-806E-4772-B411-A8999DC4ED47}" type="slidenum">
              <a:rPr lang="he-IL" smtClean="0"/>
              <a:pPr/>
              <a:t>‹#›</a:t>
            </a:fld>
            <a:endParaRPr lang="he-IL"/>
          </a:p>
        </p:txBody>
      </p:sp>
    </p:spTree>
    <p:extLst>
      <p:ext uri="{BB962C8B-B14F-4D97-AF65-F5344CB8AC3E}">
        <p14:creationId xmlns:p14="http://schemas.microsoft.com/office/powerpoint/2010/main" val="21257998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7F7AC-8A53-43DD-9682-7125F36D1C48}"/>
              </a:ext>
            </a:extLst>
          </p:cNvPr>
          <p:cNvSpPr>
            <a:spLocks noGrp="1"/>
          </p:cNvSpPr>
          <p:nvPr>
            <p:ph type="title"/>
          </p:nvPr>
        </p:nvSpPr>
        <p:spPr>
          <a:xfrm>
            <a:off x="839788" y="365125"/>
            <a:ext cx="10515600" cy="1325563"/>
          </a:xfrm>
        </p:spPr>
        <p:txBody>
          <a:bodyPr/>
          <a:lstStyle/>
          <a:p>
            <a:r>
              <a:rPr lang="en-US"/>
              <a:t>Click to edit Master title style</a:t>
            </a:r>
            <a:endParaRPr lang="he-IL"/>
          </a:p>
        </p:txBody>
      </p:sp>
      <p:sp>
        <p:nvSpPr>
          <p:cNvPr id="3" name="Text Placeholder 2">
            <a:extLst>
              <a:ext uri="{FF2B5EF4-FFF2-40B4-BE49-F238E27FC236}">
                <a16:creationId xmlns:a16="http://schemas.microsoft.com/office/drawing/2014/main" id="{48713347-8E70-4997-A438-40503C9AC7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90046AF-E4F8-41C9-BDB3-D7867D06A7C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Text Placeholder 4">
            <a:extLst>
              <a:ext uri="{FF2B5EF4-FFF2-40B4-BE49-F238E27FC236}">
                <a16:creationId xmlns:a16="http://schemas.microsoft.com/office/drawing/2014/main" id="{6A1DEA5A-7C3A-46E1-8911-C7DA3C4004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A38376CD-3DC1-4285-95E4-65C5A76B8A14}"/>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7" name="Date Placeholder 6">
            <a:extLst>
              <a:ext uri="{FF2B5EF4-FFF2-40B4-BE49-F238E27FC236}">
                <a16:creationId xmlns:a16="http://schemas.microsoft.com/office/drawing/2014/main" id="{457F253A-482E-4817-B9C4-33F3C19663FD}"/>
              </a:ext>
            </a:extLst>
          </p:cNvPr>
          <p:cNvSpPr>
            <a:spLocks noGrp="1"/>
          </p:cNvSpPr>
          <p:nvPr>
            <p:ph type="dt" sz="half" idx="10"/>
          </p:nvPr>
        </p:nvSpPr>
        <p:spPr/>
        <p:txBody>
          <a:bodyPr/>
          <a:lstStyle/>
          <a:p>
            <a:fld id="{87DE35E2-AA4F-416D-8CAD-131A18FA01CD}" type="datetimeFigureOut">
              <a:rPr lang="he-IL" smtClean="0"/>
              <a:pPr/>
              <a:t>י'/סיון/תשפ"ד</a:t>
            </a:fld>
            <a:endParaRPr lang="he-IL"/>
          </a:p>
        </p:txBody>
      </p:sp>
      <p:sp>
        <p:nvSpPr>
          <p:cNvPr id="8" name="Footer Placeholder 7">
            <a:extLst>
              <a:ext uri="{FF2B5EF4-FFF2-40B4-BE49-F238E27FC236}">
                <a16:creationId xmlns:a16="http://schemas.microsoft.com/office/drawing/2014/main" id="{1A89278F-E3B4-4899-BCE0-2C94D78587EF}"/>
              </a:ext>
            </a:extLst>
          </p:cNvPr>
          <p:cNvSpPr>
            <a:spLocks noGrp="1"/>
          </p:cNvSpPr>
          <p:nvPr>
            <p:ph type="ftr" sz="quarter" idx="11"/>
          </p:nvPr>
        </p:nvSpPr>
        <p:spPr/>
        <p:txBody>
          <a:bodyPr/>
          <a:lstStyle/>
          <a:p>
            <a:endParaRPr lang="he-IL"/>
          </a:p>
        </p:txBody>
      </p:sp>
      <p:sp>
        <p:nvSpPr>
          <p:cNvPr id="9" name="Slide Number Placeholder 8">
            <a:extLst>
              <a:ext uri="{FF2B5EF4-FFF2-40B4-BE49-F238E27FC236}">
                <a16:creationId xmlns:a16="http://schemas.microsoft.com/office/drawing/2014/main" id="{08447658-BCE7-403B-B87A-967FEC0E4508}"/>
              </a:ext>
            </a:extLst>
          </p:cNvPr>
          <p:cNvSpPr>
            <a:spLocks noGrp="1"/>
          </p:cNvSpPr>
          <p:nvPr>
            <p:ph type="sldNum" sz="quarter" idx="12"/>
          </p:nvPr>
        </p:nvSpPr>
        <p:spPr/>
        <p:txBody>
          <a:bodyPr/>
          <a:lstStyle/>
          <a:p>
            <a:fld id="{DC1BA66D-806E-4772-B411-A8999DC4ED47}" type="slidenum">
              <a:rPr lang="he-IL" smtClean="0"/>
              <a:pPr/>
              <a:t>‹#›</a:t>
            </a:fld>
            <a:endParaRPr lang="he-IL"/>
          </a:p>
        </p:txBody>
      </p:sp>
    </p:spTree>
    <p:extLst>
      <p:ext uri="{BB962C8B-B14F-4D97-AF65-F5344CB8AC3E}">
        <p14:creationId xmlns:p14="http://schemas.microsoft.com/office/powerpoint/2010/main" val="752874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BB7C9-FD12-4A52-8A40-DDF863C402AC}"/>
              </a:ext>
            </a:extLst>
          </p:cNvPr>
          <p:cNvSpPr>
            <a:spLocks noGrp="1"/>
          </p:cNvSpPr>
          <p:nvPr>
            <p:ph type="title"/>
          </p:nvPr>
        </p:nvSpPr>
        <p:spPr/>
        <p:txBody>
          <a:bodyPr/>
          <a:lstStyle/>
          <a:p>
            <a:r>
              <a:rPr lang="en-US"/>
              <a:t>Click to edit Master title style</a:t>
            </a:r>
            <a:endParaRPr lang="he-IL"/>
          </a:p>
        </p:txBody>
      </p:sp>
      <p:sp>
        <p:nvSpPr>
          <p:cNvPr id="3" name="Date Placeholder 2">
            <a:extLst>
              <a:ext uri="{FF2B5EF4-FFF2-40B4-BE49-F238E27FC236}">
                <a16:creationId xmlns:a16="http://schemas.microsoft.com/office/drawing/2014/main" id="{F4C0EF41-FC6C-4920-87D4-6F6ACBA266DD}"/>
              </a:ext>
            </a:extLst>
          </p:cNvPr>
          <p:cNvSpPr>
            <a:spLocks noGrp="1"/>
          </p:cNvSpPr>
          <p:nvPr>
            <p:ph type="dt" sz="half" idx="10"/>
          </p:nvPr>
        </p:nvSpPr>
        <p:spPr/>
        <p:txBody>
          <a:bodyPr/>
          <a:lstStyle/>
          <a:p>
            <a:fld id="{87DE35E2-AA4F-416D-8CAD-131A18FA01CD}" type="datetimeFigureOut">
              <a:rPr lang="he-IL" smtClean="0"/>
              <a:pPr/>
              <a:t>י'/סיון/תשפ"ד</a:t>
            </a:fld>
            <a:endParaRPr lang="he-IL"/>
          </a:p>
        </p:txBody>
      </p:sp>
      <p:sp>
        <p:nvSpPr>
          <p:cNvPr id="4" name="Footer Placeholder 3">
            <a:extLst>
              <a:ext uri="{FF2B5EF4-FFF2-40B4-BE49-F238E27FC236}">
                <a16:creationId xmlns:a16="http://schemas.microsoft.com/office/drawing/2014/main" id="{0EE645A7-665A-4ADB-8B56-FA3DD19BE3F0}"/>
              </a:ext>
            </a:extLst>
          </p:cNvPr>
          <p:cNvSpPr>
            <a:spLocks noGrp="1"/>
          </p:cNvSpPr>
          <p:nvPr>
            <p:ph type="ftr" sz="quarter" idx="11"/>
          </p:nvPr>
        </p:nvSpPr>
        <p:spPr/>
        <p:txBody>
          <a:bodyPr/>
          <a:lstStyle/>
          <a:p>
            <a:endParaRPr lang="he-IL"/>
          </a:p>
        </p:txBody>
      </p:sp>
      <p:sp>
        <p:nvSpPr>
          <p:cNvPr id="5" name="Slide Number Placeholder 4">
            <a:extLst>
              <a:ext uri="{FF2B5EF4-FFF2-40B4-BE49-F238E27FC236}">
                <a16:creationId xmlns:a16="http://schemas.microsoft.com/office/drawing/2014/main" id="{23353175-4232-4760-B963-483F1FCFB819}"/>
              </a:ext>
            </a:extLst>
          </p:cNvPr>
          <p:cNvSpPr>
            <a:spLocks noGrp="1"/>
          </p:cNvSpPr>
          <p:nvPr>
            <p:ph type="sldNum" sz="quarter" idx="12"/>
          </p:nvPr>
        </p:nvSpPr>
        <p:spPr/>
        <p:txBody>
          <a:bodyPr/>
          <a:lstStyle/>
          <a:p>
            <a:fld id="{DC1BA66D-806E-4772-B411-A8999DC4ED47}" type="slidenum">
              <a:rPr lang="he-IL" smtClean="0"/>
              <a:pPr/>
              <a:t>‹#›</a:t>
            </a:fld>
            <a:endParaRPr lang="he-IL"/>
          </a:p>
        </p:txBody>
      </p:sp>
    </p:spTree>
    <p:extLst>
      <p:ext uri="{BB962C8B-B14F-4D97-AF65-F5344CB8AC3E}">
        <p14:creationId xmlns:p14="http://schemas.microsoft.com/office/powerpoint/2010/main" val="16513748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5F0317-2F34-459F-8E47-D7788D12A8D8}"/>
              </a:ext>
            </a:extLst>
          </p:cNvPr>
          <p:cNvSpPr>
            <a:spLocks noGrp="1"/>
          </p:cNvSpPr>
          <p:nvPr>
            <p:ph type="dt" sz="half" idx="10"/>
          </p:nvPr>
        </p:nvSpPr>
        <p:spPr/>
        <p:txBody>
          <a:bodyPr/>
          <a:lstStyle/>
          <a:p>
            <a:fld id="{87DE35E2-AA4F-416D-8CAD-131A18FA01CD}" type="datetimeFigureOut">
              <a:rPr lang="he-IL" smtClean="0"/>
              <a:pPr/>
              <a:t>י'/סיון/תשפ"ד</a:t>
            </a:fld>
            <a:endParaRPr lang="he-IL"/>
          </a:p>
        </p:txBody>
      </p:sp>
      <p:sp>
        <p:nvSpPr>
          <p:cNvPr id="3" name="Footer Placeholder 2">
            <a:extLst>
              <a:ext uri="{FF2B5EF4-FFF2-40B4-BE49-F238E27FC236}">
                <a16:creationId xmlns:a16="http://schemas.microsoft.com/office/drawing/2014/main" id="{08E7C202-727A-4477-991D-CF23CDB687E5}"/>
              </a:ext>
            </a:extLst>
          </p:cNvPr>
          <p:cNvSpPr>
            <a:spLocks noGrp="1"/>
          </p:cNvSpPr>
          <p:nvPr>
            <p:ph type="ftr" sz="quarter" idx="11"/>
          </p:nvPr>
        </p:nvSpPr>
        <p:spPr/>
        <p:txBody>
          <a:bodyPr/>
          <a:lstStyle/>
          <a:p>
            <a:endParaRPr lang="he-IL"/>
          </a:p>
        </p:txBody>
      </p:sp>
      <p:sp>
        <p:nvSpPr>
          <p:cNvPr id="4" name="Slide Number Placeholder 3">
            <a:extLst>
              <a:ext uri="{FF2B5EF4-FFF2-40B4-BE49-F238E27FC236}">
                <a16:creationId xmlns:a16="http://schemas.microsoft.com/office/drawing/2014/main" id="{BF6B0332-63EE-4441-862C-583BF5242280}"/>
              </a:ext>
            </a:extLst>
          </p:cNvPr>
          <p:cNvSpPr>
            <a:spLocks noGrp="1"/>
          </p:cNvSpPr>
          <p:nvPr>
            <p:ph type="sldNum" sz="quarter" idx="12"/>
          </p:nvPr>
        </p:nvSpPr>
        <p:spPr/>
        <p:txBody>
          <a:bodyPr/>
          <a:lstStyle/>
          <a:p>
            <a:fld id="{DC1BA66D-806E-4772-B411-A8999DC4ED47}" type="slidenum">
              <a:rPr lang="he-IL" smtClean="0"/>
              <a:pPr/>
              <a:t>‹#›</a:t>
            </a:fld>
            <a:endParaRPr lang="he-IL"/>
          </a:p>
        </p:txBody>
      </p:sp>
    </p:spTree>
    <p:extLst>
      <p:ext uri="{BB962C8B-B14F-4D97-AF65-F5344CB8AC3E}">
        <p14:creationId xmlns:p14="http://schemas.microsoft.com/office/powerpoint/2010/main" val="24588959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E0E3A-01F4-4694-8FBE-806BAC7D08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e-IL"/>
          </a:p>
        </p:txBody>
      </p:sp>
      <p:sp>
        <p:nvSpPr>
          <p:cNvPr id="3" name="Content Placeholder 2">
            <a:extLst>
              <a:ext uri="{FF2B5EF4-FFF2-40B4-BE49-F238E27FC236}">
                <a16:creationId xmlns:a16="http://schemas.microsoft.com/office/drawing/2014/main" id="{E11B9B2C-7490-4F8B-BC50-6F088A4B62F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Text Placeholder 3">
            <a:extLst>
              <a:ext uri="{FF2B5EF4-FFF2-40B4-BE49-F238E27FC236}">
                <a16:creationId xmlns:a16="http://schemas.microsoft.com/office/drawing/2014/main" id="{3C455E0E-FBDC-4AF2-B5D0-0755509C11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82F0029-C3E8-42A4-887F-655CA5EDA131}"/>
              </a:ext>
            </a:extLst>
          </p:cNvPr>
          <p:cNvSpPr>
            <a:spLocks noGrp="1"/>
          </p:cNvSpPr>
          <p:nvPr>
            <p:ph type="dt" sz="half" idx="10"/>
          </p:nvPr>
        </p:nvSpPr>
        <p:spPr/>
        <p:txBody>
          <a:bodyPr/>
          <a:lstStyle/>
          <a:p>
            <a:fld id="{87DE35E2-AA4F-416D-8CAD-131A18FA01CD}" type="datetimeFigureOut">
              <a:rPr lang="he-IL" smtClean="0"/>
              <a:pPr/>
              <a:t>י'/סיון/תשפ"ד</a:t>
            </a:fld>
            <a:endParaRPr lang="he-IL"/>
          </a:p>
        </p:txBody>
      </p:sp>
      <p:sp>
        <p:nvSpPr>
          <p:cNvPr id="6" name="Footer Placeholder 5">
            <a:extLst>
              <a:ext uri="{FF2B5EF4-FFF2-40B4-BE49-F238E27FC236}">
                <a16:creationId xmlns:a16="http://schemas.microsoft.com/office/drawing/2014/main" id="{CE2C596A-3B2A-4B7C-ACB5-F80175FA1851}"/>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8365BCD4-343D-4C7E-8122-88608C17337A}"/>
              </a:ext>
            </a:extLst>
          </p:cNvPr>
          <p:cNvSpPr>
            <a:spLocks noGrp="1"/>
          </p:cNvSpPr>
          <p:nvPr>
            <p:ph type="sldNum" sz="quarter" idx="12"/>
          </p:nvPr>
        </p:nvSpPr>
        <p:spPr/>
        <p:txBody>
          <a:bodyPr/>
          <a:lstStyle/>
          <a:p>
            <a:fld id="{DC1BA66D-806E-4772-B411-A8999DC4ED47}" type="slidenum">
              <a:rPr lang="he-IL" smtClean="0"/>
              <a:pPr/>
              <a:t>‹#›</a:t>
            </a:fld>
            <a:endParaRPr lang="he-IL"/>
          </a:p>
        </p:txBody>
      </p:sp>
    </p:spTree>
    <p:extLst>
      <p:ext uri="{BB962C8B-B14F-4D97-AF65-F5344CB8AC3E}">
        <p14:creationId xmlns:p14="http://schemas.microsoft.com/office/powerpoint/2010/main" val="22858951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C7E75-3726-4165-B8F5-2C9CB4A9CA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e-IL"/>
          </a:p>
        </p:txBody>
      </p:sp>
      <p:sp>
        <p:nvSpPr>
          <p:cNvPr id="3" name="Picture Placeholder 2">
            <a:extLst>
              <a:ext uri="{FF2B5EF4-FFF2-40B4-BE49-F238E27FC236}">
                <a16:creationId xmlns:a16="http://schemas.microsoft.com/office/drawing/2014/main" id="{5ED8B57B-667F-4DB7-AAB5-4D3DD4192C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Text Placeholder 3">
            <a:extLst>
              <a:ext uri="{FF2B5EF4-FFF2-40B4-BE49-F238E27FC236}">
                <a16:creationId xmlns:a16="http://schemas.microsoft.com/office/drawing/2014/main" id="{648425E8-FA21-4293-ACFE-C6D26FBBBA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DE78913-593C-4B72-8883-746E0ACE2B74}"/>
              </a:ext>
            </a:extLst>
          </p:cNvPr>
          <p:cNvSpPr>
            <a:spLocks noGrp="1"/>
          </p:cNvSpPr>
          <p:nvPr>
            <p:ph type="dt" sz="half" idx="10"/>
          </p:nvPr>
        </p:nvSpPr>
        <p:spPr/>
        <p:txBody>
          <a:bodyPr/>
          <a:lstStyle/>
          <a:p>
            <a:fld id="{87DE35E2-AA4F-416D-8CAD-131A18FA01CD}" type="datetimeFigureOut">
              <a:rPr lang="he-IL" smtClean="0"/>
              <a:pPr/>
              <a:t>י'/סיון/תשפ"ד</a:t>
            </a:fld>
            <a:endParaRPr lang="he-IL"/>
          </a:p>
        </p:txBody>
      </p:sp>
      <p:sp>
        <p:nvSpPr>
          <p:cNvPr id="6" name="Footer Placeholder 5">
            <a:extLst>
              <a:ext uri="{FF2B5EF4-FFF2-40B4-BE49-F238E27FC236}">
                <a16:creationId xmlns:a16="http://schemas.microsoft.com/office/drawing/2014/main" id="{53AD305C-5F63-4E05-A470-741BFA7D8CCA}"/>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A34A4A42-8179-424F-8476-12B319D380B9}"/>
              </a:ext>
            </a:extLst>
          </p:cNvPr>
          <p:cNvSpPr>
            <a:spLocks noGrp="1"/>
          </p:cNvSpPr>
          <p:nvPr>
            <p:ph type="sldNum" sz="quarter" idx="12"/>
          </p:nvPr>
        </p:nvSpPr>
        <p:spPr/>
        <p:txBody>
          <a:bodyPr/>
          <a:lstStyle/>
          <a:p>
            <a:fld id="{DC1BA66D-806E-4772-B411-A8999DC4ED47}" type="slidenum">
              <a:rPr lang="he-IL" smtClean="0"/>
              <a:pPr/>
              <a:t>‹#›</a:t>
            </a:fld>
            <a:endParaRPr lang="he-IL"/>
          </a:p>
        </p:txBody>
      </p:sp>
    </p:spTree>
    <p:extLst>
      <p:ext uri="{BB962C8B-B14F-4D97-AF65-F5344CB8AC3E}">
        <p14:creationId xmlns:p14="http://schemas.microsoft.com/office/powerpoint/2010/main" val="37851511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31D72-DF2E-4214-A883-205E987B428F}"/>
              </a:ext>
            </a:extLst>
          </p:cNvPr>
          <p:cNvSpPr>
            <a:spLocks noGrp="1"/>
          </p:cNvSpPr>
          <p:nvPr>
            <p:ph type="title"/>
          </p:nvPr>
        </p:nvSpPr>
        <p:spPr/>
        <p:txBody>
          <a:bodyPr/>
          <a:lstStyle/>
          <a:p>
            <a:r>
              <a:rPr lang="en-US"/>
              <a:t>Click to edit Master title style</a:t>
            </a:r>
            <a:endParaRPr lang="he-IL"/>
          </a:p>
        </p:txBody>
      </p:sp>
      <p:sp>
        <p:nvSpPr>
          <p:cNvPr id="3" name="Vertical Text Placeholder 2">
            <a:extLst>
              <a:ext uri="{FF2B5EF4-FFF2-40B4-BE49-F238E27FC236}">
                <a16:creationId xmlns:a16="http://schemas.microsoft.com/office/drawing/2014/main" id="{6F4B08F8-E113-47CA-9953-888A1A972B5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2B34C086-0C3D-47CF-A9A9-AD76FCD26FC8}"/>
              </a:ext>
            </a:extLst>
          </p:cNvPr>
          <p:cNvSpPr>
            <a:spLocks noGrp="1"/>
          </p:cNvSpPr>
          <p:nvPr>
            <p:ph type="dt" sz="half" idx="10"/>
          </p:nvPr>
        </p:nvSpPr>
        <p:spPr/>
        <p:txBody>
          <a:bodyPr/>
          <a:lstStyle/>
          <a:p>
            <a:fld id="{87DE35E2-AA4F-416D-8CAD-131A18FA01CD}" type="datetimeFigureOut">
              <a:rPr lang="he-IL" smtClean="0"/>
              <a:pPr/>
              <a:t>י'/סיון/תשפ"ד</a:t>
            </a:fld>
            <a:endParaRPr lang="he-IL"/>
          </a:p>
        </p:txBody>
      </p:sp>
      <p:sp>
        <p:nvSpPr>
          <p:cNvPr id="5" name="Footer Placeholder 4">
            <a:extLst>
              <a:ext uri="{FF2B5EF4-FFF2-40B4-BE49-F238E27FC236}">
                <a16:creationId xmlns:a16="http://schemas.microsoft.com/office/drawing/2014/main" id="{832A1713-6A91-41D8-B26E-24FD0176D7D5}"/>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77714BF7-4ADA-40A7-A2AC-C253B798077D}"/>
              </a:ext>
            </a:extLst>
          </p:cNvPr>
          <p:cNvSpPr>
            <a:spLocks noGrp="1"/>
          </p:cNvSpPr>
          <p:nvPr>
            <p:ph type="sldNum" sz="quarter" idx="12"/>
          </p:nvPr>
        </p:nvSpPr>
        <p:spPr/>
        <p:txBody>
          <a:bodyPr/>
          <a:lstStyle/>
          <a:p>
            <a:fld id="{DC1BA66D-806E-4772-B411-A8999DC4ED47}" type="slidenum">
              <a:rPr lang="he-IL" smtClean="0"/>
              <a:pPr/>
              <a:t>‹#›</a:t>
            </a:fld>
            <a:endParaRPr lang="he-IL"/>
          </a:p>
        </p:txBody>
      </p:sp>
    </p:spTree>
    <p:extLst>
      <p:ext uri="{BB962C8B-B14F-4D97-AF65-F5344CB8AC3E}">
        <p14:creationId xmlns:p14="http://schemas.microsoft.com/office/powerpoint/2010/main" val="803545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4ECE89-DBCF-4240-9129-68F1B28BD58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he-IL"/>
          </a:p>
        </p:txBody>
      </p:sp>
      <p:sp>
        <p:nvSpPr>
          <p:cNvPr id="3" name="Vertical Text Placeholder 2">
            <a:extLst>
              <a:ext uri="{FF2B5EF4-FFF2-40B4-BE49-F238E27FC236}">
                <a16:creationId xmlns:a16="http://schemas.microsoft.com/office/drawing/2014/main" id="{0E17EBCB-DA8F-42F9-B332-A372308F8B2A}"/>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79FC24A2-DB59-47C0-881E-D44D745F5356}"/>
              </a:ext>
            </a:extLst>
          </p:cNvPr>
          <p:cNvSpPr>
            <a:spLocks noGrp="1"/>
          </p:cNvSpPr>
          <p:nvPr>
            <p:ph type="dt" sz="half" idx="10"/>
          </p:nvPr>
        </p:nvSpPr>
        <p:spPr/>
        <p:txBody>
          <a:bodyPr/>
          <a:lstStyle/>
          <a:p>
            <a:fld id="{87DE35E2-AA4F-416D-8CAD-131A18FA01CD}" type="datetimeFigureOut">
              <a:rPr lang="he-IL" smtClean="0"/>
              <a:pPr/>
              <a:t>י'/סיון/תשפ"ד</a:t>
            </a:fld>
            <a:endParaRPr lang="he-IL"/>
          </a:p>
        </p:txBody>
      </p:sp>
      <p:sp>
        <p:nvSpPr>
          <p:cNvPr id="5" name="Footer Placeholder 4">
            <a:extLst>
              <a:ext uri="{FF2B5EF4-FFF2-40B4-BE49-F238E27FC236}">
                <a16:creationId xmlns:a16="http://schemas.microsoft.com/office/drawing/2014/main" id="{12AFD9A9-116E-4A59-93D7-F8F8DE5E73FC}"/>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4F538EDA-AF21-4CD1-B480-A23005E7B725}"/>
              </a:ext>
            </a:extLst>
          </p:cNvPr>
          <p:cNvSpPr>
            <a:spLocks noGrp="1"/>
          </p:cNvSpPr>
          <p:nvPr>
            <p:ph type="sldNum" sz="quarter" idx="12"/>
          </p:nvPr>
        </p:nvSpPr>
        <p:spPr/>
        <p:txBody>
          <a:bodyPr/>
          <a:lstStyle/>
          <a:p>
            <a:fld id="{DC1BA66D-806E-4772-B411-A8999DC4ED47}" type="slidenum">
              <a:rPr lang="he-IL" smtClean="0"/>
              <a:pPr/>
              <a:t>‹#›</a:t>
            </a:fld>
            <a:endParaRPr lang="he-IL"/>
          </a:p>
        </p:txBody>
      </p:sp>
    </p:spTree>
    <p:extLst>
      <p:ext uri="{BB962C8B-B14F-4D97-AF65-F5344CB8AC3E}">
        <p14:creationId xmlns:p14="http://schemas.microsoft.com/office/powerpoint/2010/main" val="21045301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67000">
              <a:schemeClr val="bg1"/>
            </a:gs>
            <a:gs pos="100000">
              <a:schemeClr val="accent1">
                <a:lumMod val="20000"/>
                <a:lumOff val="80000"/>
              </a:schemeClr>
            </a:gs>
          </a:gsLst>
          <a:lin ang="2700000" scaled="0"/>
          <a:tileRect/>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AAA82E-2EFD-4012-80D2-6D8F3C6EE11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he-IL"/>
          </a:p>
        </p:txBody>
      </p:sp>
      <p:sp>
        <p:nvSpPr>
          <p:cNvPr id="3" name="Text Placeholder 2">
            <a:extLst>
              <a:ext uri="{FF2B5EF4-FFF2-40B4-BE49-F238E27FC236}">
                <a16:creationId xmlns:a16="http://schemas.microsoft.com/office/drawing/2014/main" id="{EE8485A9-0C1B-4106-BCBA-4CFCF203D3F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44C7B7FB-F517-4F99-9A3E-B8F650ADF92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DE35E2-AA4F-416D-8CAD-131A18FA01CD}" type="datetimeFigureOut">
              <a:rPr lang="he-IL" smtClean="0"/>
              <a:pPr/>
              <a:t>י'/סיון/תשפ"ד</a:t>
            </a:fld>
            <a:endParaRPr lang="he-IL"/>
          </a:p>
        </p:txBody>
      </p:sp>
      <p:sp>
        <p:nvSpPr>
          <p:cNvPr id="5" name="Footer Placeholder 4">
            <a:extLst>
              <a:ext uri="{FF2B5EF4-FFF2-40B4-BE49-F238E27FC236}">
                <a16:creationId xmlns:a16="http://schemas.microsoft.com/office/drawing/2014/main" id="{11CEB42D-9DCA-4279-8274-DDA14395FDD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he-IL"/>
          </a:p>
        </p:txBody>
      </p:sp>
      <p:sp>
        <p:nvSpPr>
          <p:cNvPr id="6" name="Slide Number Placeholder 5">
            <a:extLst>
              <a:ext uri="{FF2B5EF4-FFF2-40B4-BE49-F238E27FC236}">
                <a16:creationId xmlns:a16="http://schemas.microsoft.com/office/drawing/2014/main" id="{0440FCA6-0B4B-4F79-863E-648587A99B8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C1BA66D-806E-4772-B411-A8999DC4ED47}" type="slidenum">
              <a:rPr lang="he-IL" smtClean="0"/>
              <a:pPr/>
              <a:t>‹#›</a:t>
            </a:fld>
            <a:endParaRPr lang="he-IL"/>
          </a:p>
        </p:txBody>
      </p:sp>
    </p:spTree>
    <p:extLst>
      <p:ext uri="{BB962C8B-B14F-4D97-AF65-F5344CB8AC3E}">
        <p14:creationId xmlns:p14="http://schemas.microsoft.com/office/powerpoint/2010/main" val="21254083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4.gif"/><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05CD7E3-BC41-B998-8A9E-E826D71F1EAB}"/>
              </a:ext>
            </a:extLst>
          </p:cNvPr>
          <p:cNvSpPr txBox="1"/>
          <p:nvPr/>
        </p:nvSpPr>
        <p:spPr>
          <a:xfrm>
            <a:off x="1938872" y="2644170"/>
            <a:ext cx="8314255" cy="2677656"/>
          </a:xfrm>
          <a:prstGeom prst="rect">
            <a:avLst/>
          </a:prstGeom>
          <a:noFill/>
        </p:spPr>
        <p:txBody>
          <a:bodyPr wrap="square">
            <a:spAutoFit/>
          </a:bodyPr>
          <a:lstStyle/>
          <a:p>
            <a:r>
              <a:rPr lang="en-US" sz="2800" dirty="0">
                <a:solidFill>
                  <a:srgbClr val="000000"/>
                </a:solidFill>
                <a:latin typeface="+mj-lt"/>
              </a:rPr>
              <a:t>The danger is profound and terrible; it cannot be waved aside with easy optimism. The fundamental cause of the trouble is that in the modern world the stupid are cocksure while the intelligent are full of doubt.</a:t>
            </a:r>
          </a:p>
          <a:p>
            <a:endParaRPr lang="en-US" sz="2800" dirty="0">
              <a:solidFill>
                <a:srgbClr val="000000"/>
              </a:solidFill>
              <a:latin typeface="+mj-lt"/>
            </a:endParaRPr>
          </a:p>
          <a:p>
            <a:pPr algn="r"/>
            <a:r>
              <a:rPr lang="en-US" sz="2800" dirty="0">
                <a:latin typeface="+mj-lt"/>
              </a:rPr>
              <a:t>--Bertrand Russell, May 1933</a:t>
            </a:r>
            <a:endParaRPr lang="he-IL" sz="2800" dirty="0">
              <a:latin typeface="+mj-lt"/>
            </a:endParaRPr>
          </a:p>
        </p:txBody>
      </p:sp>
    </p:spTree>
    <p:extLst>
      <p:ext uri="{BB962C8B-B14F-4D97-AF65-F5344CB8AC3E}">
        <p14:creationId xmlns:p14="http://schemas.microsoft.com/office/powerpoint/2010/main" val="2323010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FA5B8-69EA-4BF7-B90F-5D897B9EEEF9}"/>
              </a:ext>
            </a:extLst>
          </p:cNvPr>
          <p:cNvSpPr>
            <a:spLocks noGrp="1"/>
          </p:cNvSpPr>
          <p:nvPr>
            <p:ph type="ctrTitle"/>
          </p:nvPr>
        </p:nvSpPr>
        <p:spPr/>
        <p:txBody>
          <a:bodyPr/>
          <a:lstStyle/>
          <a:p>
            <a:r>
              <a:rPr lang="en-US" dirty="0"/>
              <a:t>Critical Thinking</a:t>
            </a:r>
            <a:endParaRPr lang="he-IL" dirty="0"/>
          </a:p>
        </p:txBody>
      </p:sp>
      <p:sp>
        <p:nvSpPr>
          <p:cNvPr id="3" name="Subtitle 2">
            <a:extLst>
              <a:ext uri="{FF2B5EF4-FFF2-40B4-BE49-F238E27FC236}">
                <a16:creationId xmlns:a16="http://schemas.microsoft.com/office/drawing/2014/main" id="{13DFDD2A-576F-4E83-B10A-7EDE8D0B6426}"/>
              </a:ext>
            </a:extLst>
          </p:cNvPr>
          <p:cNvSpPr>
            <a:spLocks noGrp="1"/>
          </p:cNvSpPr>
          <p:nvPr>
            <p:ph type="subTitle" idx="1"/>
          </p:nvPr>
        </p:nvSpPr>
        <p:spPr/>
        <p:txBody>
          <a:bodyPr/>
          <a:lstStyle/>
          <a:p>
            <a:r>
              <a:rPr lang="en-US" dirty="0"/>
              <a:t>Class 10</a:t>
            </a:r>
            <a:endParaRPr lang="he-IL" dirty="0"/>
          </a:p>
        </p:txBody>
      </p:sp>
    </p:spTree>
    <p:extLst>
      <p:ext uri="{BB962C8B-B14F-4D97-AF65-F5344CB8AC3E}">
        <p14:creationId xmlns:p14="http://schemas.microsoft.com/office/powerpoint/2010/main" val="4053634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A36BA-BDAA-484B-9282-7DF3E24FACD4}"/>
              </a:ext>
            </a:extLst>
          </p:cNvPr>
          <p:cNvSpPr>
            <a:spLocks noGrp="1"/>
          </p:cNvSpPr>
          <p:nvPr>
            <p:ph type="title"/>
          </p:nvPr>
        </p:nvSpPr>
        <p:spPr/>
        <p:txBody>
          <a:bodyPr/>
          <a:lstStyle/>
          <a:p>
            <a:r>
              <a:rPr lang="en-US" dirty="0"/>
              <a:t>Last week: confirmation bias</a:t>
            </a:r>
            <a:endParaRPr lang="he-IL" dirty="0"/>
          </a:p>
        </p:txBody>
      </p:sp>
      <p:sp>
        <p:nvSpPr>
          <p:cNvPr id="3" name="Content Placeholder 2">
            <a:extLst>
              <a:ext uri="{FF2B5EF4-FFF2-40B4-BE49-F238E27FC236}">
                <a16:creationId xmlns:a16="http://schemas.microsoft.com/office/drawing/2014/main" id="{22248A8B-6CEB-4FC1-AAF8-C61EC65C55AD}"/>
              </a:ext>
            </a:extLst>
          </p:cNvPr>
          <p:cNvSpPr>
            <a:spLocks noGrp="1"/>
          </p:cNvSpPr>
          <p:nvPr>
            <p:ph idx="1"/>
          </p:nvPr>
        </p:nvSpPr>
        <p:spPr/>
        <p:txBody>
          <a:bodyPr/>
          <a:lstStyle/>
          <a:p>
            <a:pPr marL="0" indent="0">
              <a:buNone/>
            </a:pPr>
            <a:endParaRPr lang="en-US" dirty="0"/>
          </a:p>
        </p:txBody>
      </p:sp>
    </p:spTree>
    <p:extLst>
      <p:ext uri="{BB962C8B-B14F-4D97-AF65-F5344CB8AC3E}">
        <p14:creationId xmlns:p14="http://schemas.microsoft.com/office/powerpoint/2010/main" val="26568543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6503F-DD77-49FC-ACFA-3F0D7DFF090E}"/>
              </a:ext>
            </a:extLst>
          </p:cNvPr>
          <p:cNvSpPr>
            <a:spLocks noGrp="1"/>
          </p:cNvSpPr>
          <p:nvPr>
            <p:ph type="title"/>
          </p:nvPr>
        </p:nvSpPr>
        <p:spPr/>
        <p:txBody>
          <a:bodyPr/>
          <a:lstStyle/>
          <a:p>
            <a:r>
              <a:rPr lang="en-US" dirty="0"/>
              <a:t>Last week: confirmation bias</a:t>
            </a:r>
            <a:endParaRPr lang="he-IL" dirty="0"/>
          </a:p>
        </p:txBody>
      </p:sp>
      <p:sp>
        <p:nvSpPr>
          <p:cNvPr id="3" name="Content Placeholder 2">
            <a:extLst>
              <a:ext uri="{FF2B5EF4-FFF2-40B4-BE49-F238E27FC236}">
                <a16:creationId xmlns:a16="http://schemas.microsoft.com/office/drawing/2014/main" id="{73EC0FAB-2D22-4893-8566-E0ACADB0A207}"/>
              </a:ext>
            </a:extLst>
          </p:cNvPr>
          <p:cNvSpPr>
            <a:spLocks noGrp="1"/>
          </p:cNvSpPr>
          <p:nvPr>
            <p:ph idx="1"/>
          </p:nvPr>
        </p:nvSpPr>
        <p:spPr/>
        <p:txBody>
          <a:bodyPr>
            <a:normAutofit/>
          </a:bodyPr>
          <a:lstStyle/>
          <a:p>
            <a:endParaRPr lang="en-US" dirty="0"/>
          </a:p>
          <a:p>
            <a:pPr marL="0" indent="0">
              <a:buNone/>
            </a:pPr>
            <a:r>
              <a:rPr lang="en-US" dirty="0"/>
              <a:t>The tendency to search for, evaluate and remember information supporting one’s prior beliefs, theories or attitudes</a:t>
            </a:r>
          </a:p>
          <a:p>
            <a:endParaRPr lang="en-US" dirty="0"/>
          </a:p>
        </p:txBody>
      </p:sp>
    </p:spTree>
    <p:extLst>
      <p:ext uri="{BB962C8B-B14F-4D97-AF65-F5344CB8AC3E}">
        <p14:creationId xmlns:p14="http://schemas.microsoft.com/office/powerpoint/2010/main" val="17815079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6503F-DD77-49FC-ACFA-3F0D7DFF090E}"/>
              </a:ext>
            </a:extLst>
          </p:cNvPr>
          <p:cNvSpPr>
            <a:spLocks noGrp="1"/>
          </p:cNvSpPr>
          <p:nvPr>
            <p:ph type="title"/>
          </p:nvPr>
        </p:nvSpPr>
        <p:spPr/>
        <p:txBody>
          <a:bodyPr/>
          <a:lstStyle/>
          <a:p>
            <a:r>
              <a:rPr lang="en-US" dirty="0"/>
              <a:t>Last week: confirmation bias</a:t>
            </a:r>
            <a:endParaRPr lang="he-IL" dirty="0"/>
          </a:p>
        </p:txBody>
      </p:sp>
      <p:sp>
        <p:nvSpPr>
          <p:cNvPr id="3" name="Content Placeholder 2">
            <a:extLst>
              <a:ext uri="{FF2B5EF4-FFF2-40B4-BE49-F238E27FC236}">
                <a16:creationId xmlns:a16="http://schemas.microsoft.com/office/drawing/2014/main" id="{73EC0FAB-2D22-4893-8566-E0ACADB0A207}"/>
              </a:ext>
            </a:extLst>
          </p:cNvPr>
          <p:cNvSpPr>
            <a:spLocks noGrp="1"/>
          </p:cNvSpPr>
          <p:nvPr>
            <p:ph idx="1"/>
          </p:nvPr>
        </p:nvSpPr>
        <p:spPr/>
        <p:txBody>
          <a:bodyPr>
            <a:normAutofit/>
          </a:bodyPr>
          <a:lstStyle/>
          <a:p>
            <a:endParaRPr lang="en-US" dirty="0"/>
          </a:p>
          <a:p>
            <a:pPr marL="0" indent="0">
              <a:buNone/>
            </a:pPr>
            <a:r>
              <a:rPr lang="en-US" dirty="0"/>
              <a:t>The tendency to search for, evaluate and remember information supporting one’s prior beliefs, theories or attitudes</a:t>
            </a:r>
          </a:p>
          <a:p>
            <a:endParaRPr lang="en-US" dirty="0"/>
          </a:p>
          <a:p>
            <a:pPr marL="0" indent="0">
              <a:buNone/>
            </a:pPr>
            <a:r>
              <a:rPr lang="en-US" dirty="0"/>
              <a:t>Mechanisms:</a:t>
            </a:r>
          </a:p>
          <a:p>
            <a:pPr lvl="1"/>
            <a:r>
              <a:rPr lang="en-US" dirty="0"/>
              <a:t>Search for confirming evidence</a:t>
            </a:r>
          </a:p>
          <a:p>
            <a:pPr lvl="1"/>
            <a:r>
              <a:rPr lang="en-US" dirty="0"/>
              <a:t>Interpret ambiguous or mixed evidence as supporting </a:t>
            </a:r>
          </a:p>
          <a:p>
            <a:pPr lvl="2"/>
            <a:r>
              <a:rPr lang="en-US" dirty="0"/>
              <a:t>Reject contradictory evidence</a:t>
            </a:r>
          </a:p>
          <a:p>
            <a:pPr lvl="1"/>
            <a:r>
              <a:rPr lang="en-US" dirty="0"/>
              <a:t>Forget previously encountered contradictory evidence</a:t>
            </a:r>
          </a:p>
        </p:txBody>
      </p:sp>
    </p:spTree>
    <p:extLst>
      <p:ext uri="{BB962C8B-B14F-4D97-AF65-F5344CB8AC3E}">
        <p14:creationId xmlns:p14="http://schemas.microsoft.com/office/powerpoint/2010/main" val="33287253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6503F-DD77-49FC-ACFA-3F0D7DFF090E}"/>
              </a:ext>
            </a:extLst>
          </p:cNvPr>
          <p:cNvSpPr>
            <a:spLocks noGrp="1"/>
          </p:cNvSpPr>
          <p:nvPr>
            <p:ph type="title"/>
          </p:nvPr>
        </p:nvSpPr>
        <p:spPr/>
        <p:txBody>
          <a:bodyPr/>
          <a:lstStyle/>
          <a:p>
            <a:r>
              <a:rPr lang="en-US" dirty="0"/>
              <a:t>Last week: confirmation bias</a:t>
            </a:r>
            <a:endParaRPr lang="he-IL" dirty="0"/>
          </a:p>
        </p:txBody>
      </p:sp>
      <p:sp>
        <p:nvSpPr>
          <p:cNvPr id="3" name="Content Placeholder 2">
            <a:extLst>
              <a:ext uri="{FF2B5EF4-FFF2-40B4-BE49-F238E27FC236}">
                <a16:creationId xmlns:a16="http://schemas.microsoft.com/office/drawing/2014/main" id="{73EC0FAB-2D22-4893-8566-E0ACADB0A207}"/>
              </a:ext>
            </a:extLst>
          </p:cNvPr>
          <p:cNvSpPr>
            <a:spLocks noGrp="1"/>
          </p:cNvSpPr>
          <p:nvPr>
            <p:ph idx="1"/>
          </p:nvPr>
        </p:nvSpPr>
        <p:spPr/>
        <p:txBody>
          <a:bodyPr>
            <a:normAutofit/>
          </a:bodyPr>
          <a:lstStyle/>
          <a:p>
            <a:pPr marL="0" indent="0">
              <a:buNone/>
            </a:pPr>
            <a:r>
              <a:rPr lang="en-US" dirty="0"/>
              <a:t>The tendency to search for, evaluate and remember information supporting one’s prior beliefs, theories or attitudes</a:t>
            </a:r>
          </a:p>
          <a:p>
            <a:endParaRPr lang="en-US" dirty="0"/>
          </a:p>
          <a:p>
            <a:pPr marL="0" indent="0">
              <a:buNone/>
            </a:pPr>
            <a:r>
              <a:rPr lang="en-US" b="1" dirty="0"/>
              <a:t>Consequences:</a:t>
            </a:r>
          </a:p>
          <a:p>
            <a:r>
              <a:rPr lang="en-US" dirty="0"/>
              <a:t>Belief perseverance</a:t>
            </a:r>
          </a:p>
          <a:p>
            <a:r>
              <a:rPr lang="en-US" dirty="0"/>
              <a:t>Primacy effect</a:t>
            </a:r>
          </a:p>
          <a:p>
            <a:r>
              <a:rPr lang="en-US" dirty="0"/>
              <a:t>Attitude polarization</a:t>
            </a:r>
          </a:p>
          <a:p>
            <a:r>
              <a:rPr lang="en-US" dirty="0"/>
              <a:t>…</a:t>
            </a:r>
          </a:p>
          <a:p>
            <a:pPr marL="0" indent="0">
              <a:buNone/>
            </a:pPr>
            <a:endParaRPr lang="en-US" dirty="0"/>
          </a:p>
        </p:txBody>
      </p:sp>
    </p:spTree>
    <p:extLst>
      <p:ext uri="{BB962C8B-B14F-4D97-AF65-F5344CB8AC3E}">
        <p14:creationId xmlns:p14="http://schemas.microsoft.com/office/powerpoint/2010/main" val="11583637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6DD13-A2A5-4494-9F6B-6BA4557BF558}"/>
              </a:ext>
            </a:extLst>
          </p:cNvPr>
          <p:cNvSpPr>
            <a:spLocks noGrp="1"/>
          </p:cNvSpPr>
          <p:nvPr>
            <p:ph type="title"/>
          </p:nvPr>
        </p:nvSpPr>
        <p:spPr/>
        <p:txBody>
          <a:bodyPr/>
          <a:lstStyle/>
          <a:p>
            <a:r>
              <a:rPr lang="en-US" dirty="0"/>
              <a:t>Belief perseverance</a:t>
            </a:r>
            <a:endParaRPr lang="he-IL" dirty="0"/>
          </a:p>
        </p:txBody>
      </p:sp>
      <p:sp>
        <p:nvSpPr>
          <p:cNvPr id="3" name="Content Placeholder 2">
            <a:extLst>
              <a:ext uri="{FF2B5EF4-FFF2-40B4-BE49-F238E27FC236}">
                <a16:creationId xmlns:a16="http://schemas.microsoft.com/office/drawing/2014/main" id="{BFE07668-C0CB-4D83-B4A3-DF0DBED6DECF}"/>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684885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6DD13-A2A5-4494-9F6B-6BA4557BF558}"/>
              </a:ext>
            </a:extLst>
          </p:cNvPr>
          <p:cNvSpPr>
            <a:spLocks noGrp="1"/>
          </p:cNvSpPr>
          <p:nvPr>
            <p:ph type="title"/>
          </p:nvPr>
        </p:nvSpPr>
        <p:spPr/>
        <p:txBody>
          <a:bodyPr/>
          <a:lstStyle/>
          <a:p>
            <a:r>
              <a:rPr lang="en-US" dirty="0"/>
              <a:t>Belief perseverance</a:t>
            </a:r>
            <a:endParaRPr lang="he-IL" dirty="0"/>
          </a:p>
        </p:txBody>
      </p:sp>
      <p:sp>
        <p:nvSpPr>
          <p:cNvPr id="3" name="Content Placeholder 2">
            <a:extLst>
              <a:ext uri="{FF2B5EF4-FFF2-40B4-BE49-F238E27FC236}">
                <a16:creationId xmlns:a16="http://schemas.microsoft.com/office/drawing/2014/main" id="{BFE07668-C0CB-4D83-B4A3-DF0DBED6DECF}"/>
              </a:ext>
            </a:extLst>
          </p:cNvPr>
          <p:cNvSpPr>
            <a:spLocks noGrp="1"/>
          </p:cNvSpPr>
          <p:nvPr>
            <p:ph idx="1"/>
          </p:nvPr>
        </p:nvSpPr>
        <p:spPr/>
        <p:txBody>
          <a:bodyPr/>
          <a:lstStyle/>
          <a:p>
            <a:endParaRPr lang="en-US" dirty="0"/>
          </a:p>
          <a:p>
            <a:r>
              <a:rPr lang="en-US" dirty="0"/>
              <a:t>Once we believe something, we often ignore contradictory evidence</a:t>
            </a:r>
            <a:endParaRPr lang="he-IL" dirty="0"/>
          </a:p>
        </p:txBody>
      </p:sp>
      <p:pic>
        <p:nvPicPr>
          <p:cNvPr id="4" name="Picture 2" descr="Yom Kippur War Montage.png">
            <a:extLst>
              <a:ext uri="{FF2B5EF4-FFF2-40B4-BE49-F238E27FC236}">
                <a16:creationId xmlns:a16="http://schemas.microsoft.com/office/drawing/2014/main" id="{4DDFE02C-FD4E-9518-A4F4-28AEF565178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70928" r="62249"/>
          <a:stretch/>
        </p:blipFill>
        <p:spPr bwMode="auto">
          <a:xfrm>
            <a:off x="7931196" y="3333473"/>
            <a:ext cx="3214541" cy="28434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847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6DD13-A2A5-4494-9F6B-6BA4557BF558}"/>
              </a:ext>
            </a:extLst>
          </p:cNvPr>
          <p:cNvSpPr>
            <a:spLocks noGrp="1"/>
          </p:cNvSpPr>
          <p:nvPr>
            <p:ph type="title"/>
          </p:nvPr>
        </p:nvSpPr>
        <p:spPr/>
        <p:txBody>
          <a:bodyPr/>
          <a:lstStyle/>
          <a:p>
            <a:r>
              <a:rPr lang="en-US" dirty="0"/>
              <a:t>Primacy effect</a:t>
            </a:r>
          </a:p>
        </p:txBody>
      </p:sp>
      <p:sp>
        <p:nvSpPr>
          <p:cNvPr id="3" name="Content Placeholder 2">
            <a:extLst>
              <a:ext uri="{FF2B5EF4-FFF2-40B4-BE49-F238E27FC236}">
                <a16:creationId xmlns:a16="http://schemas.microsoft.com/office/drawing/2014/main" id="{BFE07668-C0CB-4D83-B4A3-DF0DBED6DECF}"/>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16101718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6DD13-A2A5-4494-9F6B-6BA4557BF558}"/>
              </a:ext>
            </a:extLst>
          </p:cNvPr>
          <p:cNvSpPr>
            <a:spLocks noGrp="1"/>
          </p:cNvSpPr>
          <p:nvPr>
            <p:ph type="title"/>
          </p:nvPr>
        </p:nvSpPr>
        <p:spPr/>
        <p:txBody>
          <a:bodyPr/>
          <a:lstStyle/>
          <a:p>
            <a:r>
              <a:rPr lang="en-US" dirty="0"/>
              <a:t>Primacy effect</a:t>
            </a:r>
          </a:p>
        </p:txBody>
      </p:sp>
      <p:sp>
        <p:nvSpPr>
          <p:cNvPr id="3" name="Content Placeholder 2">
            <a:extLst>
              <a:ext uri="{FF2B5EF4-FFF2-40B4-BE49-F238E27FC236}">
                <a16:creationId xmlns:a16="http://schemas.microsoft.com/office/drawing/2014/main" id="{BFE07668-C0CB-4D83-B4A3-DF0DBED6DECF}"/>
              </a:ext>
            </a:extLst>
          </p:cNvPr>
          <p:cNvSpPr>
            <a:spLocks noGrp="1"/>
          </p:cNvSpPr>
          <p:nvPr>
            <p:ph idx="1"/>
          </p:nvPr>
        </p:nvSpPr>
        <p:spPr/>
        <p:txBody>
          <a:bodyPr/>
          <a:lstStyle/>
          <a:p>
            <a:endParaRPr lang="en-US" dirty="0"/>
          </a:p>
          <a:p>
            <a:r>
              <a:rPr lang="en-US" dirty="0"/>
              <a:t>The first piece of information we encounter forms an impression which we later tend to “confirm”</a:t>
            </a:r>
            <a:endParaRPr lang="he-IL" dirty="0"/>
          </a:p>
        </p:txBody>
      </p:sp>
    </p:spTree>
    <p:extLst>
      <p:ext uri="{BB962C8B-B14F-4D97-AF65-F5344CB8AC3E}">
        <p14:creationId xmlns:p14="http://schemas.microsoft.com/office/powerpoint/2010/main" val="32593380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6DD13-A2A5-4494-9F6B-6BA4557BF558}"/>
              </a:ext>
            </a:extLst>
          </p:cNvPr>
          <p:cNvSpPr>
            <a:spLocks noGrp="1"/>
          </p:cNvSpPr>
          <p:nvPr>
            <p:ph type="title"/>
          </p:nvPr>
        </p:nvSpPr>
        <p:spPr/>
        <p:txBody>
          <a:bodyPr/>
          <a:lstStyle/>
          <a:p>
            <a:r>
              <a:rPr lang="en-US" dirty="0"/>
              <a:t>Primacy effect</a:t>
            </a:r>
          </a:p>
        </p:txBody>
      </p:sp>
      <p:sp>
        <p:nvSpPr>
          <p:cNvPr id="3" name="Content Placeholder 2">
            <a:extLst>
              <a:ext uri="{FF2B5EF4-FFF2-40B4-BE49-F238E27FC236}">
                <a16:creationId xmlns:a16="http://schemas.microsoft.com/office/drawing/2014/main" id="{BFE07668-C0CB-4D83-B4A3-DF0DBED6DECF}"/>
              </a:ext>
            </a:extLst>
          </p:cNvPr>
          <p:cNvSpPr>
            <a:spLocks noGrp="1"/>
          </p:cNvSpPr>
          <p:nvPr>
            <p:ph idx="1"/>
          </p:nvPr>
        </p:nvSpPr>
        <p:spPr/>
        <p:txBody>
          <a:bodyPr/>
          <a:lstStyle/>
          <a:p>
            <a:endParaRPr lang="en-US" dirty="0"/>
          </a:p>
          <a:p>
            <a:r>
              <a:rPr lang="en-US" dirty="0"/>
              <a:t>The first piece of information we encounter forms an impression which we later tend to “confirm”</a:t>
            </a:r>
          </a:p>
          <a:p>
            <a:endParaRPr lang="en-US" dirty="0"/>
          </a:p>
          <a:p>
            <a:pPr marL="0" indent="0">
              <a:buNone/>
            </a:pPr>
            <a:r>
              <a:rPr lang="en-US" dirty="0"/>
              <a:t>John is: Intelligent, industrious, impulsive, critical, stubborn, envious</a:t>
            </a:r>
          </a:p>
          <a:p>
            <a:endParaRPr lang="en-US" dirty="0"/>
          </a:p>
          <a:p>
            <a:pPr marL="0" indent="0">
              <a:buNone/>
            </a:pPr>
            <a:r>
              <a:rPr lang="en-US" dirty="0"/>
              <a:t>John is: Envious, stubborn, critical, impulsive, industrious, intelligent</a:t>
            </a:r>
          </a:p>
          <a:p>
            <a:endParaRPr lang="he-IL" dirty="0"/>
          </a:p>
        </p:txBody>
      </p:sp>
    </p:spTree>
    <p:extLst>
      <p:ext uri="{BB962C8B-B14F-4D97-AF65-F5344CB8AC3E}">
        <p14:creationId xmlns:p14="http://schemas.microsoft.com/office/powerpoint/2010/main" val="2289919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6DD13-A2A5-4494-9F6B-6BA4557BF558}"/>
              </a:ext>
            </a:extLst>
          </p:cNvPr>
          <p:cNvSpPr>
            <a:spLocks noGrp="1"/>
          </p:cNvSpPr>
          <p:nvPr>
            <p:ph type="title"/>
          </p:nvPr>
        </p:nvSpPr>
        <p:spPr/>
        <p:txBody>
          <a:bodyPr/>
          <a:lstStyle/>
          <a:p>
            <a:r>
              <a:rPr lang="en-US" dirty="0"/>
              <a:t>Attitude polarization</a:t>
            </a:r>
          </a:p>
        </p:txBody>
      </p:sp>
      <p:sp>
        <p:nvSpPr>
          <p:cNvPr id="3" name="Content Placeholder 2">
            <a:extLst>
              <a:ext uri="{FF2B5EF4-FFF2-40B4-BE49-F238E27FC236}">
                <a16:creationId xmlns:a16="http://schemas.microsoft.com/office/drawing/2014/main" id="{BFE07668-C0CB-4D83-B4A3-DF0DBED6DECF}"/>
              </a:ext>
            </a:extLst>
          </p:cNvPr>
          <p:cNvSpPr>
            <a:spLocks noGrp="1"/>
          </p:cNvSpPr>
          <p:nvPr>
            <p:ph idx="1"/>
          </p:nvPr>
        </p:nvSpPr>
        <p:spPr/>
        <p:txBody>
          <a:bodyPr/>
          <a:lstStyle/>
          <a:p>
            <a:pPr marL="0" indent="0">
              <a:buNone/>
            </a:pPr>
            <a:endParaRPr lang="en-US" dirty="0"/>
          </a:p>
          <a:p>
            <a:pPr marL="0" indent="0">
              <a:buNone/>
            </a:pPr>
            <a:endParaRPr lang="en-US" dirty="0"/>
          </a:p>
          <a:p>
            <a:endParaRPr lang="en-US" dirty="0"/>
          </a:p>
          <a:p>
            <a:endParaRPr lang="en-US" dirty="0"/>
          </a:p>
        </p:txBody>
      </p:sp>
    </p:spTree>
    <p:extLst>
      <p:ext uri="{BB962C8B-B14F-4D97-AF65-F5344CB8AC3E}">
        <p14:creationId xmlns:p14="http://schemas.microsoft.com/office/powerpoint/2010/main" val="41358303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6DD13-A2A5-4494-9F6B-6BA4557BF558}"/>
              </a:ext>
            </a:extLst>
          </p:cNvPr>
          <p:cNvSpPr>
            <a:spLocks noGrp="1"/>
          </p:cNvSpPr>
          <p:nvPr>
            <p:ph type="title"/>
          </p:nvPr>
        </p:nvSpPr>
        <p:spPr/>
        <p:txBody>
          <a:bodyPr/>
          <a:lstStyle/>
          <a:p>
            <a:r>
              <a:rPr lang="en-US" dirty="0"/>
              <a:t>Attitude polarization</a:t>
            </a:r>
          </a:p>
        </p:txBody>
      </p:sp>
      <p:sp>
        <p:nvSpPr>
          <p:cNvPr id="3" name="Content Placeholder 2">
            <a:extLst>
              <a:ext uri="{FF2B5EF4-FFF2-40B4-BE49-F238E27FC236}">
                <a16:creationId xmlns:a16="http://schemas.microsoft.com/office/drawing/2014/main" id="{BFE07668-C0CB-4D83-B4A3-DF0DBED6DECF}"/>
              </a:ext>
            </a:extLst>
          </p:cNvPr>
          <p:cNvSpPr>
            <a:spLocks noGrp="1"/>
          </p:cNvSpPr>
          <p:nvPr>
            <p:ph idx="1"/>
          </p:nvPr>
        </p:nvSpPr>
        <p:spPr/>
        <p:txBody>
          <a:bodyPr/>
          <a:lstStyle/>
          <a:p>
            <a:pPr marL="0" indent="0">
              <a:buNone/>
            </a:pPr>
            <a:endParaRPr lang="en-US" dirty="0"/>
          </a:p>
          <a:p>
            <a:r>
              <a:rPr lang="en-US" dirty="0"/>
              <a:t>When faced with mixed evidence, people tend to become more sure of their initial position</a:t>
            </a:r>
          </a:p>
          <a:p>
            <a:endParaRPr lang="en-US" dirty="0"/>
          </a:p>
        </p:txBody>
      </p:sp>
      <p:pic>
        <p:nvPicPr>
          <p:cNvPr id="4" name="Picture 2" descr="Democrats and Republicans More Ideologically Divided than in the Past">
            <a:extLst>
              <a:ext uri="{FF2B5EF4-FFF2-40B4-BE49-F238E27FC236}">
                <a16:creationId xmlns:a16="http://schemas.microsoft.com/office/drawing/2014/main" id="{355E9239-3295-C719-936F-15A1974B35A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2721"/>
          <a:stretch/>
        </p:blipFill>
        <p:spPr bwMode="auto">
          <a:xfrm>
            <a:off x="4861201" y="3548570"/>
            <a:ext cx="6096000" cy="29443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5521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65F00-23B8-430F-8EB4-3EAF3CC05CE2}"/>
              </a:ext>
            </a:extLst>
          </p:cNvPr>
          <p:cNvSpPr>
            <a:spLocks noGrp="1"/>
          </p:cNvSpPr>
          <p:nvPr>
            <p:ph type="title"/>
          </p:nvPr>
        </p:nvSpPr>
        <p:spPr/>
        <p:txBody>
          <a:bodyPr/>
          <a:lstStyle/>
          <a:p>
            <a:r>
              <a:rPr lang="en-US" dirty="0"/>
              <a:t>A course in knowing about thinking</a:t>
            </a:r>
            <a:endParaRPr lang="he-IL" dirty="0"/>
          </a:p>
        </p:txBody>
      </p:sp>
      <p:sp>
        <p:nvSpPr>
          <p:cNvPr id="3" name="Content Placeholder 2">
            <a:extLst>
              <a:ext uri="{FF2B5EF4-FFF2-40B4-BE49-F238E27FC236}">
                <a16:creationId xmlns:a16="http://schemas.microsoft.com/office/drawing/2014/main" id="{583EF05E-4E8D-473A-A1A4-B83DC4FCC039}"/>
              </a:ext>
            </a:extLst>
          </p:cNvPr>
          <p:cNvSpPr>
            <a:spLocks noGrp="1"/>
          </p:cNvSpPr>
          <p:nvPr>
            <p:ph idx="1"/>
          </p:nvPr>
        </p:nvSpPr>
        <p:spPr/>
        <p:txBody>
          <a:bodyPr>
            <a:noAutofit/>
          </a:bodyPr>
          <a:lstStyle/>
          <a:p>
            <a:pPr marL="0" indent="0">
              <a:buNone/>
            </a:pPr>
            <a:r>
              <a:rPr lang="en-US" sz="2400" dirty="0"/>
              <a:t>So far in this course:</a:t>
            </a:r>
          </a:p>
        </p:txBody>
      </p:sp>
    </p:spTree>
    <p:extLst>
      <p:ext uri="{BB962C8B-B14F-4D97-AF65-F5344CB8AC3E}">
        <p14:creationId xmlns:p14="http://schemas.microsoft.com/office/powerpoint/2010/main" val="11828685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65F00-23B8-430F-8EB4-3EAF3CC05CE2}"/>
              </a:ext>
            </a:extLst>
          </p:cNvPr>
          <p:cNvSpPr>
            <a:spLocks noGrp="1"/>
          </p:cNvSpPr>
          <p:nvPr>
            <p:ph type="title"/>
          </p:nvPr>
        </p:nvSpPr>
        <p:spPr/>
        <p:txBody>
          <a:bodyPr/>
          <a:lstStyle/>
          <a:p>
            <a:r>
              <a:rPr lang="en-US" dirty="0"/>
              <a:t>A course in knowing about thinking</a:t>
            </a:r>
            <a:endParaRPr lang="he-IL" dirty="0"/>
          </a:p>
        </p:txBody>
      </p:sp>
      <p:sp>
        <p:nvSpPr>
          <p:cNvPr id="3" name="Content Placeholder 2">
            <a:extLst>
              <a:ext uri="{FF2B5EF4-FFF2-40B4-BE49-F238E27FC236}">
                <a16:creationId xmlns:a16="http://schemas.microsoft.com/office/drawing/2014/main" id="{583EF05E-4E8D-473A-A1A4-B83DC4FCC039}"/>
              </a:ext>
            </a:extLst>
          </p:cNvPr>
          <p:cNvSpPr>
            <a:spLocks noGrp="1"/>
          </p:cNvSpPr>
          <p:nvPr>
            <p:ph idx="1"/>
          </p:nvPr>
        </p:nvSpPr>
        <p:spPr/>
        <p:txBody>
          <a:bodyPr>
            <a:noAutofit/>
          </a:bodyPr>
          <a:lstStyle/>
          <a:p>
            <a:pPr marL="0" indent="0">
              <a:buNone/>
            </a:pPr>
            <a:r>
              <a:rPr lang="en-US" sz="2400" dirty="0"/>
              <a:t>So far in this course:</a:t>
            </a:r>
          </a:p>
          <a:p>
            <a:r>
              <a:rPr lang="en-US" sz="2400" dirty="0"/>
              <a:t>Two systems framework </a:t>
            </a:r>
          </a:p>
          <a:p>
            <a:pPr lvl="1"/>
            <a:r>
              <a:rPr lang="en-US" dirty="0"/>
              <a:t>System 1 – intuitive, heuristic</a:t>
            </a:r>
          </a:p>
          <a:p>
            <a:pPr lvl="1"/>
            <a:r>
              <a:rPr lang="en-US" dirty="0"/>
              <a:t>System 2 – formal, logical</a:t>
            </a:r>
          </a:p>
        </p:txBody>
      </p:sp>
    </p:spTree>
    <p:extLst>
      <p:ext uri="{BB962C8B-B14F-4D97-AF65-F5344CB8AC3E}">
        <p14:creationId xmlns:p14="http://schemas.microsoft.com/office/powerpoint/2010/main" val="6148926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65F00-23B8-430F-8EB4-3EAF3CC05CE2}"/>
              </a:ext>
            </a:extLst>
          </p:cNvPr>
          <p:cNvSpPr>
            <a:spLocks noGrp="1"/>
          </p:cNvSpPr>
          <p:nvPr>
            <p:ph type="title"/>
          </p:nvPr>
        </p:nvSpPr>
        <p:spPr/>
        <p:txBody>
          <a:bodyPr/>
          <a:lstStyle/>
          <a:p>
            <a:r>
              <a:rPr lang="en-US" dirty="0"/>
              <a:t>A course in knowing about thinking</a:t>
            </a:r>
            <a:endParaRPr lang="he-IL" dirty="0"/>
          </a:p>
        </p:txBody>
      </p:sp>
      <p:sp>
        <p:nvSpPr>
          <p:cNvPr id="3" name="Content Placeholder 2">
            <a:extLst>
              <a:ext uri="{FF2B5EF4-FFF2-40B4-BE49-F238E27FC236}">
                <a16:creationId xmlns:a16="http://schemas.microsoft.com/office/drawing/2014/main" id="{583EF05E-4E8D-473A-A1A4-B83DC4FCC039}"/>
              </a:ext>
            </a:extLst>
          </p:cNvPr>
          <p:cNvSpPr>
            <a:spLocks noGrp="1"/>
          </p:cNvSpPr>
          <p:nvPr>
            <p:ph idx="1"/>
          </p:nvPr>
        </p:nvSpPr>
        <p:spPr/>
        <p:txBody>
          <a:bodyPr>
            <a:noAutofit/>
          </a:bodyPr>
          <a:lstStyle/>
          <a:p>
            <a:pPr marL="0" indent="0">
              <a:buNone/>
            </a:pPr>
            <a:r>
              <a:rPr lang="en-US" sz="2400" dirty="0"/>
              <a:t>So far in this course:</a:t>
            </a:r>
          </a:p>
          <a:p>
            <a:r>
              <a:rPr lang="en-US" sz="2400" dirty="0"/>
              <a:t>Two systems framework </a:t>
            </a:r>
          </a:p>
          <a:p>
            <a:pPr lvl="1"/>
            <a:r>
              <a:rPr lang="en-US" dirty="0"/>
              <a:t>System 1 – intuitive, heuristic</a:t>
            </a:r>
          </a:p>
          <a:p>
            <a:pPr lvl="1"/>
            <a:r>
              <a:rPr lang="en-US" dirty="0"/>
              <a:t>System 2 – formal, logical</a:t>
            </a:r>
          </a:p>
          <a:p>
            <a:r>
              <a:rPr lang="en-US" sz="2400" dirty="0"/>
              <a:t>Scientific method of thinking:</a:t>
            </a:r>
          </a:p>
          <a:p>
            <a:pPr lvl="1"/>
            <a:r>
              <a:rPr lang="en-US" dirty="0"/>
              <a:t>Correlation vs. causation</a:t>
            </a:r>
          </a:p>
          <a:p>
            <a:pPr lvl="1"/>
            <a:r>
              <a:rPr lang="en-US" dirty="0"/>
              <a:t>Controlled experiments</a:t>
            </a:r>
          </a:p>
          <a:p>
            <a:pPr lvl="1"/>
            <a:r>
              <a:rPr lang="en-US" dirty="0"/>
              <a:t>Learning from data</a:t>
            </a:r>
          </a:p>
        </p:txBody>
      </p:sp>
    </p:spTree>
    <p:extLst>
      <p:ext uri="{BB962C8B-B14F-4D97-AF65-F5344CB8AC3E}">
        <p14:creationId xmlns:p14="http://schemas.microsoft.com/office/powerpoint/2010/main" val="29086913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65F00-23B8-430F-8EB4-3EAF3CC05CE2}"/>
              </a:ext>
            </a:extLst>
          </p:cNvPr>
          <p:cNvSpPr>
            <a:spLocks noGrp="1"/>
          </p:cNvSpPr>
          <p:nvPr>
            <p:ph type="title"/>
          </p:nvPr>
        </p:nvSpPr>
        <p:spPr/>
        <p:txBody>
          <a:bodyPr/>
          <a:lstStyle/>
          <a:p>
            <a:r>
              <a:rPr lang="en-US" dirty="0"/>
              <a:t>A course in knowing about thinking</a:t>
            </a:r>
            <a:endParaRPr lang="he-IL" dirty="0"/>
          </a:p>
        </p:txBody>
      </p:sp>
      <p:sp>
        <p:nvSpPr>
          <p:cNvPr id="3" name="Content Placeholder 2">
            <a:extLst>
              <a:ext uri="{FF2B5EF4-FFF2-40B4-BE49-F238E27FC236}">
                <a16:creationId xmlns:a16="http://schemas.microsoft.com/office/drawing/2014/main" id="{583EF05E-4E8D-473A-A1A4-B83DC4FCC039}"/>
              </a:ext>
            </a:extLst>
          </p:cNvPr>
          <p:cNvSpPr>
            <a:spLocks noGrp="1"/>
          </p:cNvSpPr>
          <p:nvPr>
            <p:ph idx="1"/>
          </p:nvPr>
        </p:nvSpPr>
        <p:spPr/>
        <p:txBody>
          <a:bodyPr>
            <a:noAutofit/>
          </a:bodyPr>
          <a:lstStyle/>
          <a:p>
            <a:pPr marL="0" indent="0">
              <a:buNone/>
            </a:pPr>
            <a:r>
              <a:rPr lang="en-US" sz="2400" dirty="0"/>
              <a:t>So far in this course:</a:t>
            </a:r>
          </a:p>
          <a:p>
            <a:r>
              <a:rPr lang="en-US" sz="2400" dirty="0"/>
              <a:t>Two systems framework </a:t>
            </a:r>
          </a:p>
          <a:p>
            <a:pPr lvl="1"/>
            <a:r>
              <a:rPr lang="en-US" dirty="0"/>
              <a:t>System 1 – intuitive, heuristic</a:t>
            </a:r>
          </a:p>
          <a:p>
            <a:pPr lvl="1"/>
            <a:r>
              <a:rPr lang="en-US" dirty="0"/>
              <a:t>System 2 – formal, logical</a:t>
            </a:r>
          </a:p>
          <a:p>
            <a:r>
              <a:rPr lang="en-US" sz="2400" dirty="0"/>
              <a:t>Scientific method of thinking:</a:t>
            </a:r>
          </a:p>
          <a:p>
            <a:pPr lvl="1"/>
            <a:r>
              <a:rPr lang="en-US" dirty="0"/>
              <a:t>Correlation vs. causation</a:t>
            </a:r>
          </a:p>
          <a:p>
            <a:pPr lvl="1"/>
            <a:r>
              <a:rPr lang="en-US" dirty="0"/>
              <a:t>Controlled experiments</a:t>
            </a:r>
          </a:p>
          <a:p>
            <a:pPr lvl="1"/>
            <a:r>
              <a:rPr lang="en-US" dirty="0"/>
              <a:t>Learning from data</a:t>
            </a:r>
          </a:p>
          <a:p>
            <a:endParaRPr lang="he-IL" sz="2400" dirty="0"/>
          </a:p>
        </p:txBody>
      </p:sp>
      <p:sp>
        <p:nvSpPr>
          <p:cNvPr id="5" name="TextBox 4">
            <a:extLst>
              <a:ext uri="{FF2B5EF4-FFF2-40B4-BE49-F238E27FC236}">
                <a16:creationId xmlns:a16="http://schemas.microsoft.com/office/drawing/2014/main" id="{F60ABEE9-002E-82F5-0DE1-1E863D04DB7F}"/>
              </a:ext>
            </a:extLst>
          </p:cNvPr>
          <p:cNvSpPr txBox="1"/>
          <p:nvPr/>
        </p:nvSpPr>
        <p:spPr>
          <a:xfrm>
            <a:off x="5900056" y="2172401"/>
            <a:ext cx="6096000" cy="3416320"/>
          </a:xfrm>
          <a:prstGeom prst="rect">
            <a:avLst/>
          </a:prstGeom>
          <a:noFill/>
        </p:spPr>
        <p:txBody>
          <a:bodyPr wrap="square">
            <a:spAutoFit/>
          </a:bodyPr>
          <a:lstStyle/>
          <a:p>
            <a:pPr marL="342900" indent="-342900">
              <a:buFont typeface="Arial" panose="020B0604020202020204" pitchFamily="34" charset="0"/>
              <a:buChar char="•"/>
            </a:pPr>
            <a:r>
              <a:rPr lang="en-US" sz="2400" dirty="0"/>
              <a:t>Heuristic thinking:</a:t>
            </a:r>
          </a:p>
          <a:p>
            <a:pPr marL="742950" lvl="1" indent="-285750">
              <a:buFont typeface="Arial" panose="020B0604020202020204" pitchFamily="34" charset="0"/>
              <a:buChar char="•"/>
            </a:pPr>
            <a:r>
              <a:rPr lang="en-US" sz="2400" dirty="0"/>
              <a:t>Subjective probability</a:t>
            </a:r>
          </a:p>
          <a:p>
            <a:pPr marL="742950" lvl="1" indent="-285750">
              <a:buFont typeface="Arial" panose="020B0604020202020204" pitchFamily="34" charset="0"/>
              <a:buChar char="•"/>
            </a:pPr>
            <a:r>
              <a:rPr lang="en-US" sz="2400" dirty="0"/>
              <a:t>Heuristics (and biases):</a:t>
            </a:r>
          </a:p>
          <a:p>
            <a:pPr marL="1257300" lvl="2" indent="-342900">
              <a:buFont typeface="Arial" panose="020B0604020202020204" pitchFamily="34" charset="0"/>
              <a:buChar char="•"/>
            </a:pPr>
            <a:r>
              <a:rPr lang="en-US" sz="2400" dirty="0"/>
              <a:t>Availability</a:t>
            </a:r>
          </a:p>
          <a:p>
            <a:pPr marL="1257300" lvl="2" indent="-342900">
              <a:buFont typeface="Arial" panose="020B0604020202020204" pitchFamily="34" charset="0"/>
              <a:buChar char="•"/>
            </a:pPr>
            <a:r>
              <a:rPr lang="en-US" sz="2400" dirty="0"/>
              <a:t>Representativeness</a:t>
            </a:r>
          </a:p>
          <a:p>
            <a:pPr marL="1257300" lvl="2" indent="-342900">
              <a:buFont typeface="Arial" panose="020B0604020202020204" pitchFamily="34" charset="0"/>
              <a:buChar char="•"/>
            </a:pPr>
            <a:r>
              <a:rPr lang="en-US" sz="2400" dirty="0"/>
              <a:t>Anchoring and adjustment</a:t>
            </a:r>
          </a:p>
          <a:p>
            <a:pPr marL="1257300" lvl="2" indent="-342900">
              <a:buFont typeface="Arial" panose="020B0604020202020204" pitchFamily="34" charset="0"/>
              <a:buChar char="•"/>
            </a:pPr>
            <a:r>
              <a:rPr lang="en-US" sz="2400" dirty="0"/>
              <a:t>Non-regressive judgment (regression to the mean)</a:t>
            </a:r>
          </a:p>
          <a:p>
            <a:pPr marL="1257300" lvl="2" indent="-342900">
              <a:buFont typeface="Arial" panose="020B0604020202020204" pitchFamily="34" charset="0"/>
              <a:buChar char="•"/>
            </a:pPr>
            <a:r>
              <a:rPr lang="en-US" sz="2400" dirty="0"/>
              <a:t>Confirmation bias</a:t>
            </a:r>
            <a:endParaRPr lang="en-US" dirty="0"/>
          </a:p>
        </p:txBody>
      </p:sp>
    </p:spTree>
    <p:extLst>
      <p:ext uri="{BB962C8B-B14F-4D97-AF65-F5344CB8AC3E}">
        <p14:creationId xmlns:p14="http://schemas.microsoft.com/office/powerpoint/2010/main" val="16639259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C554-45D3-4A61-86B8-CC791E5B4087}"/>
              </a:ext>
            </a:extLst>
          </p:cNvPr>
          <p:cNvSpPr>
            <a:spLocks noGrp="1"/>
          </p:cNvSpPr>
          <p:nvPr>
            <p:ph type="title"/>
          </p:nvPr>
        </p:nvSpPr>
        <p:spPr/>
        <p:txBody>
          <a:bodyPr/>
          <a:lstStyle/>
          <a:p>
            <a:r>
              <a:rPr lang="en-US" dirty="0"/>
              <a:t>Evaluating our own conclusions</a:t>
            </a:r>
            <a:endParaRPr lang="he-IL" dirty="0"/>
          </a:p>
        </p:txBody>
      </p:sp>
      <p:sp>
        <p:nvSpPr>
          <p:cNvPr id="3" name="Content Placeholder 2">
            <a:extLst>
              <a:ext uri="{FF2B5EF4-FFF2-40B4-BE49-F238E27FC236}">
                <a16:creationId xmlns:a16="http://schemas.microsoft.com/office/drawing/2014/main" id="{7EBE8F51-D7A3-449F-909C-C1DA3D1240F2}"/>
              </a:ext>
            </a:extLst>
          </p:cNvPr>
          <p:cNvSpPr>
            <a:spLocks noGrp="1"/>
          </p:cNvSpPr>
          <p:nvPr>
            <p:ph idx="1"/>
          </p:nvPr>
        </p:nvSpPr>
        <p:spPr/>
        <p:txBody>
          <a:bodyPr/>
          <a:lstStyle/>
          <a:p>
            <a:endParaRPr lang="en-US" dirty="0"/>
          </a:p>
          <a:p>
            <a:r>
              <a:rPr lang="en-US" dirty="0"/>
              <a:t>How good are we at knowing when we are (likely) right?</a:t>
            </a:r>
            <a:endParaRPr lang="he-IL" dirty="0"/>
          </a:p>
        </p:txBody>
      </p:sp>
    </p:spTree>
    <p:extLst>
      <p:ext uri="{BB962C8B-B14F-4D97-AF65-F5344CB8AC3E}">
        <p14:creationId xmlns:p14="http://schemas.microsoft.com/office/powerpoint/2010/main" val="8601945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C554-45D3-4A61-86B8-CC791E5B4087}"/>
              </a:ext>
            </a:extLst>
          </p:cNvPr>
          <p:cNvSpPr>
            <a:spLocks noGrp="1"/>
          </p:cNvSpPr>
          <p:nvPr>
            <p:ph type="title"/>
          </p:nvPr>
        </p:nvSpPr>
        <p:spPr/>
        <p:txBody>
          <a:bodyPr/>
          <a:lstStyle/>
          <a:p>
            <a:r>
              <a:rPr lang="en-US" dirty="0"/>
              <a:t>Evaluating our own conclusions</a:t>
            </a:r>
            <a:endParaRPr lang="he-IL" dirty="0"/>
          </a:p>
        </p:txBody>
      </p:sp>
      <p:sp>
        <p:nvSpPr>
          <p:cNvPr id="3" name="Content Placeholder 2">
            <a:extLst>
              <a:ext uri="{FF2B5EF4-FFF2-40B4-BE49-F238E27FC236}">
                <a16:creationId xmlns:a16="http://schemas.microsoft.com/office/drawing/2014/main" id="{7EBE8F51-D7A3-449F-909C-C1DA3D1240F2}"/>
              </a:ext>
            </a:extLst>
          </p:cNvPr>
          <p:cNvSpPr>
            <a:spLocks noGrp="1"/>
          </p:cNvSpPr>
          <p:nvPr>
            <p:ph idx="1"/>
          </p:nvPr>
        </p:nvSpPr>
        <p:spPr/>
        <p:txBody>
          <a:bodyPr/>
          <a:lstStyle/>
          <a:p>
            <a:endParaRPr lang="en-US" dirty="0"/>
          </a:p>
          <a:p>
            <a:r>
              <a:rPr lang="en-US" dirty="0"/>
              <a:t>How good are we at knowing when we are (likely) right?</a:t>
            </a:r>
          </a:p>
          <a:p>
            <a:endParaRPr lang="en-US" dirty="0"/>
          </a:p>
          <a:p>
            <a:r>
              <a:rPr lang="en-US" dirty="0"/>
              <a:t>Lets check: http://confidence.success-equation.com/</a:t>
            </a:r>
          </a:p>
          <a:p>
            <a:endParaRPr lang="he-IL" dirty="0"/>
          </a:p>
        </p:txBody>
      </p:sp>
      <p:pic>
        <p:nvPicPr>
          <p:cNvPr id="4" name="Picture 3">
            <a:extLst>
              <a:ext uri="{FF2B5EF4-FFF2-40B4-BE49-F238E27FC236}">
                <a16:creationId xmlns:a16="http://schemas.microsoft.com/office/drawing/2014/main" id="{3EEAAC10-8F64-4377-9C29-3F2947743C34}"/>
              </a:ext>
            </a:extLst>
          </p:cNvPr>
          <p:cNvPicPr>
            <a:picLocks noChangeAspect="1"/>
          </p:cNvPicPr>
          <p:nvPr/>
        </p:nvPicPr>
        <p:blipFill>
          <a:blip r:embed="rId3"/>
          <a:stretch>
            <a:fillRect/>
          </a:stretch>
        </p:blipFill>
        <p:spPr>
          <a:xfrm>
            <a:off x="6096000" y="4001294"/>
            <a:ext cx="5382705" cy="2700435"/>
          </a:xfrm>
          <a:prstGeom prst="rect">
            <a:avLst/>
          </a:prstGeom>
        </p:spPr>
      </p:pic>
      <p:pic>
        <p:nvPicPr>
          <p:cNvPr id="5" name="Picture 4">
            <a:extLst>
              <a:ext uri="{FF2B5EF4-FFF2-40B4-BE49-F238E27FC236}">
                <a16:creationId xmlns:a16="http://schemas.microsoft.com/office/drawing/2014/main" id="{5E001691-BD1A-6553-47E0-F64D0B5D7F6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11432" y="3844229"/>
            <a:ext cx="2857500" cy="2857500"/>
          </a:xfrm>
          <a:prstGeom prst="rect">
            <a:avLst/>
          </a:prstGeom>
        </p:spPr>
      </p:pic>
    </p:spTree>
    <p:extLst>
      <p:ext uri="{BB962C8B-B14F-4D97-AF65-F5344CB8AC3E}">
        <p14:creationId xmlns:p14="http://schemas.microsoft.com/office/powerpoint/2010/main" val="995912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C554-45D3-4A61-86B8-CC791E5B4087}"/>
              </a:ext>
            </a:extLst>
          </p:cNvPr>
          <p:cNvSpPr>
            <a:spLocks noGrp="1"/>
          </p:cNvSpPr>
          <p:nvPr>
            <p:ph type="title"/>
          </p:nvPr>
        </p:nvSpPr>
        <p:spPr/>
        <p:txBody>
          <a:bodyPr/>
          <a:lstStyle/>
          <a:p>
            <a:r>
              <a:rPr lang="en-US" dirty="0"/>
              <a:t>Calibration graphs</a:t>
            </a:r>
            <a:endParaRPr lang="he-IL" dirty="0"/>
          </a:p>
        </p:txBody>
      </p:sp>
      <p:sp>
        <p:nvSpPr>
          <p:cNvPr id="3" name="Content Placeholder 2">
            <a:extLst>
              <a:ext uri="{FF2B5EF4-FFF2-40B4-BE49-F238E27FC236}">
                <a16:creationId xmlns:a16="http://schemas.microsoft.com/office/drawing/2014/main" id="{7EBE8F51-D7A3-449F-909C-C1DA3D1240F2}"/>
              </a:ext>
            </a:extLst>
          </p:cNvPr>
          <p:cNvSpPr>
            <a:spLocks noGrp="1"/>
          </p:cNvSpPr>
          <p:nvPr>
            <p:ph idx="1"/>
          </p:nvPr>
        </p:nvSpPr>
        <p:spPr/>
        <p:txBody>
          <a:bodyPr/>
          <a:lstStyle/>
          <a:p>
            <a:r>
              <a:rPr lang="en-US" dirty="0"/>
              <a:t>How good are we at knowing when we are (likely) right?</a:t>
            </a:r>
          </a:p>
          <a:p>
            <a:endParaRPr lang="en-US" dirty="0"/>
          </a:p>
        </p:txBody>
      </p:sp>
      <p:pic>
        <p:nvPicPr>
          <p:cNvPr id="4" name="Picture 3">
            <a:extLst>
              <a:ext uri="{FF2B5EF4-FFF2-40B4-BE49-F238E27FC236}">
                <a16:creationId xmlns:a16="http://schemas.microsoft.com/office/drawing/2014/main" id="{427F591B-6660-44D7-A4B5-CBDE7AAFA38D}"/>
              </a:ext>
            </a:extLst>
          </p:cNvPr>
          <p:cNvPicPr>
            <a:picLocks noChangeAspect="1"/>
          </p:cNvPicPr>
          <p:nvPr/>
        </p:nvPicPr>
        <p:blipFill rotWithShape="1">
          <a:blip r:embed="rId2"/>
          <a:srcRect l="4436" r="3015" b="3078"/>
          <a:stretch/>
        </p:blipFill>
        <p:spPr>
          <a:xfrm>
            <a:off x="3412503" y="2422942"/>
            <a:ext cx="4326903" cy="3638493"/>
          </a:xfrm>
          <a:prstGeom prst="rect">
            <a:avLst/>
          </a:prstGeom>
        </p:spPr>
      </p:pic>
    </p:spTree>
    <p:extLst>
      <p:ext uri="{BB962C8B-B14F-4D97-AF65-F5344CB8AC3E}">
        <p14:creationId xmlns:p14="http://schemas.microsoft.com/office/powerpoint/2010/main" val="16584981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C554-45D3-4A61-86B8-CC791E5B4087}"/>
              </a:ext>
            </a:extLst>
          </p:cNvPr>
          <p:cNvSpPr>
            <a:spLocks noGrp="1"/>
          </p:cNvSpPr>
          <p:nvPr>
            <p:ph type="title"/>
          </p:nvPr>
        </p:nvSpPr>
        <p:spPr/>
        <p:txBody>
          <a:bodyPr/>
          <a:lstStyle/>
          <a:p>
            <a:r>
              <a:rPr lang="en-US" dirty="0"/>
              <a:t>Calibration graphs</a:t>
            </a:r>
            <a:endParaRPr lang="he-IL" dirty="0"/>
          </a:p>
        </p:txBody>
      </p:sp>
      <p:sp>
        <p:nvSpPr>
          <p:cNvPr id="3" name="Content Placeholder 2">
            <a:extLst>
              <a:ext uri="{FF2B5EF4-FFF2-40B4-BE49-F238E27FC236}">
                <a16:creationId xmlns:a16="http://schemas.microsoft.com/office/drawing/2014/main" id="{7EBE8F51-D7A3-449F-909C-C1DA3D1240F2}"/>
              </a:ext>
            </a:extLst>
          </p:cNvPr>
          <p:cNvSpPr>
            <a:spLocks noGrp="1"/>
          </p:cNvSpPr>
          <p:nvPr>
            <p:ph idx="1"/>
          </p:nvPr>
        </p:nvSpPr>
        <p:spPr/>
        <p:txBody>
          <a:bodyPr/>
          <a:lstStyle/>
          <a:p>
            <a:r>
              <a:rPr lang="en-US" dirty="0"/>
              <a:t>How good are we at knowing when we are (likely) right?</a:t>
            </a:r>
          </a:p>
          <a:p>
            <a:endParaRPr lang="en-US" dirty="0"/>
          </a:p>
        </p:txBody>
      </p:sp>
      <p:sp>
        <p:nvSpPr>
          <p:cNvPr id="5" name="TextBox 4">
            <a:extLst>
              <a:ext uri="{FF2B5EF4-FFF2-40B4-BE49-F238E27FC236}">
                <a16:creationId xmlns:a16="http://schemas.microsoft.com/office/drawing/2014/main" id="{76308852-ABAF-4406-B5E1-62DE6D547AB1}"/>
              </a:ext>
            </a:extLst>
          </p:cNvPr>
          <p:cNvSpPr txBox="1"/>
          <p:nvPr/>
        </p:nvSpPr>
        <p:spPr>
          <a:xfrm rot="16200000">
            <a:off x="1646978" y="3959258"/>
            <a:ext cx="2980496" cy="369332"/>
          </a:xfrm>
          <a:prstGeom prst="rect">
            <a:avLst/>
          </a:prstGeom>
          <a:noFill/>
        </p:spPr>
        <p:txBody>
          <a:bodyPr wrap="none" rtlCol="1">
            <a:spAutoFit/>
          </a:bodyPr>
          <a:lstStyle/>
          <a:p>
            <a:r>
              <a:rPr lang="en-US" dirty="0"/>
              <a:t>Proportion of correct answers</a:t>
            </a:r>
            <a:endParaRPr lang="he-IL" dirty="0"/>
          </a:p>
        </p:txBody>
      </p:sp>
      <p:sp>
        <p:nvSpPr>
          <p:cNvPr id="6" name="TextBox 5">
            <a:extLst>
              <a:ext uri="{FF2B5EF4-FFF2-40B4-BE49-F238E27FC236}">
                <a16:creationId xmlns:a16="http://schemas.microsoft.com/office/drawing/2014/main" id="{349412A4-8D19-4566-8E96-9DD0EFB29731}"/>
              </a:ext>
            </a:extLst>
          </p:cNvPr>
          <p:cNvSpPr txBox="1"/>
          <p:nvPr/>
        </p:nvSpPr>
        <p:spPr>
          <a:xfrm>
            <a:off x="3665885" y="6127234"/>
            <a:ext cx="4015202" cy="369332"/>
          </a:xfrm>
          <a:prstGeom prst="rect">
            <a:avLst/>
          </a:prstGeom>
          <a:noFill/>
        </p:spPr>
        <p:txBody>
          <a:bodyPr wrap="none" rtlCol="1">
            <a:spAutoFit/>
          </a:bodyPr>
          <a:lstStyle/>
          <a:p>
            <a:r>
              <a:rPr lang="en-US" dirty="0"/>
              <a:t>Self-assigned probability of being correct</a:t>
            </a:r>
            <a:endParaRPr lang="he-IL" dirty="0"/>
          </a:p>
        </p:txBody>
      </p:sp>
      <p:pic>
        <p:nvPicPr>
          <p:cNvPr id="7" name="Picture 6">
            <a:extLst>
              <a:ext uri="{FF2B5EF4-FFF2-40B4-BE49-F238E27FC236}">
                <a16:creationId xmlns:a16="http://schemas.microsoft.com/office/drawing/2014/main" id="{906A6BA7-9D6A-490D-914E-6BA680703CCA}"/>
              </a:ext>
            </a:extLst>
          </p:cNvPr>
          <p:cNvPicPr>
            <a:picLocks noChangeAspect="1"/>
          </p:cNvPicPr>
          <p:nvPr/>
        </p:nvPicPr>
        <p:blipFill rotWithShape="1">
          <a:blip r:embed="rId2"/>
          <a:srcRect l="4436" r="3015" b="3078"/>
          <a:stretch/>
        </p:blipFill>
        <p:spPr>
          <a:xfrm>
            <a:off x="3412503" y="2422942"/>
            <a:ext cx="4326903" cy="3638493"/>
          </a:xfrm>
          <a:prstGeom prst="rect">
            <a:avLst/>
          </a:prstGeom>
        </p:spPr>
      </p:pic>
    </p:spTree>
    <p:extLst>
      <p:ext uri="{BB962C8B-B14F-4D97-AF65-F5344CB8AC3E}">
        <p14:creationId xmlns:p14="http://schemas.microsoft.com/office/powerpoint/2010/main" val="1711464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C554-45D3-4A61-86B8-CC791E5B4087}"/>
              </a:ext>
            </a:extLst>
          </p:cNvPr>
          <p:cNvSpPr>
            <a:spLocks noGrp="1"/>
          </p:cNvSpPr>
          <p:nvPr>
            <p:ph type="title"/>
          </p:nvPr>
        </p:nvSpPr>
        <p:spPr/>
        <p:txBody>
          <a:bodyPr/>
          <a:lstStyle/>
          <a:p>
            <a:r>
              <a:rPr lang="en-US" dirty="0"/>
              <a:t>Calibration graphs</a:t>
            </a:r>
            <a:endParaRPr lang="he-IL" dirty="0"/>
          </a:p>
        </p:txBody>
      </p:sp>
      <p:sp>
        <p:nvSpPr>
          <p:cNvPr id="3" name="Content Placeholder 2">
            <a:extLst>
              <a:ext uri="{FF2B5EF4-FFF2-40B4-BE49-F238E27FC236}">
                <a16:creationId xmlns:a16="http://schemas.microsoft.com/office/drawing/2014/main" id="{7EBE8F51-D7A3-449F-909C-C1DA3D1240F2}"/>
              </a:ext>
            </a:extLst>
          </p:cNvPr>
          <p:cNvSpPr>
            <a:spLocks noGrp="1"/>
          </p:cNvSpPr>
          <p:nvPr>
            <p:ph idx="1"/>
          </p:nvPr>
        </p:nvSpPr>
        <p:spPr/>
        <p:txBody>
          <a:bodyPr/>
          <a:lstStyle/>
          <a:p>
            <a:r>
              <a:rPr lang="en-US" dirty="0"/>
              <a:t>How good are we at knowing when we are (likely) right?</a:t>
            </a:r>
          </a:p>
          <a:p>
            <a:endParaRPr lang="en-US" dirty="0"/>
          </a:p>
        </p:txBody>
      </p:sp>
      <p:sp>
        <p:nvSpPr>
          <p:cNvPr id="5" name="TextBox 4">
            <a:extLst>
              <a:ext uri="{FF2B5EF4-FFF2-40B4-BE49-F238E27FC236}">
                <a16:creationId xmlns:a16="http://schemas.microsoft.com/office/drawing/2014/main" id="{76308852-ABAF-4406-B5E1-62DE6D547AB1}"/>
              </a:ext>
            </a:extLst>
          </p:cNvPr>
          <p:cNvSpPr txBox="1"/>
          <p:nvPr/>
        </p:nvSpPr>
        <p:spPr>
          <a:xfrm rot="16200000">
            <a:off x="1646978" y="3959258"/>
            <a:ext cx="2980496" cy="369332"/>
          </a:xfrm>
          <a:prstGeom prst="rect">
            <a:avLst/>
          </a:prstGeom>
          <a:noFill/>
        </p:spPr>
        <p:txBody>
          <a:bodyPr wrap="none" rtlCol="1">
            <a:spAutoFit/>
          </a:bodyPr>
          <a:lstStyle/>
          <a:p>
            <a:r>
              <a:rPr lang="en-US" dirty="0"/>
              <a:t>Proportion of correct answers</a:t>
            </a:r>
            <a:endParaRPr lang="he-IL" dirty="0"/>
          </a:p>
        </p:txBody>
      </p:sp>
      <p:sp>
        <p:nvSpPr>
          <p:cNvPr id="6" name="TextBox 5">
            <a:extLst>
              <a:ext uri="{FF2B5EF4-FFF2-40B4-BE49-F238E27FC236}">
                <a16:creationId xmlns:a16="http://schemas.microsoft.com/office/drawing/2014/main" id="{349412A4-8D19-4566-8E96-9DD0EFB29731}"/>
              </a:ext>
            </a:extLst>
          </p:cNvPr>
          <p:cNvSpPr txBox="1"/>
          <p:nvPr/>
        </p:nvSpPr>
        <p:spPr>
          <a:xfrm>
            <a:off x="3665885" y="6127234"/>
            <a:ext cx="4015202" cy="369332"/>
          </a:xfrm>
          <a:prstGeom prst="rect">
            <a:avLst/>
          </a:prstGeom>
          <a:noFill/>
        </p:spPr>
        <p:txBody>
          <a:bodyPr wrap="none" rtlCol="1">
            <a:spAutoFit/>
          </a:bodyPr>
          <a:lstStyle/>
          <a:p>
            <a:r>
              <a:rPr lang="en-US" dirty="0"/>
              <a:t>Self-assigned probability of being correct</a:t>
            </a:r>
            <a:endParaRPr lang="he-IL" dirty="0"/>
          </a:p>
        </p:txBody>
      </p:sp>
      <p:pic>
        <p:nvPicPr>
          <p:cNvPr id="7" name="Picture 6">
            <a:extLst>
              <a:ext uri="{FF2B5EF4-FFF2-40B4-BE49-F238E27FC236}">
                <a16:creationId xmlns:a16="http://schemas.microsoft.com/office/drawing/2014/main" id="{906A6BA7-9D6A-490D-914E-6BA680703CCA}"/>
              </a:ext>
            </a:extLst>
          </p:cNvPr>
          <p:cNvPicPr>
            <a:picLocks noChangeAspect="1"/>
          </p:cNvPicPr>
          <p:nvPr/>
        </p:nvPicPr>
        <p:blipFill rotWithShape="1">
          <a:blip r:embed="rId2"/>
          <a:srcRect l="4436" r="3015" b="3078"/>
          <a:stretch/>
        </p:blipFill>
        <p:spPr>
          <a:xfrm>
            <a:off x="3412503" y="2422942"/>
            <a:ext cx="4326903" cy="3638493"/>
          </a:xfrm>
          <a:prstGeom prst="rect">
            <a:avLst/>
          </a:prstGeom>
        </p:spPr>
      </p:pic>
      <p:cxnSp>
        <p:nvCxnSpPr>
          <p:cNvPr id="8" name="Straight Connector 7">
            <a:extLst>
              <a:ext uri="{FF2B5EF4-FFF2-40B4-BE49-F238E27FC236}">
                <a16:creationId xmlns:a16="http://schemas.microsoft.com/office/drawing/2014/main" id="{30343AF0-BD83-44BE-86A1-5C326165E965}"/>
              </a:ext>
            </a:extLst>
          </p:cNvPr>
          <p:cNvCxnSpPr>
            <a:cxnSpLocks/>
          </p:cNvCxnSpPr>
          <p:nvPr/>
        </p:nvCxnSpPr>
        <p:spPr>
          <a:xfrm flipV="1">
            <a:off x="3733014" y="2903456"/>
            <a:ext cx="4006392" cy="2950589"/>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964BCD5D-98DE-4AFE-8DF3-518DC04F01EE}"/>
              </a:ext>
            </a:extLst>
          </p:cNvPr>
          <p:cNvSpPr txBox="1"/>
          <p:nvPr/>
        </p:nvSpPr>
        <p:spPr>
          <a:xfrm>
            <a:off x="8191893" y="2718790"/>
            <a:ext cx="641022" cy="369332"/>
          </a:xfrm>
          <a:prstGeom prst="rect">
            <a:avLst/>
          </a:prstGeom>
          <a:noFill/>
        </p:spPr>
        <p:txBody>
          <a:bodyPr wrap="square" rtlCol="1">
            <a:spAutoFit/>
          </a:bodyPr>
          <a:lstStyle/>
          <a:p>
            <a:r>
              <a:rPr lang="en-US" dirty="0"/>
              <a:t>?</a:t>
            </a:r>
            <a:endParaRPr lang="he-IL" dirty="0"/>
          </a:p>
        </p:txBody>
      </p:sp>
      <p:cxnSp>
        <p:nvCxnSpPr>
          <p:cNvPr id="13" name="Straight Arrow Connector 12">
            <a:extLst>
              <a:ext uri="{FF2B5EF4-FFF2-40B4-BE49-F238E27FC236}">
                <a16:creationId xmlns:a16="http://schemas.microsoft.com/office/drawing/2014/main" id="{0C590E26-012D-4EFA-843E-EA3148223833}"/>
              </a:ext>
            </a:extLst>
          </p:cNvPr>
          <p:cNvCxnSpPr>
            <a:stCxn id="11" idx="1"/>
          </p:cNvCxnSpPr>
          <p:nvPr/>
        </p:nvCxnSpPr>
        <p:spPr>
          <a:xfrm flipH="1">
            <a:off x="7268066" y="2903456"/>
            <a:ext cx="923827" cy="35821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50314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C554-45D3-4A61-86B8-CC791E5B4087}"/>
              </a:ext>
            </a:extLst>
          </p:cNvPr>
          <p:cNvSpPr>
            <a:spLocks noGrp="1"/>
          </p:cNvSpPr>
          <p:nvPr>
            <p:ph type="title"/>
          </p:nvPr>
        </p:nvSpPr>
        <p:spPr/>
        <p:txBody>
          <a:bodyPr/>
          <a:lstStyle/>
          <a:p>
            <a:r>
              <a:rPr lang="en-US" dirty="0"/>
              <a:t>Calibration graphs</a:t>
            </a:r>
            <a:endParaRPr lang="he-IL" dirty="0"/>
          </a:p>
        </p:txBody>
      </p:sp>
      <p:sp>
        <p:nvSpPr>
          <p:cNvPr id="3" name="Content Placeholder 2">
            <a:extLst>
              <a:ext uri="{FF2B5EF4-FFF2-40B4-BE49-F238E27FC236}">
                <a16:creationId xmlns:a16="http://schemas.microsoft.com/office/drawing/2014/main" id="{7EBE8F51-D7A3-449F-909C-C1DA3D1240F2}"/>
              </a:ext>
            </a:extLst>
          </p:cNvPr>
          <p:cNvSpPr>
            <a:spLocks noGrp="1"/>
          </p:cNvSpPr>
          <p:nvPr>
            <p:ph idx="1"/>
          </p:nvPr>
        </p:nvSpPr>
        <p:spPr/>
        <p:txBody>
          <a:bodyPr/>
          <a:lstStyle/>
          <a:p>
            <a:r>
              <a:rPr lang="en-US" dirty="0"/>
              <a:t>How good are we at knowing when we are (likely) right?</a:t>
            </a:r>
          </a:p>
          <a:p>
            <a:endParaRPr lang="en-US" dirty="0"/>
          </a:p>
        </p:txBody>
      </p:sp>
      <p:sp>
        <p:nvSpPr>
          <p:cNvPr id="5" name="TextBox 4">
            <a:extLst>
              <a:ext uri="{FF2B5EF4-FFF2-40B4-BE49-F238E27FC236}">
                <a16:creationId xmlns:a16="http://schemas.microsoft.com/office/drawing/2014/main" id="{76308852-ABAF-4406-B5E1-62DE6D547AB1}"/>
              </a:ext>
            </a:extLst>
          </p:cNvPr>
          <p:cNvSpPr txBox="1"/>
          <p:nvPr/>
        </p:nvSpPr>
        <p:spPr>
          <a:xfrm rot="16200000">
            <a:off x="1646978" y="3959258"/>
            <a:ext cx="2980496" cy="369332"/>
          </a:xfrm>
          <a:prstGeom prst="rect">
            <a:avLst/>
          </a:prstGeom>
          <a:noFill/>
        </p:spPr>
        <p:txBody>
          <a:bodyPr wrap="none" rtlCol="1">
            <a:spAutoFit/>
          </a:bodyPr>
          <a:lstStyle/>
          <a:p>
            <a:r>
              <a:rPr lang="en-US" dirty="0"/>
              <a:t>Proportion of correct answers</a:t>
            </a:r>
            <a:endParaRPr lang="he-IL" dirty="0"/>
          </a:p>
        </p:txBody>
      </p:sp>
      <p:sp>
        <p:nvSpPr>
          <p:cNvPr id="6" name="TextBox 5">
            <a:extLst>
              <a:ext uri="{FF2B5EF4-FFF2-40B4-BE49-F238E27FC236}">
                <a16:creationId xmlns:a16="http://schemas.microsoft.com/office/drawing/2014/main" id="{349412A4-8D19-4566-8E96-9DD0EFB29731}"/>
              </a:ext>
            </a:extLst>
          </p:cNvPr>
          <p:cNvSpPr txBox="1"/>
          <p:nvPr/>
        </p:nvSpPr>
        <p:spPr>
          <a:xfrm>
            <a:off x="3665885" y="6127234"/>
            <a:ext cx="4015202" cy="369332"/>
          </a:xfrm>
          <a:prstGeom prst="rect">
            <a:avLst/>
          </a:prstGeom>
          <a:noFill/>
        </p:spPr>
        <p:txBody>
          <a:bodyPr wrap="none" rtlCol="1">
            <a:spAutoFit/>
          </a:bodyPr>
          <a:lstStyle/>
          <a:p>
            <a:r>
              <a:rPr lang="en-US" dirty="0"/>
              <a:t>Self-assigned probability of being correct</a:t>
            </a:r>
            <a:endParaRPr lang="he-IL" dirty="0"/>
          </a:p>
        </p:txBody>
      </p:sp>
      <p:pic>
        <p:nvPicPr>
          <p:cNvPr id="7" name="Picture 6">
            <a:extLst>
              <a:ext uri="{FF2B5EF4-FFF2-40B4-BE49-F238E27FC236}">
                <a16:creationId xmlns:a16="http://schemas.microsoft.com/office/drawing/2014/main" id="{906A6BA7-9D6A-490D-914E-6BA680703CCA}"/>
              </a:ext>
            </a:extLst>
          </p:cNvPr>
          <p:cNvPicPr>
            <a:picLocks noChangeAspect="1"/>
          </p:cNvPicPr>
          <p:nvPr/>
        </p:nvPicPr>
        <p:blipFill rotWithShape="1">
          <a:blip r:embed="rId2"/>
          <a:srcRect l="4436" r="3015" b="3078"/>
          <a:stretch/>
        </p:blipFill>
        <p:spPr>
          <a:xfrm>
            <a:off x="3412503" y="2422942"/>
            <a:ext cx="4326903" cy="3638493"/>
          </a:xfrm>
          <a:prstGeom prst="rect">
            <a:avLst/>
          </a:prstGeom>
        </p:spPr>
      </p:pic>
      <p:cxnSp>
        <p:nvCxnSpPr>
          <p:cNvPr id="8" name="Straight Connector 7">
            <a:extLst>
              <a:ext uri="{FF2B5EF4-FFF2-40B4-BE49-F238E27FC236}">
                <a16:creationId xmlns:a16="http://schemas.microsoft.com/office/drawing/2014/main" id="{30343AF0-BD83-44BE-86A1-5C326165E965}"/>
              </a:ext>
            </a:extLst>
          </p:cNvPr>
          <p:cNvCxnSpPr>
            <a:cxnSpLocks/>
          </p:cNvCxnSpPr>
          <p:nvPr/>
        </p:nvCxnSpPr>
        <p:spPr>
          <a:xfrm flipV="1">
            <a:off x="3733014" y="2903456"/>
            <a:ext cx="4006392" cy="2950589"/>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964BCD5D-98DE-4AFE-8DF3-518DC04F01EE}"/>
              </a:ext>
            </a:extLst>
          </p:cNvPr>
          <p:cNvSpPr txBox="1"/>
          <p:nvPr/>
        </p:nvSpPr>
        <p:spPr>
          <a:xfrm>
            <a:off x="8191893" y="2718790"/>
            <a:ext cx="2253006" cy="369332"/>
          </a:xfrm>
          <a:prstGeom prst="rect">
            <a:avLst/>
          </a:prstGeom>
          <a:noFill/>
        </p:spPr>
        <p:txBody>
          <a:bodyPr wrap="square" rtlCol="1">
            <a:spAutoFit/>
          </a:bodyPr>
          <a:lstStyle/>
          <a:p>
            <a:r>
              <a:rPr lang="en-US" dirty="0"/>
              <a:t>Perfect calibration </a:t>
            </a:r>
            <a:endParaRPr lang="he-IL" dirty="0"/>
          </a:p>
        </p:txBody>
      </p:sp>
      <p:cxnSp>
        <p:nvCxnSpPr>
          <p:cNvPr id="13" name="Straight Arrow Connector 12">
            <a:extLst>
              <a:ext uri="{FF2B5EF4-FFF2-40B4-BE49-F238E27FC236}">
                <a16:creationId xmlns:a16="http://schemas.microsoft.com/office/drawing/2014/main" id="{0C590E26-012D-4EFA-843E-EA3148223833}"/>
              </a:ext>
            </a:extLst>
          </p:cNvPr>
          <p:cNvCxnSpPr>
            <a:cxnSpLocks/>
            <a:stCxn id="11" idx="1"/>
          </p:cNvCxnSpPr>
          <p:nvPr/>
        </p:nvCxnSpPr>
        <p:spPr>
          <a:xfrm flipH="1">
            <a:off x="7268067" y="2903456"/>
            <a:ext cx="923826" cy="35821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39744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C554-45D3-4A61-86B8-CC791E5B4087}"/>
              </a:ext>
            </a:extLst>
          </p:cNvPr>
          <p:cNvSpPr>
            <a:spLocks noGrp="1"/>
          </p:cNvSpPr>
          <p:nvPr>
            <p:ph type="title"/>
          </p:nvPr>
        </p:nvSpPr>
        <p:spPr/>
        <p:txBody>
          <a:bodyPr/>
          <a:lstStyle/>
          <a:p>
            <a:r>
              <a:rPr lang="en-US" dirty="0"/>
              <a:t>Calibration graphs</a:t>
            </a:r>
            <a:endParaRPr lang="he-IL" dirty="0"/>
          </a:p>
        </p:txBody>
      </p:sp>
      <p:sp>
        <p:nvSpPr>
          <p:cNvPr id="3" name="Content Placeholder 2">
            <a:extLst>
              <a:ext uri="{FF2B5EF4-FFF2-40B4-BE49-F238E27FC236}">
                <a16:creationId xmlns:a16="http://schemas.microsoft.com/office/drawing/2014/main" id="{7EBE8F51-D7A3-449F-909C-C1DA3D1240F2}"/>
              </a:ext>
            </a:extLst>
          </p:cNvPr>
          <p:cNvSpPr>
            <a:spLocks noGrp="1"/>
          </p:cNvSpPr>
          <p:nvPr>
            <p:ph idx="1"/>
          </p:nvPr>
        </p:nvSpPr>
        <p:spPr/>
        <p:txBody>
          <a:bodyPr/>
          <a:lstStyle/>
          <a:p>
            <a:r>
              <a:rPr lang="en-US" dirty="0"/>
              <a:t>How good are we at knowing when we are (likely) right?</a:t>
            </a:r>
          </a:p>
          <a:p>
            <a:endParaRPr lang="en-US" dirty="0"/>
          </a:p>
        </p:txBody>
      </p:sp>
      <p:sp>
        <p:nvSpPr>
          <p:cNvPr id="5" name="TextBox 4">
            <a:extLst>
              <a:ext uri="{FF2B5EF4-FFF2-40B4-BE49-F238E27FC236}">
                <a16:creationId xmlns:a16="http://schemas.microsoft.com/office/drawing/2014/main" id="{76308852-ABAF-4406-B5E1-62DE6D547AB1}"/>
              </a:ext>
            </a:extLst>
          </p:cNvPr>
          <p:cNvSpPr txBox="1"/>
          <p:nvPr/>
        </p:nvSpPr>
        <p:spPr>
          <a:xfrm rot="16200000">
            <a:off x="1646978" y="3959258"/>
            <a:ext cx="2980496" cy="369332"/>
          </a:xfrm>
          <a:prstGeom prst="rect">
            <a:avLst/>
          </a:prstGeom>
          <a:noFill/>
        </p:spPr>
        <p:txBody>
          <a:bodyPr wrap="none" rtlCol="1">
            <a:spAutoFit/>
          </a:bodyPr>
          <a:lstStyle/>
          <a:p>
            <a:r>
              <a:rPr lang="en-US" dirty="0"/>
              <a:t>Proportion of correct answers</a:t>
            </a:r>
            <a:endParaRPr lang="he-IL" dirty="0"/>
          </a:p>
        </p:txBody>
      </p:sp>
      <p:sp>
        <p:nvSpPr>
          <p:cNvPr id="6" name="TextBox 5">
            <a:extLst>
              <a:ext uri="{FF2B5EF4-FFF2-40B4-BE49-F238E27FC236}">
                <a16:creationId xmlns:a16="http://schemas.microsoft.com/office/drawing/2014/main" id="{349412A4-8D19-4566-8E96-9DD0EFB29731}"/>
              </a:ext>
            </a:extLst>
          </p:cNvPr>
          <p:cNvSpPr txBox="1"/>
          <p:nvPr/>
        </p:nvSpPr>
        <p:spPr>
          <a:xfrm>
            <a:off x="3665885" y="6127234"/>
            <a:ext cx="4015202" cy="369332"/>
          </a:xfrm>
          <a:prstGeom prst="rect">
            <a:avLst/>
          </a:prstGeom>
          <a:noFill/>
        </p:spPr>
        <p:txBody>
          <a:bodyPr wrap="none" rtlCol="1">
            <a:spAutoFit/>
          </a:bodyPr>
          <a:lstStyle/>
          <a:p>
            <a:r>
              <a:rPr lang="en-US" dirty="0"/>
              <a:t>Self-assigned probability of being correct</a:t>
            </a:r>
            <a:endParaRPr lang="he-IL" dirty="0"/>
          </a:p>
        </p:txBody>
      </p:sp>
      <p:pic>
        <p:nvPicPr>
          <p:cNvPr id="7" name="Picture 6">
            <a:extLst>
              <a:ext uri="{FF2B5EF4-FFF2-40B4-BE49-F238E27FC236}">
                <a16:creationId xmlns:a16="http://schemas.microsoft.com/office/drawing/2014/main" id="{906A6BA7-9D6A-490D-914E-6BA680703CCA}"/>
              </a:ext>
            </a:extLst>
          </p:cNvPr>
          <p:cNvPicPr>
            <a:picLocks noChangeAspect="1"/>
          </p:cNvPicPr>
          <p:nvPr/>
        </p:nvPicPr>
        <p:blipFill rotWithShape="1">
          <a:blip r:embed="rId2"/>
          <a:srcRect l="4436" r="3015" b="3078"/>
          <a:stretch/>
        </p:blipFill>
        <p:spPr>
          <a:xfrm>
            <a:off x="3412503" y="2422942"/>
            <a:ext cx="4326903" cy="3638493"/>
          </a:xfrm>
          <a:prstGeom prst="rect">
            <a:avLst/>
          </a:prstGeom>
        </p:spPr>
      </p:pic>
      <p:cxnSp>
        <p:nvCxnSpPr>
          <p:cNvPr id="8" name="Straight Connector 7">
            <a:extLst>
              <a:ext uri="{FF2B5EF4-FFF2-40B4-BE49-F238E27FC236}">
                <a16:creationId xmlns:a16="http://schemas.microsoft.com/office/drawing/2014/main" id="{30343AF0-BD83-44BE-86A1-5C326165E965}"/>
              </a:ext>
            </a:extLst>
          </p:cNvPr>
          <p:cNvCxnSpPr>
            <a:cxnSpLocks/>
          </p:cNvCxnSpPr>
          <p:nvPr/>
        </p:nvCxnSpPr>
        <p:spPr>
          <a:xfrm flipV="1">
            <a:off x="3733014" y="2903456"/>
            <a:ext cx="4006392" cy="2950589"/>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964BCD5D-98DE-4AFE-8DF3-518DC04F01EE}"/>
              </a:ext>
            </a:extLst>
          </p:cNvPr>
          <p:cNvSpPr txBox="1"/>
          <p:nvPr/>
        </p:nvSpPr>
        <p:spPr>
          <a:xfrm>
            <a:off x="8191892" y="2718790"/>
            <a:ext cx="3161907" cy="646331"/>
          </a:xfrm>
          <a:prstGeom prst="rect">
            <a:avLst/>
          </a:prstGeom>
          <a:noFill/>
        </p:spPr>
        <p:txBody>
          <a:bodyPr wrap="square" rtlCol="1">
            <a:spAutoFit/>
          </a:bodyPr>
          <a:lstStyle/>
          <a:p>
            <a:r>
              <a:rPr lang="en-US" dirty="0"/>
              <a:t>Perfect calibration</a:t>
            </a:r>
            <a:br>
              <a:rPr lang="en-US" dirty="0"/>
            </a:br>
            <a:r>
              <a:rPr lang="en-US" dirty="0"/>
              <a:t>% correct = estimated % correct </a:t>
            </a:r>
            <a:endParaRPr lang="he-IL" dirty="0"/>
          </a:p>
        </p:txBody>
      </p:sp>
      <p:cxnSp>
        <p:nvCxnSpPr>
          <p:cNvPr id="13" name="Straight Arrow Connector 12">
            <a:extLst>
              <a:ext uri="{FF2B5EF4-FFF2-40B4-BE49-F238E27FC236}">
                <a16:creationId xmlns:a16="http://schemas.microsoft.com/office/drawing/2014/main" id="{0C590E26-012D-4EFA-843E-EA3148223833}"/>
              </a:ext>
            </a:extLst>
          </p:cNvPr>
          <p:cNvCxnSpPr>
            <a:cxnSpLocks/>
            <a:stCxn id="11" idx="1"/>
          </p:cNvCxnSpPr>
          <p:nvPr/>
        </p:nvCxnSpPr>
        <p:spPr>
          <a:xfrm flipH="1">
            <a:off x="7268068" y="3041956"/>
            <a:ext cx="923824" cy="21971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20684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C554-45D3-4A61-86B8-CC791E5B4087}"/>
              </a:ext>
            </a:extLst>
          </p:cNvPr>
          <p:cNvSpPr>
            <a:spLocks noGrp="1"/>
          </p:cNvSpPr>
          <p:nvPr>
            <p:ph type="title"/>
          </p:nvPr>
        </p:nvSpPr>
        <p:spPr/>
        <p:txBody>
          <a:bodyPr/>
          <a:lstStyle/>
          <a:p>
            <a:r>
              <a:rPr lang="en-US" dirty="0"/>
              <a:t>Calibration graphs</a:t>
            </a:r>
            <a:endParaRPr lang="he-IL" dirty="0"/>
          </a:p>
        </p:txBody>
      </p:sp>
      <p:sp>
        <p:nvSpPr>
          <p:cNvPr id="3" name="Content Placeholder 2">
            <a:extLst>
              <a:ext uri="{FF2B5EF4-FFF2-40B4-BE49-F238E27FC236}">
                <a16:creationId xmlns:a16="http://schemas.microsoft.com/office/drawing/2014/main" id="{7EBE8F51-D7A3-449F-909C-C1DA3D1240F2}"/>
              </a:ext>
            </a:extLst>
          </p:cNvPr>
          <p:cNvSpPr>
            <a:spLocks noGrp="1"/>
          </p:cNvSpPr>
          <p:nvPr>
            <p:ph idx="1"/>
          </p:nvPr>
        </p:nvSpPr>
        <p:spPr/>
        <p:txBody>
          <a:bodyPr/>
          <a:lstStyle/>
          <a:p>
            <a:r>
              <a:rPr lang="en-US" dirty="0"/>
              <a:t>How good are we at knowing when we are (likely) right?</a:t>
            </a:r>
          </a:p>
          <a:p>
            <a:endParaRPr lang="en-US" dirty="0"/>
          </a:p>
        </p:txBody>
      </p:sp>
      <p:sp>
        <p:nvSpPr>
          <p:cNvPr id="5" name="TextBox 4">
            <a:extLst>
              <a:ext uri="{FF2B5EF4-FFF2-40B4-BE49-F238E27FC236}">
                <a16:creationId xmlns:a16="http://schemas.microsoft.com/office/drawing/2014/main" id="{76308852-ABAF-4406-B5E1-62DE6D547AB1}"/>
              </a:ext>
            </a:extLst>
          </p:cNvPr>
          <p:cNvSpPr txBox="1"/>
          <p:nvPr/>
        </p:nvSpPr>
        <p:spPr>
          <a:xfrm rot="16200000">
            <a:off x="1646978" y="3959258"/>
            <a:ext cx="2980496" cy="369332"/>
          </a:xfrm>
          <a:prstGeom prst="rect">
            <a:avLst/>
          </a:prstGeom>
          <a:noFill/>
        </p:spPr>
        <p:txBody>
          <a:bodyPr wrap="none" rtlCol="1">
            <a:spAutoFit/>
          </a:bodyPr>
          <a:lstStyle/>
          <a:p>
            <a:r>
              <a:rPr lang="en-US" dirty="0"/>
              <a:t>Proportion of correct answers</a:t>
            </a:r>
            <a:endParaRPr lang="he-IL" dirty="0"/>
          </a:p>
        </p:txBody>
      </p:sp>
      <p:sp>
        <p:nvSpPr>
          <p:cNvPr id="6" name="TextBox 5">
            <a:extLst>
              <a:ext uri="{FF2B5EF4-FFF2-40B4-BE49-F238E27FC236}">
                <a16:creationId xmlns:a16="http://schemas.microsoft.com/office/drawing/2014/main" id="{349412A4-8D19-4566-8E96-9DD0EFB29731}"/>
              </a:ext>
            </a:extLst>
          </p:cNvPr>
          <p:cNvSpPr txBox="1"/>
          <p:nvPr/>
        </p:nvSpPr>
        <p:spPr>
          <a:xfrm>
            <a:off x="3665885" y="6127234"/>
            <a:ext cx="4015202" cy="369332"/>
          </a:xfrm>
          <a:prstGeom prst="rect">
            <a:avLst/>
          </a:prstGeom>
          <a:noFill/>
        </p:spPr>
        <p:txBody>
          <a:bodyPr wrap="none" rtlCol="1">
            <a:spAutoFit/>
          </a:bodyPr>
          <a:lstStyle/>
          <a:p>
            <a:r>
              <a:rPr lang="en-US" dirty="0"/>
              <a:t>Self-assigned probability of being correct</a:t>
            </a:r>
            <a:endParaRPr lang="he-IL" dirty="0"/>
          </a:p>
        </p:txBody>
      </p:sp>
      <p:pic>
        <p:nvPicPr>
          <p:cNvPr id="7" name="Picture 6">
            <a:extLst>
              <a:ext uri="{FF2B5EF4-FFF2-40B4-BE49-F238E27FC236}">
                <a16:creationId xmlns:a16="http://schemas.microsoft.com/office/drawing/2014/main" id="{906A6BA7-9D6A-490D-914E-6BA680703CCA}"/>
              </a:ext>
            </a:extLst>
          </p:cNvPr>
          <p:cNvPicPr>
            <a:picLocks noChangeAspect="1"/>
          </p:cNvPicPr>
          <p:nvPr/>
        </p:nvPicPr>
        <p:blipFill rotWithShape="1">
          <a:blip r:embed="rId2"/>
          <a:srcRect l="4436" r="3015" b="3078"/>
          <a:stretch/>
        </p:blipFill>
        <p:spPr>
          <a:xfrm>
            <a:off x="3412503" y="2422942"/>
            <a:ext cx="4326903" cy="3638493"/>
          </a:xfrm>
          <a:prstGeom prst="rect">
            <a:avLst/>
          </a:prstGeom>
        </p:spPr>
      </p:pic>
      <p:cxnSp>
        <p:nvCxnSpPr>
          <p:cNvPr id="8" name="Straight Connector 7">
            <a:extLst>
              <a:ext uri="{FF2B5EF4-FFF2-40B4-BE49-F238E27FC236}">
                <a16:creationId xmlns:a16="http://schemas.microsoft.com/office/drawing/2014/main" id="{30343AF0-BD83-44BE-86A1-5C326165E965}"/>
              </a:ext>
            </a:extLst>
          </p:cNvPr>
          <p:cNvCxnSpPr>
            <a:cxnSpLocks/>
          </p:cNvCxnSpPr>
          <p:nvPr/>
        </p:nvCxnSpPr>
        <p:spPr>
          <a:xfrm flipV="1">
            <a:off x="3733014" y="2903456"/>
            <a:ext cx="4006392" cy="2950589"/>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964BCD5D-98DE-4AFE-8DF3-518DC04F01EE}"/>
              </a:ext>
            </a:extLst>
          </p:cNvPr>
          <p:cNvSpPr txBox="1"/>
          <p:nvPr/>
        </p:nvSpPr>
        <p:spPr>
          <a:xfrm>
            <a:off x="8191892" y="2718790"/>
            <a:ext cx="3161907" cy="646331"/>
          </a:xfrm>
          <a:prstGeom prst="rect">
            <a:avLst/>
          </a:prstGeom>
          <a:noFill/>
        </p:spPr>
        <p:txBody>
          <a:bodyPr wrap="square" rtlCol="1">
            <a:spAutoFit/>
          </a:bodyPr>
          <a:lstStyle/>
          <a:p>
            <a:r>
              <a:rPr lang="en-US" dirty="0"/>
              <a:t>Perfect calibration</a:t>
            </a:r>
            <a:br>
              <a:rPr lang="en-US" dirty="0"/>
            </a:br>
            <a:r>
              <a:rPr lang="en-US" dirty="0"/>
              <a:t>% correct = estimated % correct </a:t>
            </a:r>
            <a:endParaRPr lang="he-IL" dirty="0"/>
          </a:p>
        </p:txBody>
      </p:sp>
      <p:cxnSp>
        <p:nvCxnSpPr>
          <p:cNvPr id="13" name="Straight Arrow Connector 12">
            <a:extLst>
              <a:ext uri="{FF2B5EF4-FFF2-40B4-BE49-F238E27FC236}">
                <a16:creationId xmlns:a16="http://schemas.microsoft.com/office/drawing/2014/main" id="{0C590E26-012D-4EFA-843E-EA3148223833}"/>
              </a:ext>
            </a:extLst>
          </p:cNvPr>
          <p:cNvCxnSpPr>
            <a:cxnSpLocks/>
            <a:stCxn id="11" idx="1"/>
          </p:cNvCxnSpPr>
          <p:nvPr/>
        </p:nvCxnSpPr>
        <p:spPr>
          <a:xfrm flipH="1">
            <a:off x="7268068" y="3041956"/>
            <a:ext cx="923824" cy="21971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 name="Oval 3">
            <a:extLst>
              <a:ext uri="{FF2B5EF4-FFF2-40B4-BE49-F238E27FC236}">
                <a16:creationId xmlns:a16="http://schemas.microsoft.com/office/drawing/2014/main" id="{C214EC11-90F4-42D9-9741-C12535440E75}"/>
              </a:ext>
            </a:extLst>
          </p:cNvPr>
          <p:cNvSpPr/>
          <p:nvPr/>
        </p:nvSpPr>
        <p:spPr>
          <a:xfrm rot="19669348">
            <a:off x="5540164" y="3640350"/>
            <a:ext cx="2830636" cy="83466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TextBox 11">
            <a:extLst>
              <a:ext uri="{FF2B5EF4-FFF2-40B4-BE49-F238E27FC236}">
                <a16:creationId xmlns:a16="http://schemas.microsoft.com/office/drawing/2014/main" id="{4EDE7B41-442A-4701-9840-4CE1FD2F0DC6}"/>
              </a:ext>
            </a:extLst>
          </p:cNvPr>
          <p:cNvSpPr txBox="1"/>
          <p:nvPr/>
        </p:nvSpPr>
        <p:spPr>
          <a:xfrm>
            <a:off x="7965649" y="3740449"/>
            <a:ext cx="3161907" cy="369332"/>
          </a:xfrm>
          <a:prstGeom prst="rect">
            <a:avLst/>
          </a:prstGeom>
          <a:noFill/>
        </p:spPr>
        <p:txBody>
          <a:bodyPr wrap="square" rtlCol="1">
            <a:spAutoFit/>
          </a:bodyPr>
          <a:lstStyle/>
          <a:p>
            <a:r>
              <a:rPr lang="en-US" dirty="0">
                <a:solidFill>
                  <a:srgbClr val="FF0000"/>
                </a:solidFill>
              </a:rPr>
              <a:t>?</a:t>
            </a:r>
            <a:endParaRPr lang="he-IL" dirty="0">
              <a:solidFill>
                <a:srgbClr val="FF0000"/>
              </a:solidFill>
            </a:endParaRPr>
          </a:p>
        </p:txBody>
      </p:sp>
    </p:spTree>
    <p:extLst>
      <p:ext uri="{BB962C8B-B14F-4D97-AF65-F5344CB8AC3E}">
        <p14:creationId xmlns:p14="http://schemas.microsoft.com/office/powerpoint/2010/main" val="14565853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C554-45D3-4A61-86B8-CC791E5B4087}"/>
              </a:ext>
            </a:extLst>
          </p:cNvPr>
          <p:cNvSpPr>
            <a:spLocks noGrp="1"/>
          </p:cNvSpPr>
          <p:nvPr>
            <p:ph type="title"/>
          </p:nvPr>
        </p:nvSpPr>
        <p:spPr/>
        <p:txBody>
          <a:bodyPr/>
          <a:lstStyle/>
          <a:p>
            <a:r>
              <a:rPr lang="en-US" dirty="0"/>
              <a:t>Calibration graphs</a:t>
            </a:r>
            <a:endParaRPr lang="he-IL" dirty="0"/>
          </a:p>
        </p:txBody>
      </p:sp>
      <p:sp>
        <p:nvSpPr>
          <p:cNvPr id="3" name="Content Placeholder 2">
            <a:extLst>
              <a:ext uri="{FF2B5EF4-FFF2-40B4-BE49-F238E27FC236}">
                <a16:creationId xmlns:a16="http://schemas.microsoft.com/office/drawing/2014/main" id="{7EBE8F51-D7A3-449F-909C-C1DA3D1240F2}"/>
              </a:ext>
            </a:extLst>
          </p:cNvPr>
          <p:cNvSpPr>
            <a:spLocks noGrp="1"/>
          </p:cNvSpPr>
          <p:nvPr>
            <p:ph idx="1"/>
          </p:nvPr>
        </p:nvSpPr>
        <p:spPr/>
        <p:txBody>
          <a:bodyPr/>
          <a:lstStyle/>
          <a:p>
            <a:r>
              <a:rPr lang="en-US" dirty="0"/>
              <a:t>How good are we at knowing when we are (likely) right?</a:t>
            </a:r>
          </a:p>
          <a:p>
            <a:endParaRPr lang="en-US" dirty="0"/>
          </a:p>
        </p:txBody>
      </p:sp>
      <p:sp>
        <p:nvSpPr>
          <p:cNvPr id="5" name="TextBox 4">
            <a:extLst>
              <a:ext uri="{FF2B5EF4-FFF2-40B4-BE49-F238E27FC236}">
                <a16:creationId xmlns:a16="http://schemas.microsoft.com/office/drawing/2014/main" id="{76308852-ABAF-4406-B5E1-62DE6D547AB1}"/>
              </a:ext>
            </a:extLst>
          </p:cNvPr>
          <p:cNvSpPr txBox="1"/>
          <p:nvPr/>
        </p:nvSpPr>
        <p:spPr>
          <a:xfrm rot="16200000">
            <a:off x="1646978" y="3959258"/>
            <a:ext cx="2980496" cy="369332"/>
          </a:xfrm>
          <a:prstGeom prst="rect">
            <a:avLst/>
          </a:prstGeom>
          <a:noFill/>
        </p:spPr>
        <p:txBody>
          <a:bodyPr wrap="none" rtlCol="1">
            <a:spAutoFit/>
          </a:bodyPr>
          <a:lstStyle/>
          <a:p>
            <a:r>
              <a:rPr lang="en-US" dirty="0"/>
              <a:t>Proportion of correct answers</a:t>
            </a:r>
            <a:endParaRPr lang="he-IL" dirty="0"/>
          </a:p>
        </p:txBody>
      </p:sp>
      <p:sp>
        <p:nvSpPr>
          <p:cNvPr id="6" name="TextBox 5">
            <a:extLst>
              <a:ext uri="{FF2B5EF4-FFF2-40B4-BE49-F238E27FC236}">
                <a16:creationId xmlns:a16="http://schemas.microsoft.com/office/drawing/2014/main" id="{349412A4-8D19-4566-8E96-9DD0EFB29731}"/>
              </a:ext>
            </a:extLst>
          </p:cNvPr>
          <p:cNvSpPr txBox="1"/>
          <p:nvPr/>
        </p:nvSpPr>
        <p:spPr>
          <a:xfrm>
            <a:off x="3665885" y="6127234"/>
            <a:ext cx="4015202" cy="369332"/>
          </a:xfrm>
          <a:prstGeom prst="rect">
            <a:avLst/>
          </a:prstGeom>
          <a:noFill/>
        </p:spPr>
        <p:txBody>
          <a:bodyPr wrap="none" rtlCol="1">
            <a:spAutoFit/>
          </a:bodyPr>
          <a:lstStyle/>
          <a:p>
            <a:r>
              <a:rPr lang="en-US" dirty="0"/>
              <a:t>Self-assigned probability of being correct</a:t>
            </a:r>
            <a:endParaRPr lang="he-IL" dirty="0"/>
          </a:p>
        </p:txBody>
      </p:sp>
      <p:pic>
        <p:nvPicPr>
          <p:cNvPr id="7" name="Picture 6">
            <a:extLst>
              <a:ext uri="{FF2B5EF4-FFF2-40B4-BE49-F238E27FC236}">
                <a16:creationId xmlns:a16="http://schemas.microsoft.com/office/drawing/2014/main" id="{906A6BA7-9D6A-490D-914E-6BA680703CCA}"/>
              </a:ext>
            </a:extLst>
          </p:cNvPr>
          <p:cNvPicPr>
            <a:picLocks noChangeAspect="1"/>
          </p:cNvPicPr>
          <p:nvPr/>
        </p:nvPicPr>
        <p:blipFill rotWithShape="1">
          <a:blip r:embed="rId2"/>
          <a:srcRect l="4436" r="3015" b="3078"/>
          <a:stretch/>
        </p:blipFill>
        <p:spPr>
          <a:xfrm>
            <a:off x="3412503" y="2422942"/>
            <a:ext cx="4326903" cy="3638493"/>
          </a:xfrm>
          <a:prstGeom prst="rect">
            <a:avLst/>
          </a:prstGeom>
        </p:spPr>
      </p:pic>
      <p:cxnSp>
        <p:nvCxnSpPr>
          <p:cNvPr id="8" name="Straight Connector 7">
            <a:extLst>
              <a:ext uri="{FF2B5EF4-FFF2-40B4-BE49-F238E27FC236}">
                <a16:creationId xmlns:a16="http://schemas.microsoft.com/office/drawing/2014/main" id="{30343AF0-BD83-44BE-86A1-5C326165E965}"/>
              </a:ext>
            </a:extLst>
          </p:cNvPr>
          <p:cNvCxnSpPr>
            <a:cxnSpLocks/>
          </p:cNvCxnSpPr>
          <p:nvPr/>
        </p:nvCxnSpPr>
        <p:spPr>
          <a:xfrm flipV="1">
            <a:off x="3733014" y="2903456"/>
            <a:ext cx="4006392" cy="2950589"/>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964BCD5D-98DE-4AFE-8DF3-518DC04F01EE}"/>
              </a:ext>
            </a:extLst>
          </p:cNvPr>
          <p:cNvSpPr txBox="1"/>
          <p:nvPr/>
        </p:nvSpPr>
        <p:spPr>
          <a:xfrm>
            <a:off x="8191892" y="2718790"/>
            <a:ext cx="3161907" cy="646331"/>
          </a:xfrm>
          <a:prstGeom prst="rect">
            <a:avLst/>
          </a:prstGeom>
          <a:noFill/>
        </p:spPr>
        <p:txBody>
          <a:bodyPr wrap="square" rtlCol="1">
            <a:spAutoFit/>
          </a:bodyPr>
          <a:lstStyle/>
          <a:p>
            <a:r>
              <a:rPr lang="en-US" dirty="0"/>
              <a:t>Perfect calibration</a:t>
            </a:r>
            <a:br>
              <a:rPr lang="en-US" dirty="0"/>
            </a:br>
            <a:r>
              <a:rPr lang="en-US" dirty="0"/>
              <a:t>% correct = estimated % correct </a:t>
            </a:r>
            <a:endParaRPr lang="he-IL" dirty="0"/>
          </a:p>
        </p:txBody>
      </p:sp>
      <p:cxnSp>
        <p:nvCxnSpPr>
          <p:cNvPr id="13" name="Straight Arrow Connector 12">
            <a:extLst>
              <a:ext uri="{FF2B5EF4-FFF2-40B4-BE49-F238E27FC236}">
                <a16:creationId xmlns:a16="http://schemas.microsoft.com/office/drawing/2014/main" id="{0C590E26-012D-4EFA-843E-EA3148223833}"/>
              </a:ext>
            </a:extLst>
          </p:cNvPr>
          <p:cNvCxnSpPr>
            <a:cxnSpLocks/>
            <a:stCxn id="11" idx="1"/>
          </p:cNvCxnSpPr>
          <p:nvPr/>
        </p:nvCxnSpPr>
        <p:spPr>
          <a:xfrm flipH="1">
            <a:off x="7268068" y="3041956"/>
            <a:ext cx="923824" cy="21971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 name="Oval 3">
            <a:extLst>
              <a:ext uri="{FF2B5EF4-FFF2-40B4-BE49-F238E27FC236}">
                <a16:creationId xmlns:a16="http://schemas.microsoft.com/office/drawing/2014/main" id="{C214EC11-90F4-42D9-9741-C12535440E75}"/>
              </a:ext>
            </a:extLst>
          </p:cNvPr>
          <p:cNvSpPr/>
          <p:nvPr/>
        </p:nvSpPr>
        <p:spPr>
          <a:xfrm rot="19669348">
            <a:off x="5540164" y="3640350"/>
            <a:ext cx="2830636" cy="83466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TextBox 11">
            <a:extLst>
              <a:ext uri="{FF2B5EF4-FFF2-40B4-BE49-F238E27FC236}">
                <a16:creationId xmlns:a16="http://schemas.microsoft.com/office/drawing/2014/main" id="{4EDE7B41-442A-4701-9840-4CE1FD2F0DC6}"/>
              </a:ext>
            </a:extLst>
          </p:cNvPr>
          <p:cNvSpPr txBox="1"/>
          <p:nvPr/>
        </p:nvSpPr>
        <p:spPr>
          <a:xfrm>
            <a:off x="7965649" y="3740449"/>
            <a:ext cx="3161907" cy="646331"/>
          </a:xfrm>
          <a:prstGeom prst="rect">
            <a:avLst/>
          </a:prstGeom>
          <a:noFill/>
        </p:spPr>
        <p:txBody>
          <a:bodyPr wrap="square" rtlCol="1">
            <a:spAutoFit/>
          </a:bodyPr>
          <a:lstStyle/>
          <a:p>
            <a:r>
              <a:rPr lang="en-US" dirty="0">
                <a:solidFill>
                  <a:srgbClr val="FF0000"/>
                </a:solidFill>
              </a:rPr>
              <a:t>Over confidence</a:t>
            </a:r>
            <a:br>
              <a:rPr lang="en-US" dirty="0">
                <a:solidFill>
                  <a:srgbClr val="FF0000"/>
                </a:solidFill>
              </a:rPr>
            </a:br>
            <a:r>
              <a:rPr lang="en-US" dirty="0">
                <a:solidFill>
                  <a:srgbClr val="FF0000"/>
                </a:solidFill>
              </a:rPr>
              <a:t>% correct &lt; estimated % correct </a:t>
            </a:r>
            <a:endParaRPr lang="he-IL" dirty="0">
              <a:solidFill>
                <a:srgbClr val="FF0000"/>
              </a:solidFill>
            </a:endParaRPr>
          </a:p>
        </p:txBody>
      </p:sp>
    </p:spTree>
    <p:extLst>
      <p:ext uri="{BB962C8B-B14F-4D97-AF65-F5344CB8AC3E}">
        <p14:creationId xmlns:p14="http://schemas.microsoft.com/office/powerpoint/2010/main" val="34602701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C554-45D3-4A61-86B8-CC791E5B4087}"/>
              </a:ext>
            </a:extLst>
          </p:cNvPr>
          <p:cNvSpPr>
            <a:spLocks noGrp="1"/>
          </p:cNvSpPr>
          <p:nvPr>
            <p:ph type="title"/>
          </p:nvPr>
        </p:nvSpPr>
        <p:spPr/>
        <p:txBody>
          <a:bodyPr/>
          <a:lstStyle/>
          <a:p>
            <a:r>
              <a:rPr lang="en-US" dirty="0"/>
              <a:t>Calibration graphs</a:t>
            </a:r>
            <a:endParaRPr lang="he-IL" dirty="0"/>
          </a:p>
        </p:txBody>
      </p:sp>
      <p:sp>
        <p:nvSpPr>
          <p:cNvPr id="3" name="Content Placeholder 2">
            <a:extLst>
              <a:ext uri="{FF2B5EF4-FFF2-40B4-BE49-F238E27FC236}">
                <a16:creationId xmlns:a16="http://schemas.microsoft.com/office/drawing/2014/main" id="{7EBE8F51-D7A3-449F-909C-C1DA3D1240F2}"/>
              </a:ext>
            </a:extLst>
          </p:cNvPr>
          <p:cNvSpPr>
            <a:spLocks noGrp="1"/>
          </p:cNvSpPr>
          <p:nvPr>
            <p:ph idx="1"/>
          </p:nvPr>
        </p:nvSpPr>
        <p:spPr/>
        <p:txBody>
          <a:bodyPr/>
          <a:lstStyle/>
          <a:p>
            <a:r>
              <a:rPr lang="en-US" dirty="0"/>
              <a:t>How good are we at knowing when we are (likely) right?</a:t>
            </a:r>
          </a:p>
          <a:p>
            <a:endParaRPr lang="en-US" dirty="0"/>
          </a:p>
        </p:txBody>
      </p:sp>
      <p:sp>
        <p:nvSpPr>
          <p:cNvPr id="5" name="TextBox 4">
            <a:extLst>
              <a:ext uri="{FF2B5EF4-FFF2-40B4-BE49-F238E27FC236}">
                <a16:creationId xmlns:a16="http://schemas.microsoft.com/office/drawing/2014/main" id="{76308852-ABAF-4406-B5E1-62DE6D547AB1}"/>
              </a:ext>
            </a:extLst>
          </p:cNvPr>
          <p:cNvSpPr txBox="1"/>
          <p:nvPr/>
        </p:nvSpPr>
        <p:spPr>
          <a:xfrm rot="16200000">
            <a:off x="1646978" y="3959258"/>
            <a:ext cx="2980496" cy="369332"/>
          </a:xfrm>
          <a:prstGeom prst="rect">
            <a:avLst/>
          </a:prstGeom>
          <a:noFill/>
        </p:spPr>
        <p:txBody>
          <a:bodyPr wrap="none" rtlCol="1">
            <a:spAutoFit/>
          </a:bodyPr>
          <a:lstStyle/>
          <a:p>
            <a:r>
              <a:rPr lang="en-US" dirty="0"/>
              <a:t>Proportion of correct answers</a:t>
            </a:r>
            <a:endParaRPr lang="he-IL" dirty="0"/>
          </a:p>
        </p:txBody>
      </p:sp>
      <p:sp>
        <p:nvSpPr>
          <p:cNvPr id="6" name="TextBox 5">
            <a:extLst>
              <a:ext uri="{FF2B5EF4-FFF2-40B4-BE49-F238E27FC236}">
                <a16:creationId xmlns:a16="http://schemas.microsoft.com/office/drawing/2014/main" id="{349412A4-8D19-4566-8E96-9DD0EFB29731}"/>
              </a:ext>
            </a:extLst>
          </p:cNvPr>
          <p:cNvSpPr txBox="1"/>
          <p:nvPr/>
        </p:nvSpPr>
        <p:spPr>
          <a:xfrm>
            <a:off x="3665885" y="6127234"/>
            <a:ext cx="4015202" cy="369332"/>
          </a:xfrm>
          <a:prstGeom prst="rect">
            <a:avLst/>
          </a:prstGeom>
          <a:noFill/>
        </p:spPr>
        <p:txBody>
          <a:bodyPr wrap="none" rtlCol="1">
            <a:spAutoFit/>
          </a:bodyPr>
          <a:lstStyle/>
          <a:p>
            <a:r>
              <a:rPr lang="en-US" dirty="0"/>
              <a:t>Self-assigned probability of being correct</a:t>
            </a:r>
            <a:endParaRPr lang="he-IL" dirty="0"/>
          </a:p>
        </p:txBody>
      </p:sp>
      <p:pic>
        <p:nvPicPr>
          <p:cNvPr id="7" name="Picture 6">
            <a:extLst>
              <a:ext uri="{FF2B5EF4-FFF2-40B4-BE49-F238E27FC236}">
                <a16:creationId xmlns:a16="http://schemas.microsoft.com/office/drawing/2014/main" id="{906A6BA7-9D6A-490D-914E-6BA680703CCA}"/>
              </a:ext>
            </a:extLst>
          </p:cNvPr>
          <p:cNvPicPr>
            <a:picLocks noChangeAspect="1"/>
          </p:cNvPicPr>
          <p:nvPr/>
        </p:nvPicPr>
        <p:blipFill rotWithShape="1">
          <a:blip r:embed="rId2"/>
          <a:srcRect l="4436" r="3015" b="3078"/>
          <a:stretch/>
        </p:blipFill>
        <p:spPr>
          <a:xfrm>
            <a:off x="3412503" y="2422942"/>
            <a:ext cx="4326903" cy="3638493"/>
          </a:xfrm>
          <a:prstGeom prst="rect">
            <a:avLst/>
          </a:prstGeom>
        </p:spPr>
      </p:pic>
      <p:cxnSp>
        <p:nvCxnSpPr>
          <p:cNvPr id="8" name="Straight Connector 7">
            <a:extLst>
              <a:ext uri="{FF2B5EF4-FFF2-40B4-BE49-F238E27FC236}">
                <a16:creationId xmlns:a16="http://schemas.microsoft.com/office/drawing/2014/main" id="{30343AF0-BD83-44BE-86A1-5C326165E965}"/>
              </a:ext>
            </a:extLst>
          </p:cNvPr>
          <p:cNvCxnSpPr>
            <a:cxnSpLocks/>
          </p:cNvCxnSpPr>
          <p:nvPr/>
        </p:nvCxnSpPr>
        <p:spPr>
          <a:xfrm flipV="1">
            <a:off x="3733014" y="2903456"/>
            <a:ext cx="4006392" cy="2950589"/>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964BCD5D-98DE-4AFE-8DF3-518DC04F01EE}"/>
              </a:ext>
            </a:extLst>
          </p:cNvPr>
          <p:cNvSpPr txBox="1"/>
          <p:nvPr/>
        </p:nvSpPr>
        <p:spPr>
          <a:xfrm>
            <a:off x="8191892" y="2718790"/>
            <a:ext cx="3161907" cy="646331"/>
          </a:xfrm>
          <a:prstGeom prst="rect">
            <a:avLst/>
          </a:prstGeom>
          <a:noFill/>
        </p:spPr>
        <p:txBody>
          <a:bodyPr wrap="square" rtlCol="1">
            <a:spAutoFit/>
          </a:bodyPr>
          <a:lstStyle/>
          <a:p>
            <a:r>
              <a:rPr lang="en-US" dirty="0"/>
              <a:t>Perfect calibration</a:t>
            </a:r>
            <a:br>
              <a:rPr lang="en-US" dirty="0"/>
            </a:br>
            <a:r>
              <a:rPr lang="en-US" dirty="0"/>
              <a:t>% correct = estimated % correct </a:t>
            </a:r>
            <a:endParaRPr lang="he-IL" dirty="0"/>
          </a:p>
        </p:txBody>
      </p:sp>
      <p:cxnSp>
        <p:nvCxnSpPr>
          <p:cNvPr id="13" name="Straight Arrow Connector 12">
            <a:extLst>
              <a:ext uri="{FF2B5EF4-FFF2-40B4-BE49-F238E27FC236}">
                <a16:creationId xmlns:a16="http://schemas.microsoft.com/office/drawing/2014/main" id="{0C590E26-012D-4EFA-843E-EA3148223833}"/>
              </a:ext>
            </a:extLst>
          </p:cNvPr>
          <p:cNvCxnSpPr>
            <a:cxnSpLocks/>
            <a:stCxn id="11" idx="1"/>
          </p:cNvCxnSpPr>
          <p:nvPr/>
        </p:nvCxnSpPr>
        <p:spPr>
          <a:xfrm flipH="1">
            <a:off x="7268068" y="3041956"/>
            <a:ext cx="923824" cy="21971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 name="Oval 3">
            <a:extLst>
              <a:ext uri="{FF2B5EF4-FFF2-40B4-BE49-F238E27FC236}">
                <a16:creationId xmlns:a16="http://schemas.microsoft.com/office/drawing/2014/main" id="{C214EC11-90F4-42D9-9741-C12535440E75}"/>
              </a:ext>
            </a:extLst>
          </p:cNvPr>
          <p:cNvSpPr/>
          <p:nvPr/>
        </p:nvSpPr>
        <p:spPr>
          <a:xfrm rot="19669348">
            <a:off x="5540164" y="3640350"/>
            <a:ext cx="2830636" cy="83466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TextBox 11">
            <a:extLst>
              <a:ext uri="{FF2B5EF4-FFF2-40B4-BE49-F238E27FC236}">
                <a16:creationId xmlns:a16="http://schemas.microsoft.com/office/drawing/2014/main" id="{4EDE7B41-442A-4701-9840-4CE1FD2F0DC6}"/>
              </a:ext>
            </a:extLst>
          </p:cNvPr>
          <p:cNvSpPr txBox="1"/>
          <p:nvPr/>
        </p:nvSpPr>
        <p:spPr>
          <a:xfrm>
            <a:off x="7965649" y="3740449"/>
            <a:ext cx="3161907" cy="646331"/>
          </a:xfrm>
          <a:prstGeom prst="rect">
            <a:avLst/>
          </a:prstGeom>
          <a:noFill/>
        </p:spPr>
        <p:txBody>
          <a:bodyPr wrap="square" rtlCol="1">
            <a:spAutoFit/>
          </a:bodyPr>
          <a:lstStyle/>
          <a:p>
            <a:r>
              <a:rPr lang="en-US" dirty="0">
                <a:solidFill>
                  <a:srgbClr val="FF0000"/>
                </a:solidFill>
              </a:rPr>
              <a:t>Over confidence</a:t>
            </a:r>
            <a:br>
              <a:rPr lang="en-US" dirty="0">
                <a:solidFill>
                  <a:srgbClr val="FF0000"/>
                </a:solidFill>
              </a:rPr>
            </a:br>
            <a:r>
              <a:rPr lang="en-US" dirty="0">
                <a:solidFill>
                  <a:srgbClr val="FF0000"/>
                </a:solidFill>
              </a:rPr>
              <a:t>% correct &lt; estimated % correct </a:t>
            </a:r>
            <a:endParaRPr lang="he-IL" dirty="0">
              <a:solidFill>
                <a:srgbClr val="FF0000"/>
              </a:solidFill>
            </a:endParaRPr>
          </a:p>
        </p:txBody>
      </p:sp>
      <p:sp>
        <p:nvSpPr>
          <p:cNvPr id="14" name="Oval 13">
            <a:extLst>
              <a:ext uri="{FF2B5EF4-FFF2-40B4-BE49-F238E27FC236}">
                <a16:creationId xmlns:a16="http://schemas.microsoft.com/office/drawing/2014/main" id="{70CBD3EB-9AEE-42F5-B228-704C3BB3BC38}"/>
              </a:ext>
            </a:extLst>
          </p:cNvPr>
          <p:cNvSpPr/>
          <p:nvPr/>
        </p:nvSpPr>
        <p:spPr>
          <a:xfrm rot="19527489">
            <a:off x="4421635" y="3267403"/>
            <a:ext cx="2891095" cy="834663"/>
          </a:xfrm>
          <a:prstGeom prst="ellipse">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5" name="TextBox 14">
            <a:extLst>
              <a:ext uri="{FF2B5EF4-FFF2-40B4-BE49-F238E27FC236}">
                <a16:creationId xmlns:a16="http://schemas.microsoft.com/office/drawing/2014/main" id="{F0932D96-C234-4E45-9BDC-E11FE6B9A331}"/>
              </a:ext>
            </a:extLst>
          </p:cNvPr>
          <p:cNvSpPr txBox="1"/>
          <p:nvPr/>
        </p:nvSpPr>
        <p:spPr>
          <a:xfrm rot="19629029">
            <a:off x="3954353" y="3012328"/>
            <a:ext cx="3161907" cy="369332"/>
          </a:xfrm>
          <a:prstGeom prst="rect">
            <a:avLst/>
          </a:prstGeom>
          <a:noFill/>
        </p:spPr>
        <p:txBody>
          <a:bodyPr wrap="square" rtlCol="1">
            <a:spAutoFit/>
          </a:bodyPr>
          <a:lstStyle/>
          <a:p>
            <a:r>
              <a:rPr lang="en-US" dirty="0">
                <a:solidFill>
                  <a:schemeClr val="accent4">
                    <a:lumMod val="75000"/>
                  </a:schemeClr>
                </a:solidFill>
              </a:rPr>
              <a:t>?</a:t>
            </a:r>
            <a:endParaRPr lang="he-IL" dirty="0">
              <a:solidFill>
                <a:schemeClr val="accent4">
                  <a:lumMod val="75000"/>
                </a:schemeClr>
              </a:solidFill>
            </a:endParaRPr>
          </a:p>
        </p:txBody>
      </p:sp>
    </p:spTree>
    <p:extLst>
      <p:ext uri="{BB962C8B-B14F-4D97-AF65-F5344CB8AC3E}">
        <p14:creationId xmlns:p14="http://schemas.microsoft.com/office/powerpoint/2010/main" val="4261500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C554-45D3-4A61-86B8-CC791E5B4087}"/>
              </a:ext>
            </a:extLst>
          </p:cNvPr>
          <p:cNvSpPr>
            <a:spLocks noGrp="1"/>
          </p:cNvSpPr>
          <p:nvPr>
            <p:ph type="title"/>
          </p:nvPr>
        </p:nvSpPr>
        <p:spPr/>
        <p:txBody>
          <a:bodyPr/>
          <a:lstStyle/>
          <a:p>
            <a:r>
              <a:rPr lang="en-US" dirty="0"/>
              <a:t>Calibration graphs</a:t>
            </a:r>
            <a:endParaRPr lang="he-IL" dirty="0"/>
          </a:p>
        </p:txBody>
      </p:sp>
      <p:sp>
        <p:nvSpPr>
          <p:cNvPr id="3" name="Content Placeholder 2">
            <a:extLst>
              <a:ext uri="{FF2B5EF4-FFF2-40B4-BE49-F238E27FC236}">
                <a16:creationId xmlns:a16="http://schemas.microsoft.com/office/drawing/2014/main" id="{7EBE8F51-D7A3-449F-909C-C1DA3D1240F2}"/>
              </a:ext>
            </a:extLst>
          </p:cNvPr>
          <p:cNvSpPr>
            <a:spLocks noGrp="1"/>
          </p:cNvSpPr>
          <p:nvPr>
            <p:ph idx="1"/>
          </p:nvPr>
        </p:nvSpPr>
        <p:spPr/>
        <p:txBody>
          <a:bodyPr/>
          <a:lstStyle/>
          <a:p>
            <a:r>
              <a:rPr lang="en-US" dirty="0"/>
              <a:t>How good are we at knowing when we are (likely) right?</a:t>
            </a:r>
          </a:p>
          <a:p>
            <a:endParaRPr lang="en-US" dirty="0"/>
          </a:p>
        </p:txBody>
      </p:sp>
      <p:sp>
        <p:nvSpPr>
          <p:cNvPr id="5" name="TextBox 4">
            <a:extLst>
              <a:ext uri="{FF2B5EF4-FFF2-40B4-BE49-F238E27FC236}">
                <a16:creationId xmlns:a16="http://schemas.microsoft.com/office/drawing/2014/main" id="{76308852-ABAF-4406-B5E1-62DE6D547AB1}"/>
              </a:ext>
            </a:extLst>
          </p:cNvPr>
          <p:cNvSpPr txBox="1"/>
          <p:nvPr/>
        </p:nvSpPr>
        <p:spPr>
          <a:xfrm rot="16200000">
            <a:off x="1646978" y="3959258"/>
            <a:ext cx="2980496" cy="369332"/>
          </a:xfrm>
          <a:prstGeom prst="rect">
            <a:avLst/>
          </a:prstGeom>
          <a:noFill/>
        </p:spPr>
        <p:txBody>
          <a:bodyPr wrap="none" rtlCol="1">
            <a:spAutoFit/>
          </a:bodyPr>
          <a:lstStyle/>
          <a:p>
            <a:r>
              <a:rPr lang="en-US" dirty="0"/>
              <a:t>Proportion of correct answers</a:t>
            </a:r>
            <a:endParaRPr lang="he-IL" dirty="0"/>
          </a:p>
        </p:txBody>
      </p:sp>
      <p:sp>
        <p:nvSpPr>
          <p:cNvPr id="6" name="TextBox 5">
            <a:extLst>
              <a:ext uri="{FF2B5EF4-FFF2-40B4-BE49-F238E27FC236}">
                <a16:creationId xmlns:a16="http://schemas.microsoft.com/office/drawing/2014/main" id="{349412A4-8D19-4566-8E96-9DD0EFB29731}"/>
              </a:ext>
            </a:extLst>
          </p:cNvPr>
          <p:cNvSpPr txBox="1"/>
          <p:nvPr/>
        </p:nvSpPr>
        <p:spPr>
          <a:xfrm>
            <a:off x="3665885" y="6127234"/>
            <a:ext cx="4015202" cy="369332"/>
          </a:xfrm>
          <a:prstGeom prst="rect">
            <a:avLst/>
          </a:prstGeom>
          <a:noFill/>
        </p:spPr>
        <p:txBody>
          <a:bodyPr wrap="none" rtlCol="1">
            <a:spAutoFit/>
          </a:bodyPr>
          <a:lstStyle/>
          <a:p>
            <a:r>
              <a:rPr lang="en-US" dirty="0"/>
              <a:t>Self-assigned probability of being correct</a:t>
            </a:r>
            <a:endParaRPr lang="he-IL" dirty="0"/>
          </a:p>
        </p:txBody>
      </p:sp>
      <p:pic>
        <p:nvPicPr>
          <p:cNvPr id="7" name="Picture 6">
            <a:extLst>
              <a:ext uri="{FF2B5EF4-FFF2-40B4-BE49-F238E27FC236}">
                <a16:creationId xmlns:a16="http://schemas.microsoft.com/office/drawing/2014/main" id="{906A6BA7-9D6A-490D-914E-6BA680703CCA}"/>
              </a:ext>
            </a:extLst>
          </p:cNvPr>
          <p:cNvPicPr>
            <a:picLocks noChangeAspect="1"/>
          </p:cNvPicPr>
          <p:nvPr/>
        </p:nvPicPr>
        <p:blipFill rotWithShape="1">
          <a:blip r:embed="rId2"/>
          <a:srcRect l="4436" r="3015" b="3078"/>
          <a:stretch/>
        </p:blipFill>
        <p:spPr>
          <a:xfrm>
            <a:off x="3412503" y="2422942"/>
            <a:ext cx="4326903" cy="3638493"/>
          </a:xfrm>
          <a:prstGeom prst="rect">
            <a:avLst/>
          </a:prstGeom>
        </p:spPr>
      </p:pic>
      <p:cxnSp>
        <p:nvCxnSpPr>
          <p:cNvPr id="8" name="Straight Connector 7">
            <a:extLst>
              <a:ext uri="{FF2B5EF4-FFF2-40B4-BE49-F238E27FC236}">
                <a16:creationId xmlns:a16="http://schemas.microsoft.com/office/drawing/2014/main" id="{30343AF0-BD83-44BE-86A1-5C326165E965}"/>
              </a:ext>
            </a:extLst>
          </p:cNvPr>
          <p:cNvCxnSpPr>
            <a:cxnSpLocks/>
          </p:cNvCxnSpPr>
          <p:nvPr/>
        </p:nvCxnSpPr>
        <p:spPr>
          <a:xfrm flipV="1">
            <a:off x="3733014" y="2903456"/>
            <a:ext cx="4006392" cy="2950589"/>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964BCD5D-98DE-4AFE-8DF3-518DC04F01EE}"/>
              </a:ext>
            </a:extLst>
          </p:cNvPr>
          <p:cNvSpPr txBox="1"/>
          <p:nvPr/>
        </p:nvSpPr>
        <p:spPr>
          <a:xfrm>
            <a:off x="8191892" y="2718790"/>
            <a:ext cx="3161907" cy="646331"/>
          </a:xfrm>
          <a:prstGeom prst="rect">
            <a:avLst/>
          </a:prstGeom>
          <a:noFill/>
        </p:spPr>
        <p:txBody>
          <a:bodyPr wrap="square" rtlCol="1">
            <a:spAutoFit/>
          </a:bodyPr>
          <a:lstStyle/>
          <a:p>
            <a:r>
              <a:rPr lang="en-US" dirty="0"/>
              <a:t>Perfect calibration</a:t>
            </a:r>
            <a:br>
              <a:rPr lang="en-US" dirty="0"/>
            </a:br>
            <a:r>
              <a:rPr lang="en-US" dirty="0"/>
              <a:t>% correct = estimated % correct </a:t>
            </a:r>
            <a:endParaRPr lang="he-IL" dirty="0"/>
          </a:p>
        </p:txBody>
      </p:sp>
      <p:cxnSp>
        <p:nvCxnSpPr>
          <p:cNvPr id="13" name="Straight Arrow Connector 12">
            <a:extLst>
              <a:ext uri="{FF2B5EF4-FFF2-40B4-BE49-F238E27FC236}">
                <a16:creationId xmlns:a16="http://schemas.microsoft.com/office/drawing/2014/main" id="{0C590E26-012D-4EFA-843E-EA3148223833}"/>
              </a:ext>
            </a:extLst>
          </p:cNvPr>
          <p:cNvCxnSpPr>
            <a:cxnSpLocks/>
            <a:stCxn id="11" idx="1"/>
          </p:cNvCxnSpPr>
          <p:nvPr/>
        </p:nvCxnSpPr>
        <p:spPr>
          <a:xfrm flipH="1">
            <a:off x="7268068" y="3041956"/>
            <a:ext cx="923824" cy="21971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 name="Oval 3">
            <a:extLst>
              <a:ext uri="{FF2B5EF4-FFF2-40B4-BE49-F238E27FC236}">
                <a16:creationId xmlns:a16="http://schemas.microsoft.com/office/drawing/2014/main" id="{C214EC11-90F4-42D9-9741-C12535440E75}"/>
              </a:ext>
            </a:extLst>
          </p:cNvPr>
          <p:cNvSpPr/>
          <p:nvPr/>
        </p:nvSpPr>
        <p:spPr>
          <a:xfrm rot="19669348">
            <a:off x="5540164" y="3640350"/>
            <a:ext cx="2830636" cy="83466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TextBox 11">
            <a:extLst>
              <a:ext uri="{FF2B5EF4-FFF2-40B4-BE49-F238E27FC236}">
                <a16:creationId xmlns:a16="http://schemas.microsoft.com/office/drawing/2014/main" id="{4EDE7B41-442A-4701-9840-4CE1FD2F0DC6}"/>
              </a:ext>
            </a:extLst>
          </p:cNvPr>
          <p:cNvSpPr txBox="1"/>
          <p:nvPr/>
        </p:nvSpPr>
        <p:spPr>
          <a:xfrm>
            <a:off x="7965649" y="3740449"/>
            <a:ext cx="3161907" cy="646331"/>
          </a:xfrm>
          <a:prstGeom prst="rect">
            <a:avLst/>
          </a:prstGeom>
          <a:noFill/>
        </p:spPr>
        <p:txBody>
          <a:bodyPr wrap="square" rtlCol="1">
            <a:spAutoFit/>
          </a:bodyPr>
          <a:lstStyle/>
          <a:p>
            <a:r>
              <a:rPr lang="en-US" dirty="0">
                <a:solidFill>
                  <a:srgbClr val="FF0000"/>
                </a:solidFill>
              </a:rPr>
              <a:t>Over confidence</a:t>
            </a:r>
            <a:br>
              <a:rPr lang="en-US" dirty="0">
                <a:solidFill>
                  <a:srgbClr val="FF0000"/>
                </a:solidFill>
              </a:rPr>
            </a:br>
            <a:r>
              <a:rPr lang="en-US" dirty="0">
                <a:solidFill>
                  <a:srgbClr val="FF0000"/>
                </a:solidFill>
              </a:rPr>
              <a:t>% correct &lt; estimated % correct </a:t>
            </a:r>
            <a:endParaRPr lang="he-IL" dirty="0">
              <a:solidFill>
                <a:srgbClr val="FF0000"/>
              </a:solidFill>
            </a:endParaRPr>
          </a:p>
        </p:txBody>
      </p:sp>
      <p:sp>
        <p:nvSpPr>
          <p:cNvPr id="14" name="Oval 13">
            <a:extLst>
              <a:ext uri="{FF2B5EF4-FFF2-40B4-BE49-F238E27FC236}">
                <a16:creationId xmlns:a16="http://schemas.microsoft.com/office/drawing/2014/main" id="{70CBD3EB-9AEE-42F5-B228-704C3BB3BC38}"/>
              </a:ext>
            </a:extLst>
          </p:cNvPr>
          <p:cNvSpPr/>
          <p:nvPr/>
        </p:nvSpPr>
        <p:spPr>
          <a:xfrm rot="19527489">
            <a:off x="4421635" y="3267403"/>
            <a:ext cx="2891095" cy="834663"/>
          </a:xfrm>
          <a:prstGeom prst="ellipse">
            <a:avLst/>
          </a:prstGeom>
          <a:no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5" name="TextBox 14">
            <a:extLst>
              <a:ext uri="{FF2B5EF4-FFF2-40B4-BE49-F238E27FC236}">
                <a16:creationId xmlns:a16="http://schemas.microsoft.com/office/drawing/2014/main" id="{F0932D96-C234-4E45-9BDC-E11FE6B9A331}"/>
              </a:ext>
            </a:extLst>
          </p:cNvPr>
          <p:cNvSpPr txBox="1"/>
          <p:nvPr/>
        </p:nvSpPr>
        <p:spPr>
          <a:xfrm rot="19629029">
            <a:off x="3871076" y="2704617"/>
            <a:ext cx="3161907" cy="646331"/>
          </a:xfrm>
          <a:prstGeom prst="rect">
            <a:avLst/>
          </a:prstGeom>
          <a:noFill/>
        </p:spPr>
        <p:txBody>
          <a:bodyPr wrap="square" rtlCol="1">
            <a:spAutoFit/>
          </a:bodyPr>
          <a:lstStyle/>
          <a:p>
            <a:r>
              <a:rPr lang="en-US" dirty="0">
                <a:solidFill>
                  <a:schemeClr val="accent4">
                    <a:lumMod val="75000"/>
                  </a:schemeClr>
                </a:solidFill>
              </a:rPr>
              <a:t>Under confidence</a:t>
            </a:r>
            <a:br>
              <a:rPr lang="en-US" dirty="0">
                <a:solidFill>
                  <a:schemeClr val="accent4">
                    <a:lumMod val="75000"/>
                  </a:schemeClr>
                </a:solidFill>
              </a:rPr>
            </a:br>
            <a:r>
              <a:rPr lang="en-US" dirty="0">
                <a:solidFill>
                  <a:schemeClr val="accent4">
                    <a:lumMod val="75000"/>
                  </a:schemeClr>
                </a:solidFill>
              </a:rPr>
              <a:t>% correct &gt; estimated % correct </a:t>
            </a:r>
            <a:endParaRPr lang="he-IL" dirty="0">
              <a:solidFill>
                <a:schemeClr val="accent4">
                  <a:lumMod val="75000"/>
                </a:schemeClr>
              </a:solidFill>
            </a:endParaRPr>
          </a:p>
        </p:txBody>
      </p:sp>
    </p:spTree>
    <p:extLst>
      <p:ext uri="{BB962C8B-B14F-4D97-AF65-F5344CB8AC3E}">
        <p14:creationId xmlns:p14="http://schemas.microsoft.com/office/powerpoint/2010/main" val="28632125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C554-45D3-4A61-86B8-CC791E5B4087}"/>
              </a:ext>
            </a:extLst>
          </p:cNvPr>
          <p:cNvSpPr>
            <a:spLocks noGrp="1"/>
          </p:cNvSpPr>
          <p:nvPr>
            <p:ph type="title"/>
          </p:nvPr>
        </p:nvSpPr>
        <p:spPr/>
        <p:txBody>
          <a:bodyPr/>
          <a:lstStyle/>
          <a:p>
            <a:r>
              <a:rPr lang="en-US" dirty="0"/>
              <a:t>Evaluating our own conclusions</a:t>
            </a:r>
            <a:endParaRPr lang="he-IL" dirty="0"/>
          </a:p>
        </p:txBody>
      </p:sp>
      <p:sp>
        <p:nvSpPr>
          <p:cNvPr id="3" name="Content Placeholder 2">
            <a:extLst>
              <a:ext uri="{FF2B5EF4-FFF2-40B4-BE49-F238E27FC236}">
                <a16:creationId xmlns:a16="http://schemas.microsoft.com/office/drawing/2014/main" id="{7EBE8F51-D7A3-449F-909C-C1DA3D1240F2}"/>
              </a:ext>
            </a:extLst>
          </p:cNvPr>
          <p:cNvSpPr>
            <a:spLocks noGrp="1"/>
          </p:cNvSpPr>
          <p:nvPr>
            <p:ph idx="1"/>
          </p:nvPr>
        </p:nvSpPr>
        <p:spPr/>
        <p:txBody>
          <a:bodyPr/>
          <a:lstStyle/>
          <a:p>
            <a:endParaRPr lang="en-US" dirty="0"/>
          </a:p>
          <a:p>
            <a:r>
              <a:rPr lang="en-US" dirty="0"/>
              <a:t>How good were you at knowing when you are (likely) right?</a:t>
            </a:r>
          </a:p>
          <a:p>
            <a:endParaRPr lang="en-US" dirty="0"/>
          </a:p>
          <a:p>
            <a:r>
              <a:rPr lang="en-US" dirty="0"/>
              <a:t>Experiment:</a:t>
            </a:r>
          </a:p>
          <a:p>
            <a:pPr marL="0" indent="0">
              <a:buNone/>
            </a:pPr>
            <a:r>
              <a:rPr lang="en-US" dirty="0"/>
              <a:t>Trivia questions</a:t>
            </a:r>
            <a:br>
              <a:rPr lang="en-US" dirty="0"/>
            </a:br>
            <a:endParaRPr lang="he-IL" dirty="0"/>
          </a:p>
        </p:txBody>
      </p:sp>
      <p:pic>
        <p:nvPicPr>
          <p:cNvPr id="4" name="Picture 3">
            <a:extLst>
              <a:ext uri="{FF2B5EF4-FFF2-40B4-BE49-F238E27FC236}">
                <a16:creationId xmlns:a16="http://schemas.microsoft.com/office/drawing/2014/main" id="{E4EE6690-3374-4777-BC92-60419C59DF37}"/>
              </a:ext>
            </a:extLst>
          </p:cNvPr>
          <p:cNvPicPr>
            <a:picLocks noChangeAspect="1"/>
          </p:cNvPicPr>
          <p:nvPr/>
        </p:nvPicPr>
        <p:blipFill>
          <a:blip r:embed="rId2"/>
          <a:stretch>
            <a:fillRect/>
          </a:stretch>
        </p:blipFill>
        <p:spPr>
          <a:xfrm>
            <a:off x="3280527" y="2993103"/>
            <a:ext cx="3856757" cy="3318797"/>
          </a:xfrm>
          <a:prstGeom prst="rect">
            <a:avLst/>
          </a:prstGeom>
        </p:spPr>
      </p:pic>
      <p:sp>
        <p:nvSpPr>
          <p:cNvPr id="5" name="Rectangle 4">
            <a:extLst>
              <a:ext uri="{FF2B5EF4-FFF2-40B4-BE49-F238E27FC236}">
                <a16:creationId xmlns:a16="http://schemas.microsoft.com/office/drawing/2014/main" id="{B8FD1BB1-4E66-4185-B61A-95CA1FC3DE94}"/>
              </a:ext>
            </a:extLst>
          </p:cNvPr>
          <p:cNvSpPr/>
          <p:nvPr/>
        </p:nvSpPr>
        <p:spPr>
          <a:xfrm>
            <a:off x="7346623" y="6059766"/>
            <a:ext cx="3371654" cy="369332"/>
          </a:xfrm>
          <a:prstGeom prst="rect">
            <a:avLst/>
          </a:prstGeom>
        </p:spPr>
        <p:txBody>
          <a:bodyPr wrap="square">
            <a:spAutoFit/>
          </a:bodyPr>
          <a:lstStyle/>
          <a:p>
            <a:pPr marL="304800" indent="-304800"/>
            <a:r>
              <a:rPr lang="en-US" dirty="0"/>
              <a:t>Lichtenstein &amp; </a:t>
            </a:r>
            <a:r>
              <a:rPr lang="en-US" dirty="0" err="1"/>
              <a:t>Fischhoff</a:t>
            </a:r>
            <a:r>
              <a:rPr lang="en-US" dirty="0"/>
              <a:t> (1977). </a:t>
            </a:r>
            <a:endParaRPr lang="en-US" dirty="0">
              <a:effectLst/>
            </a:endParaRPr>
          </a:p>
        </p:txBody>
      </p:sp>
    </p:spTree>
    <p:extLst>
      <p:ext uri="{BB962C8B-B14F-4D97-AF65-F5344CB8AC3E}">
        <p14:creationId xmlns:p14="http://schemas.microsoft.com/office/powerpoint/2010/main" val="3305112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C554-45D3-4A61-86B8-CC791E5B4087}"/>
              </a:ext>
            </a:extLst>
          </p:cNvPr>
          <p:cNvSpPr>
            <a:spLocks noGrp="1"/>
          </p:cNvSpPr>
          <p:nvPr>
            <p:ph type="title"/>
          </p:nvPr>
        </p:nvSpPr>
        <p:spPr/>
        <p:txBody>
          <a:bodyPr/>
          <a:lstStyle/>
          <a:p>
            <a:r>
              <a:rPr lang="en-US" dirty="0"/>
              <a:t>Evaluating our own conclusions</a:t>
            </a:r>
            <a:endParaRPr lang="he-IL" dirty="0"/>
          </a:p>
        </p:txBody>
      </p:sp>
      <p:sp>
        <p:nvSpPr>
          <p:cNvPr id="3" name="Content Placeholder 2">
            <a:extLst>
              <a:ext uri="{FF2B5EF4-FFF2-40B4-BE49-F238E27FC236}">
                <a16:creationId xmlns:a16="http://schemas.microsoft.com/office/drawing/2014/main" id="{7EBE8F51-D7A3-449F-909C-C1DA3D1240F2}"/>
              </a:ext>
            </a:extLst>
          </p:cNvPr>
          <p:cNvSpPr>
            <a:spLocks noGrp="1"/>
          </p:cNvSpPr>
          <p:nvPr>
            <p:ph idx="1"/>
          </p:nvPr>
        </p:nvSpPr>
        <p:spPr/>
        <p:txBody>
          <a:bodyPr/>
          <a:lstStyle/>
          <a:p>
            <a:endParaRPr lang="en-US" dirty="0"/>
          </a:p>
          <a:p>
            <a:r>
              <a:rPr lang="en-US" dirty="0"/>
              <a:t>How good were you at knowing when you are (likely) right?</a:t>
            </a:r>
          </a:p>
          <a:p>
            <a:endParaRPr lang="en-US" dirty="0"/>
          </a:p>
          <a:p>
            <a:r>
              <a:rPr lang="en-US" dirty="0"/>
              <a:t>Experiment:</a:t>
            </a:r>
          </a:p>
          <a:p>
            <a:pPr marL="0" indent="0">
              <a:buNone/>
            </a:pPr>
            <a:r>
              <a:rPr lang="en-US" dirty="0"/>
              <a:t>Trivia questions</a:t>
            </a:r>
            <a:endParaRPr lang="he-IL" dirty="0"/>
          </a:p>
        </p:txBody>
      </p:sp>
      <p:sp>
        <p:nvSpPr>
          <p:cNvPr id="5" name="Rectangle 4">
            <a:extLst>
              <a:ext uri="{FF2B5EF4-FFF2-40B4-BE49-F238E27FC236}">
                <a16:creationId xmlns:a16="http://schemas.microsoft.com/office/drawing/2014/main" id="{B8FD1BB1-4E66-4185-B61A-95CA1FC3DE94}"/>
              </a:ext>
            </a:extLst>
          </p:cNvPr>
          <p:cNvSpPr/>
          <p:nvPr/>
        </p:nvSpPr>
        <p:spPr>
          <a:xfrm>
            <a:off x="7346623" y="6059766"/>
            <a:ext cx="3371654" cy="369332"/>
          </a:xfrm>
          <a:prstGeom prst="rect">
            <a:avLst/>
          </a:prstGeom>
        </p:spPr>
        <p:txBody>
          <a:bodyPr wrap="square">
            <a:spAutoFit/>
          </a:bodyPr>
          <a:lstStyle/>
          <a:p>
            <a:pPr marL="304800" indent="-304800"/>
            <a:r>
              <a:rPr lang="en-US" dirty="0"/>
              <a:t>Lichtenstein &amp; </a:t>
            </a:r>
            <a:r>
              <a:rPr lang="en-US" dirty="0" err="1"/>
              <a:t>Fischhoff</a:t>
            </a:r>
            <a:r>
              <a:rPr lang="en-US" dirty="0"/>
              <a:t> (1977). </a:t>
            </a:r>
            <a:endParaRPr lang="en-US" dirty="0">
              <a:effectLst/>
            </a:endParaRPr>
          </a:p>
        </p:txBody>
      </p:sp>
      <p:pic>
        <p:nvPicPr>
          <p:cNvPr id="6" name="Picture 5">
            <a:extLst>
              <a:ext uri="{FF2B5EF4-FFF2-40B4-BE49-F238E27FC236}">
                <a16:creationId xmlns:a16="http://schemas.microsoft.com/office/drawing/2014/main" id="{277CE8DB-AD12-436E-8A11-AAE8555F4840}"/>
              </a:ext>
            </a:extLst>
          </p:cNvPr>
          <p:cNvPicPr>
            <a:picLocks noChangeAspect="1"/>
          </p:cNvPicPr>
          <p:nvPr/>
        </p:nvPicPr>
        <p:blipFill>
          <a:blip r:embed="rId2"/>
          <a:stretch>
            <a:fillRect/>
          </a:stretch>
        </p:blipFill>
        <p:spPr>
          <a:xfrm>
            <a:off x="3206551" y="2795088"/>
            <a:ext cx="4140072" cy="3697788"/>
          </a:xfrm>
          <a:prstGeom prst="rect">
            <a:avLst/>
          </a:prstGeom>
        </p:spPr>
      </p:pic>
    </p:spTree>
    <p:extLst>
      <p:ext uri="{BB962C8B-B14F-4D97-AF65-F5344CB8AC3E}">
        <p14:creationId xmlns:p14="http://schemas.microsoft.com/office/powerpoint/2010/main" val="41030570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C554-45D3-4A61-86B8-CC791E5B4087}"/>
              </a:ext>
            </a:extLst>
          </p:cNvPr>
          <p:cNvSpPr>
            <a:spLocks noGrp="1"/>
          </p:cNvSpPr>
          <p:nvPr>
            <p:ph type="title"/>
          </p:nvPr>
        </p:nvSpPr>
        <p:spPr/>
        <p:txBody>
          <a:bodyPr/>
          <a:lstStyle/>
          <a:p>
            <a:r>
              <a:rPr lang="en-US" dirty="0"/>
              <a:t>Evaluating our own conclusions</a:t>
            </a:r>
            <a:endParaRPr lang="he-IL" dirty="0"/>
          </a:p>
        </p:txBody>
      </p:sp>
      <p:sp>
        <p:nvSpPr>
          <p:cNvPr id="3" name="Content Placeholder 2">
            <a:extLst>
              <a:ext uri="{FF2B5EF4-FFF2-40B4-BE49-F238E27FC236}">
                <a16:creationId xmlns:a16="http://schemas.microsoft.com/office/drawing/2014/main" id="{7EBE8F51-D7A3-449F-909C-C1DA3D1240F2}"/>
              </a:ext>
            </a:extLst>
          </p:cNvPr>
          <p:cNvSpPr>
            <a:spLocks noGrp="1"/>
          </p:cNvSpPr>
          <p:nvPr>
            <p:ph idx="1"/>
          </p:nvPr>
        </p:nvSpPr>
        <p:spPr/>
        <p:txBody>
          <a:bodyPr/>
          <a:lstStyle/>
          <a:p>
            <a:endParaRPr lang="en-US" dirty="0"/>
          </a:p>
          <a:p>
            <a:r>
              <a:rPr lang="en-US" dirty="0"/>
              <a:t>How good were you at knowing when you are (likely) right?</a:t>
            </a:r>
          </a:p>
          <a:p>
            <a:endParaRPr lang="en-US" dirty="0"/>
          </a:p>
          <a:p>
            <a:r>
              <a:rPr lang="en-US" dirty="0"/>
              <a:t>Experiment:</a:t>
            </a:r>
          </a:p>
          <a:p>
            <a:pPr marL="0" indent="0">
              <a:buNone/>
            </a:pPr>
            <a:r>
              <a:rPr lang="en-US" dirty="0"/>
              <a:t>Trivia questions</a:t>
            </a:r>
            <a:endParaRPr lang="he-IL" dirty="0"/>
          </a:p>
        </p:txBody>
      </p:sp>
      <p:sp>
        <p:nvSpPr>
          <p:cNvPr id="5" name="Rectangle 4">
            <a:extLst>
              <a:ext uri="{FF2B5EF4-FFF2-40B4-BE49-F238E27FC236}">
                <a16:creationId xmlns:a16="http://schemas.microsoft.com/office/drawing/2014/main" id="{B8FD1BB1-4E66-4185-B61A-95CA1FC3DE94}"/>
              </a:ext>
            </a:extLst>
          </p:cNvPr>
          <p:cNvSpPr/>
          <p:nvPr/>
        </p:nvSpPr>
        <p:spPr>
          <a:xfrm>
            <a:off x="7346623" y="6059766"/>
            <a:ext cx="3371654" cy="369332"/>
          </a:xfrm>
          <a:prstGeom prst="rect">
            <a:avLst/>
          </a:prstGeom>
        </p:spPr>
        <p:txBody>
          <a:bodyPr wrap="square">
            <a:spAutoFit/>
          </a:bodyPr>
          <a:lstStyle/>
          <a:p>
            <a:pPr marL="304800" indent="-304800"/>
            <a:r>
              <a:rPr lang="en-US" dirty="0"/>
              <a:t>Lichtenstein &amp; </a:t>
            </a:r>
            <a:r>
              <a:rPr lang="en-US" dirty="0" err="1"/>
              <a:t>Fischhoff</a:t>
            </a:r>
            <a:r>
              <a:rPr lang="en-US" dirty="0"/>
              <a:t> (1977). </a:t>
            </a:r>
            <a:endParaRPr lang="en-US" dirty="0">
              <a:effectLst/>
            </a:endParaRPr>
          </a:p>
        </p:txBody>
      </p:sp>
      <p:pic>
        <p:nvPicPr>
          <p:cNvPr id="6" name="Picture 5">
            <a:extLst>
              <a:ext uri="{FF2B5EF4-FFF2-40B4-BE49-F238E27FC236}">
                <a16:creationId xmlns:a16="http://schemas.microsoft.com/office/drawing/2014/main" id="{277CE8DB-AD12-436E-8A11-AAE8555F4840}"/>
              </a:ext>
            </a:extLst>
          </p:cNvPr>
          <p:cNvPicPr>
            <a:picLocks noChangeAspect="1"/>
          </p:cNvPicPr>
          <p:nvPr/>
        </p:nvPicPr>
        <p:blipFill>
          <a:blip r:embed="rId2"/>
          <a:stretch>
            <a:fillRect/>
          </a:stretch>
        </p:blipFill>
        <p:spPr>
          <a:xfrm>
            <a:off x="3206551" y="2795088"/>
            <a:ext cx="4140072" cy="3697788"/>
          </a:xfrm>
          <a:prstGeom prst="rect">
            <a:avLst/>
          </a:prstGeom>
        </p:spPr>
      </p:pic>
      <p:sp>
        <p:nvSpPr>
          <p:cNvPr id="4" name="Freeform: Shape 3">
            <a:extLst>
              <a:ext uri="{FF2B5EF4-FFF2-40B4-BE49-F238E27FC236}">
                <a16:creationId xmlns:a16="http://schemas.microsoft.com/office/drawing/2014/main" id="{738D0B5D-87D6-47CD-BF2C-28D4CBE8A942}"/>
              </a:ext>
            </a:extLst>
          </p:cNvPr>
          <p:cNvSpPr/>
          <p:nvPr/>
        </p:nvSpPr>
        <p:spPr>
          <a:xfrm>
            <a:off x="5052768" y="2941163"/>
            <a:ext cx="1536568" cy="1583703"/>
          </a:xfrm>
          <a:custGeom>
            <a:avLst/>
            <a:gdLst>
              <a:gd name="connsiteX0" fmla="*/ 0 w 1480008"/>
              <a:gd name="connsiteY0" fmla="*/ 1517715 h 1527142"/>
              <a:gd name="connsiteX1" fmla="*/ 1480008 w 1480008"/>
              <a:gd name="connsiteY1" fmla="*/ 0 h 1527142"/>
              <a:gd name="connsiteX2" fmla="*/ 1480008 w 1480008"/>
              <a:gd name="connsiteY2" fmla="*/ 725864 h 1527142"/>
              <a:gd name="connsiteX3" fmla="*/ 989814 w 1480008"/>
              <a:gd name="connsiteY3" fmla="*/ 1168924 h 1527142"/>
              <a:gd name="connsiteX4" fmla="*/ 461913 w 1480008"/>
              <a:gd name="connsiteY4" fmla="*/ 1527142 h 1527142"/>
              <a:gd name="connsiteX5" fmla="*/ 0 w 1480008"/>
              <a:gd name="connsiteY5" fmla="*/ 1517715 h 1527142"/>
              <a:gd name="connsiteX0" fmla="*/ 0 w 1536568"/>
              <a:gd name="connsiteY0" fmla="*/ 1583703 h 1583703"/>
              <a:gd name="connsiteX1" fmla="*/ 1536568 w 1536568"/>
              <a:gd name="connsiteY1" fmla="*/ 0 h 1583703"/>
              <a:gd name="connsiteX2" fmla="*/ 1536568 w 1536568"/>
              <a:gd name="connsiteY2" fmla="*/ 725864 h 1583703"/>
              <a:gd name="connsiteX3" fmla="*/ 1046374 w 1536568"/>
              <a:gd name="connsiteY3" fmla="*/ 1168924 h 1583703"/>
              <a:gd name="connsiteX4" fmla="*/ 518473 w 1536568"/>
              <a:gd name="connsiteY4" fmla="*/ 1527142 h 1583703"/>
              <a:gd name="connsiteX5" fmla="*/ 0 w 1536568"/>
              <a:gd name="connsiteY5" fmla="*/ 1583703 h 1583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36568" h="1583703">
                <a:moveTo>
                  <a:pt x="0" y="1583703"/>
                </a:moveTo>
                <a:lnTo>
                  <a:pt x="1536568" y="0"/>
                </a:lnTo>
                <a:lnTo>
                  <a:pt x="1536568" y="725864"/>
                </a:lnTo>
                <a:lnTo>
                  <a:pt x="1046374" y="1168924"/>
                </a:lnTo>
                <a:lnTo>
                  <a:pt x="518473" y="1527142"/>
                </a:lnTo>
                <a:lnTo>
                  <a:pt x="0" y="1583703"/>
                </a:ln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37212036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C554-45D3-4A61-86B8-CC791E5B4087}"/>
              </a:ext>
            </a:extLst>
          </p:cNvPr>
          <p:cNvSpPr>
            <a:spLocks noGrp="1"/>
          </p:cNvSpPr>
          <p:nvPr>
            <p:ph type="title"/>
          </p:nvPr>
        </p:nvSpPr>
        <p:spPr/>
        <p:txBody>
          <a:bodyPr/>
          <a:lstStyle/>
          <a:p>
            <a:r>
              <a:rPr lang="en-US" dirty="0"/>
              <a:t>Evaluating our own conclusions</a:t>
            </a:r>
            <a:endParaRPr lang="he-IL" dirty="0"/>
          </a:p>
        </p:txBody>
      </p:sp>
      <p:sp>
        <p:nvSpPr>
          <p:cNvPr id="3" name="Content Placeholder 2">
            <a:extLst>
              <a:ext uri="{FF2B5EF4-FFF2-40B4-BE49-F238E27FC236}">
                <a16:creationId xmlns:a16="http://schemas.microsoft.com/office/drawing/2014/main" id="{7EBE8F51-D7A3-449F-909C-C1DA3D1240F2}"/>
              </a:ext>
            </a:extLst>
          </p:cNvPr>
          <p:cNvSpPr>
            <a:spLocks noGrp="1"/>
          </p:cNvSpPr>
          <p:nvPr>
            <p:ph idx="1"/>
          </p:nvPr>
        </p:nvSpPr>
        <p:spPr/>
        <p:txBody>
          <a:bodyPr/>
          <a:lstStyle/>
          <a:p>
            <a:endParaRPr lang="en-US" dirty="0"/>
          </a:p>
          <a:p>
            <a:r>
              <a:rPr lang="en-US" dirty="0"/>
              <a:t>How good were you at knowing when you are (likely) right?</a:t>
            </a:r>
          </a:p>
          <a:p>
            <a:endParaRPr lang="en-US" dirty="0"/>
          </a:p>
          <a:p>
            <a:r>
              <a:rPr lang="en-US" dirty="0"/>
              <a:t>Experiment:</a:t>
            </a:r>
          </a:p>
          <a:p>
            <a:pPr marL="0" indent="0">
              <a:buNone/>
            </a:pPr>
            <a:r>
              <a:rPr lang="en-US" dirty="0"/>
              <a:t>Trivia questions</a:t>
            </a:r>
            <a:endParaRPr lang="he-IL" dirty="0"/>
          </a:p>
        </p:txBody>
      </p:sp>
      <p:sp>
        <p:nvSpPr>
          <p:cNvPr id="5" name="Rectangle 4">
            <a:extLst>
              <a:ext uri="{FF2B5EF4-FFF2-40B4-BE49-F238E27FC236}">
                <a16:creationId xmlns:a16="http://schemas.microsoft.com/office/drawing/2014/main" id="{B8FD1BB1-4E66-4185-B61A-95CA1FC3DE94}"/>
              </a:ext>
            </a:extLst>
          </p:cNvPr>
          <p:cNvSpPr/>
          <p:nvPr/>
        </p:nvSpPr>
        <p:spPr>
          <a:xfrm>
            <a:off x="7346623" y="6059766"/>
            <a:ext cx="3371654" cy="369332"/>
          </a:xfrm>
          <a:prstGeom prst="rect">
            <a:avLst/>
          </a:prstGeom>
        </p:spPr>
        <p:txBody>
          <a:bodyPr wrap="square">
            <a:spAutoFit/>
          </a:bodyPr>
          <a:lstStyle/>
          <a:p>
            <a:pPr marL="304800" indent="-304800"/>
            <a:r>
              <a:rPr lang="en-US" dirty="0"/>
              <a:t>Lichtenstein &amp; </a:t>
            </a:r>
            <a:r>
              <a:rPr lang="en-US" dirty="0" err="1"/>
              <a:t>Fischhoff</a:t>
            </a:r>
            <a:r>
              <a:rPr lang="en-US" dirty="0"/>
              <a:t> (1977). </a:t>
            </a:r>
            <a:endParaRPr lang="en-US" dirty="0">
              <a:effectLst/>
            </a:endParaRPr>
          </a:p>
        </p:txBody>
      </p:sp>
      <p:pic>
        <p:nvPicPr>
          <p:cNvPr id="6" name="Picture 5">
            <a:extLst>
              <a:ext uri="{FF2B5EF4-FFF2-40B4-BE49-F238E27FC236}">
                <a16:creationId xmlns:a16="http://schemas.microsoft.com/office/drawing/2014/main" id="{277CE8DB-AD12-436E-8A11-AAE8555F4840}"/>
              </a:ext>
            </a:extLst>
          </p:cNvPr>
          <p:cNvPicPr>
            <a:picLocks noChangeAspect="1"/>
          </p:cNvPicPr>
          <p:nvPr/>
        </p:nvPicPr>
        <p:blipFill>
          <a:blip r:embed="rId2"/>
          <a:stretch>
            <a:fillRect/>
          </a:stretch>
        </p:blipFill>
        <p:spPr>
          <a:xfrm>
            <a:off x="3206551" y="2795088"/>
            <a:ext cx="4140072" cy="3697788"/>
          </a:xfrm>
          <a:prstGeom prst="rect">
            <a:avLst/>
          </a:prstGeom>
        </p:spPr>
      </p:pic>
      <p:sp>
        <p:nvSpPr>
          <p:cNvPr id="4" name="Freeform: Shape 3">
            <a:extLst>
              <a:ext uri="{FF2B5EF4-FFF2-40B4-BE49-F238E27FC236}">
                <a16:creationId xmlns:a16="http://schemas.microsoft.com/office/drawing/2014/main" id="{738D0B5D-87D6-47CD-BF2C-28D4CBE8A942}"/>
              </a:ext>
            </a:extLst>
          </p:cNvPr>
          <p:cNvSpPr/>
          <p:nvPr/>
        </p:nvSpPr>
        <p:spPr>
          <a:xfrm>
            <a:off x="5052768" y="2941163"/>
            <a:ext cx="1536568" cy="1583703"/>
          </a:xfrm>
          <a:custGeom>
            <a:avLst/>
            <a:gdLst>
              <a:gd name="connsiteX0" fmla="*/ 0 w 1480008"/>
              <a:gd name="connsiteY0" fmla="*/ 1517715 h 1527142"/>
              <a:gd name="connsiteX1" fmla="*/ 1480008 w 1480008"/>
              <a:gd name="connsiteY1" fmla="*/ 0 h 1527142"/>
              <a:gd name="connsiteX2" fmla="*/ 1480008 w 1480008"/>
              <a:gd name="connsiteY2" fmla="*/ 725864 h 1527142"/>
              <a:gd name="connsiteX3" fmla="*/ 989814 w 1480008"/>
              <a:gd name="connsiteY3" fmla="*/ 1168924 h 1527142"/>
              <a:gd name="connsiteX4" fmla="*/ 461913 w 1480008"/>
              <a:gd name="connsiteY4" fmla="*/ 1527142 h 1527142"/>
              <a:gd name="connsiteX5" fmla="*/ 0 w 1480008"/>
              <a:gd name="connsiteY5" fmla="*/ 1517715 h 1527142"/>
              <a:gd name="connsiteX0" fmla="*/ 0 w 1536568"/>
              <a:gd name="connsiteY0" fmla="*/ 1583703 h 1583703"/>
              <a:gd name="connsiteX1" fmla="*/ 1536568 w 1536568"/>
              <a:gd name="connsiteY1" fmla="*/ 0 h 1583703"/>
              <a:gd name="connsiteX2" fmla="*/ 1536568 w 1536568"/>
              <a:gd name="connsiteY2" fmla="*/ 725864 h 1583703"/>
              <a:gd name="connsiteX3" fmla="*/ 1046374 w 1536568"/>
              <a:gd name="connsiteY3" fmla="*/ 1168924 h 1583703"/>
              <a:gd name="connsiteX4" fmla="*/ 518473 w 1536568"/>
              <a:gd name="connsiteY4" fmla="*/ 1527142 h 1583703"/>
              <a:gd name="connsiteX5" fmla="*/ 0 w 1536568"/>
              <a:gd name="connsiteY5" fmla="*/ 1583703 h 1583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36568" h="1583703">
                <a:moveTo>
                  <a:pt x="0" y="1583703"/>
                </a:moveTo>
                <a:lnTo>
                  <a:pt x="1536568" y="0"/>
                </a:lnTo>
                <a:lnTo>
                  <a:pt x="1536568" y="725864"/>
                </a:lnTo>
                <a:lnTo>
                  <a:pt x="1046374" y="1168924"/>
                </a:lnTo>
                <a:lnTo>
                  <a:pt x="518473" y="1527142"/>
                </a:lnTo>
                <a:lnTo>
                  <a:pt x="0" y="1583703"/>
                </a:ln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7" name="Freeform: Shape 6">
            <a:extLst>
              <a:ext uri="{FF2B5EF4-FFF2-40B4-BE49-F238E27FC236}">
                <a16:creationId xmlns:a16="http://schemas.microsoft.com/office/drawing/2014/main" id="{5AB5802F-8878-471B-BF0C-83B04F5E49A8}"/>
              </a:ext>
            </a:extLst>
          </p:cNvPr>
          <p:cNvSpPr/>
          <p:nvPr/>
        </p:nvSpPr>
        <p:spPr>
          <a:xfrm>
            <a:off x="3996965" y="5024487"/>
            <a:ext cx="518475" cy="509047"/>
          </a:xfrm>
          <a:custGeom>
            <a:avLst/>
            <a:gdLst>
              <a:gd name="connsiteX0" fmla="*/ 0 w 518475"/>
              <a:gd name="connsiteY0" fmla="*/ 141402 h 509047"/>
              <a:gd name="connsiteX1" fmla="*/ 518475 w 518475"/>
              <a:gd name="connsiteY1" fmla="*/ 0 h 509047"/>
              <a:gd name="connsiteX2" fmla="*/ 0 w 518475"/>
              <a:gd name="connsiteY2" fmla="*/ 509047 h 509047"/>
              <a:gd name="connsiteX3" fmla="*/ 0 w 518475"/>
              <a:gd name="connsiteY3" fmla="*/ 141402 h 509047"/>
            </a:gdLst>
            <a:ahLst/>
            <a:cxnLst>
              <a:cxn ang="0">
                <a:pos x="connsiteX0" y="connsiteY0"/>
              </a:cxn>
              <a:cxn ang="0">
                <a:pos x="connsiteX1" y="connsiteY1"/>
              </a:cxn>
              <a:cxn ang="0">
                <a:pos x="connsiteX2" y="connsiteY2"/>
              </a:cxn>
              <a:cxn ang="0">
                <a:pos x="connsiteX3" y="connsiteY3"/>
              </a:cxn>
            </a:cxnLst>
            <a:rect l="l" t="t" r="r" b="b"/>
            <a:pathLst>
              <a:path w="518475" h="509047">
                <a:moveTo>
                  <a:pt x="0" y="141402"/>
                </a:moveTo>
                <a:lnTo>
                  <a:pt x="518475" y="0"/>
                </a:lnTo>
                <a:lnTo>
                  <a:pt x="0" y="509047"/>
                </a:lnTo>
                <a:lnTo>
                  <a:pt x="0" y="141402"/>
                </a:lnTo>
                <a:close/>
              </a:path>
            </a:pathLst>
          </a:cu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4774979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C554-45D3-4A61-86B8-CC791E5B4087}"/>
              </a:ext>
            </a:extLst>
          </p:cNvPr>
          <p:cNvSpPr>
            <a:spLocks noGrp="1"/>
          </p:cNvSpPr>
          <p:nvPr>
            <p:ph type="title"/>
          </p:nvPr>
        </p:nvSpPr>
        <p:spPr/>
        <p:txBody>
          <a:bodyPr/>
          <a:lstStyle/>
          <a:p>
            <a:r>
              <a:rPr lang="en-US" dirty="0"/>
              <a:t>Evaluating our own conclusions</a:t>
            </a:r>
            <a:endParaRPr lang="he-IL" dirty="0"/>
          </a:p>
        </p:txBody>
      </p:sp>
      <p:sp>
        <p:nvSpPr>
          <p:cNvPr id="3" name="Content Placeholder 2">
            <a:extLst>
              <a:ext uri="{FF2B5EF4-FFF2-40B4-BE49-F238E27FC236}">
                <a16:creationId xmlns:a16="http://schemas.microsoft.com/office/drawing/2014/main" id="{7EBE8F51-D7A3-449F-909C-C1DA3D1240F2}"/>
              </a:ext>
            </a:extLst>
          </p:cNvPr>
          <p:cNvSpPr>
            <a:spLocks noGrp="1"/>
          </p:cNvSpPr>
          <p:nvPr>
            <p:ph idx="1"/>
          </p:nvPr>
        </p:nvSpPr>
        <p:spPr/>
        <p:txBody>
          <a:bodyPr/>
          <a:lstStyle/>
          <a:p>
            <a:endParaRPr lang="en-US" dirty="0"/>
          </a:p>
          <a:p>
            <a:r>
              <a:rPr lang="en-US" dirty="0"/>
              <a:t>How good were you at knowing when you are (likely) right?</a:t>
            </a:r>
          </a:p>
          <a:p>
            <a:endParaRPr lang="en-US" dirty="0"/>
          </a:p>
          <a:p>
            <a:r>
              <a:rPr lang="en-US" dirty="0"/>
              <a:t>Experiment:</a:t>
            </a:r>
          </a:p>
          <a:p>
            <a:pPr marL="0" indent="0">
              <a:buNone/>
            </a:pPr>
            <a:r>
              <a:rPr lang="en-US" dirty="0"/>
              <a:t>Trivia questions</a:t>
            </a:r>
            <a:endParaRPr lang="he-IL" dirty="0"/>
          </a:p>
          <a:p>
            <a:endParaRPr lang="he-IL" dirty="0"/>
          </a:p>
        </p:txBody>
      </p:sp>
      <p:sp>
        <p:nvSpPr>
          <p:cNvPr id="5" name="Rectangle 4">
            <a:extLst>
              <a:ext uri="{FF2B5EF4-FFF2-40B4-BE49-F238E27FC236}">
                <a16:creationId xmlns:a16="http://schemas.microsoft.com/office/drawing/2014/main" id="{B8FD1BB1-4E66-4185-B61A-95CA1FC3DE94}"/>
              </a:ext>
            </a:extLst>
          </p:cNvPr>
          <p:cNvSpPr/>
          <p:nvPr/>
        </p:nvSpPr>
        <p:spPr>
          <a:xfrm>
            <a:off x="7346623" y="6059766"/>
            <a:ext cx="3371654" cy="369332"/>
          </a:xfrm>
          <a:prstGeom prst="rect">
            <a:avLst/>
          </a:prstGeom>
        </p:spPr>
        <p:txBody>
          <a:bodyPr wrap="square">
            <a:spAutoFit/>
          </a:bodyPr>
          <a:lstStyle/>
          <a:p>
            <a:pPr marL="304800" indent="-304800"/>
            <a:r>
              <a:rPr lang="en-US" dirty="0"/>
              <a:t>Lichtenstein &amp; </a:t>
            </a:r>
            <a:r>
              <a:rPr lang="en-US" dirty="0" err="1"/>
              <a:t>Fischhoff</a:t>
            </a:r>
            <a:r>
              <a:rPr lang="en-US" dirty="0"/>
              <a:t> (1977). </a:t>
            </a:r>
            <a:endParaRPr lang="en-US" dirty="0">
              <a:effectLst/>
            </a:endParaRPr>
          </a:p>
        </p:txBody>
      </p:sp>
      <p:grpSp>
        <p:nvGrpSpPr>
          <p:cNvPr id="8" name="Group 7">
            <a:extLst>
              <a:ext uri="{FF2B5EF4-FFF2-40B4-BE49-F238E27FC236}">
                <a16:creationId xmlns:a16="http://schemas.microsoft.com/office/drawing/2014/main" id="{FA9231D6-BF66-4044-8424-A09B3D7EB4D0}"/>
              </a:ext>
            </a:extLst>
          </p:cNvPr>
          <p:cNvGrpSpPr/>
          <p:nvPr/>
        </p:nvGrpSpPr>
        <p:grpSpPr>
          <a:xfrm>
            <a:off x="3206551" y="2795088"/>
            <a:ext cx="4140072" cy="3697788"/>
            <a:chOff x="3206551" y="2795088"/>
            <a:chExt cx="4140072" cy="3697788"/>
          </a:xfrm>
        </p:grpSpPr>
        <p:pic>
          <p:nvPicPr>
            <p:cNvPr id="6" name="Picture 5">
              <a:extLst>
                <a:ext uri="{FF2B5EF4-FFF2-40B4-BE49-F238E27FC236}">
                  <a16:creationId xmlns:a16="http://schemas.microsoft.com/office/drawing/2014/main" id="{277CE8DB-AD12-436E-8A11-AAE8555F4840}"/>
                </a:ext>
              </a:extLst>
            </p:cNvPr>
            <p:cNvPicPr>
              <a:picLocks noChangeAspect="1"/>
            </p:cNvPicPr>
            <p:nvPr/>
          </p:nvPicPr>
          <p:blipFill>
            <a:blip r:embed="rId2"/>
            <a:stretch>
              <a:fillRect/>
            </a:stretch>
          </p:blipFill>
          <p:spPr>
            <a:xfrm>
              <a:off x="3206551" y="2795088"/>
              <a:ext cx="4140072" cy="3697788"/>
            </a:xfrm>
            <a:prstGeom prst="rect">
              <a:avLst/>
            </a:prstGeom>
          </p:spPr>
        </p:pic>
        <p:sp>
          <p:nvSpPr>
            <p:cNvPr id="7" name="Freeform: Shape 6">
              <a:extLst>
                <a:ext uri="{FF2B5EF4-FFF2-40B4-BE49-F238E27FC236}">
                  <a16:creationId xmlns:a16="http://schemas.microsoft.com/office/drawing/2014/main" id="{420FB698-CD47-4A9F-8D66-1B3A1F1DB15A}"/>
                </a:ext>
              </a:extLst>
            </p:cNvPr>
            <p:cNvSpPr/>
            <p:nvPr/>
          </p:nvSpPr>
          <p:spPr>
            <a:xfrm>
              <a:off x="3968685" y="2960017"/>
              <a:ext cx="2602704" cy="2714919"/>
            </a:xfrm>
            <a:custGeom>
              <a:avLst/>
              <a:gdLst>
                <a:gd name="connsiteX0" fmla="*/ 2611224 w 2611224"/>
                <a:gd name="connsiteY0" fmla="*/ 0 h 2743200"/>
                <a:gd name="connsiteX1" fmla="*/ 2601797 w 2611224"/>
                <a:gd name="connsiteY1" fmla="*/ 1470582 h 2743200"/>
                <a:gd name="connsiteX2" fmla="*/ 2300140 w 2611224"/>
                <a:gd name="connsiteY2" fmla="*/ 1772239 h 2743200"/>
                <a:gd name="connsiteX3" fmla="*/ 1998482 w 2611224"/>
                <a:gd name="connsiteY3" fmla="*/ 2045617 h 2743200"/>
                <a:gd name="connsiteX4" fmla="*/ 1574276 w 2611224"/>
                <a:gd name="connsiteY4" fmla="*/ 2328421 h 2743200"/>
                <a:gd name="connsiteX5" fmla="*/ 1093509 w 2611224"/>
                <a:gd name="connsiteY5" fmla="*/ 2205872 h 2743200"/>
                <a:gd name="connsiteX6" fmla="*/ 575035 w 2611224"/>
                <a:gd name="connsiteY6" fmla="*/ 2733773 h 2743200"/>
                <a:gd name="connsiteX7" fmla="*/ 0 w 2611224"/>
                <a:gd name="connsiteY7" fmla="*/ 2743200 h 2743200"/>
                <a:gd name="connsiteX8" fmla="*/ 9426 w 2611224"/>
                <a:gd name="connsiteY8" fmla="*/ 2639505 h 2743200"/>
                <a:gd name="connsiteX9" fmla="*/ 2611224 w 2611224"/>
                <a:gd name="connsiteY9" fmla="*/ 0 h 2743200"/>
                <a:gd name="connsiteX0" fmla="*/ 2601797 w 2602704"/>
                <a:gd name="connsiteY0" fmla="*/ 0 h 2714919"/>
                <a:gd name="connsiteX1" fmla="*/ 2601797 w 2602704"/>
                <a:gd name="connsiteY1" fmla="*/ 1442301 h 2714919"/>
                <a:gd name="connsiteX2" fmla="*/ 2300140 w 2602704"/>
                <a:gd name="connsiteY2" fmla="*/ 1743958 h 2714919"/>
                <a:gd name="connsiteX3" fmla="*/ 1998482 w 2602704"/>
                <a:gd name="connsiteY3" fmla="*/ 2017336 h 2714919"/>
                <a:gd name="connsiteX4" fmla="*/ 1574276 w 2602704"/>
                <a:gd name="connsiteY4" fmla="*/ 2300140 h 2714919"/>
                <a:gd name="connsiteX5" fmla="*/ 1093509 w 2602704"/>
                <a:gd name="connsiteY5" fmla="*/ 2177591 h 2714919"/>
                <a:gd name="connsiteX6" fmla="*/ 575035 w 2602704"/>
                <a:gd name="connsiteY6" fmla="*/ 2705492 h 2714919"/>
                <a:gd name="connsiteX7" fmla="*/ 0 w 2602704"/>
                <a:gd name="connsiteY7" fmla="*/ 2714919 h 2714919"/>
                <a:gd name="connsiteX8" fmla="*/ 9426 w 2602704"/>
                <a:gd name="connsiteY8" fmla="*/ 2611224 h 2714919"/>
                <a:gd name="connsiteX9" fmla="*/ 2601797 w 2602704"/>
                <a:gd name="connsiteY9" fmla="*/ 0 h 2714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02704" h="2714919">
                  <a:moveTo>
                    <a:pt x="2601797" y="0"/>
                  </a:moveTo>
                  <a:cubicBezTo>
                    <a:pt x="2598655" y="490194"/>
                    <a:pt x="2604939" y="952107"/>
                    <a:pt x="2601797" y="1442301"/>
                  </a:cubicBezTo>
                  <a:lnTo>
                    <a:pt x="2300140" y="1743958"/>
                  </a:lnTo>
                  <a:lnTo>
                    <a:pt x="1998482" y="2017336"/>
                  </a:lnTo>
                  <a:lnTo>
                    <a:pt x="1574276" y="2300140"/>
                  </a:lnTo>
                  <a:lnTo>
                    <a:pt x="1093509" y="2177591"/>
                  </a:lnTo>
                  <a:lnTo>
                    <a:pt x="575035" y="2705492"/>
                  </a:lnTo>
                  <a:lnTo>
                    <a:pt x="0" y="2714919"/>
                  </a:lnTo>
                  <a:lnTo>
                    <a:pt x="9426" y="2611224"/>
                  </a:lnTo>
                  <a:lnTo>
                    <a:pt x="2601797" y="0"/>
                  </a:ln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pSp>
    </p:spTree>
    <p:extLst>
      <p:ext uri="{BB962C8B-B14F-4D97-AF65-F5344CB8AC3E}">
        <p14:creationId xmlns:p14="http://schemas.microsoft.com/office/powerpoint/2010/main" val="25479517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C554-45D3-4A61-86B8-CC791E5B4087}"/>
              </a:ext>
            </a:extLst>
          </p:cNvPr>
          <p:cNvSpPr>
            <a:spLocks noGrp="1"/>
          </p:cNvSpPr>
          <p:nvPr>
            <p:ph type="title"/>
          </p:nvPr>
        </p:nvSpPr>
        <p:spPr/>
        <p:txBody>
          <a:bodyPr/>
          <a:lstStyle/>
          <a:p>
            <a:r>
              <a:rPr lang="en-US" dirty="0"/>
              <a:t>Evaluating our own conclusions</a:t>
            </a:r>
            <a:endParaRPr lang="he-IL" dirty="0"/>
          </a:p>
        </p:txBody>
      </p:sp>
      <p:sp>
        <p:nvSpPr>
          <p:cNvPr id="3" name="Content Placeholder 2">
            <a:extLst>
              <a:ext uri="{FF2B5EF4-FFF2-40B4-BE49-F238E27FC236}">
                <a16:creationId xmlns:a16="http://schemas.microsoft.com/office/drawing/2014/main" id="{7EBE8F51-D7A3-449F-909C-C1DA3D1240F2}"/>
              </a:ext>
            </a:extLst>
          </p:cNvPr>
          <p:cNvSpPr>
            <a:spLocks noGrp="1"/>
          </p:cNvSpPr>
          <p:nvPr>
            <p:ph idx="1"/>
          </p:nvPr>
        </p:nvSpPr>
        <p:spPr/>
        <p:txBody>
          <a:bodyPr/>
          <a:lstStyle/>
          <a:p>
            <a:endParaRPr lang="en-US" dirty="0"/>
          </a:p>
          <a:p>
            <a:r>
              <a:rPr lang="en-US" dirty="0"/>
              <a:t>Is this just trivia?</a:t>
            </a:r>
          </a:p>
          <a:p>
            <a:endParaRPr lang="he-IL" dirty="0"/>
          </a:p>
        </p:txBody>
      </p:sp>
    </p:spTree>
    <p:extLst>
      <p:ext uri="{BB962C8B-B14F-4D97-AF65-F5344CB8AC3E}">
        <p14:creationId xmlns:p14="http://schemas.microsoft.com/office/powerpoint/2010/main" val="3607342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C554-45D3-4A61-86B8-CC791E5B4087}"/>
              </a:ext>
            </a:extLst>
          </p:cNvPr>
          <p:cNvSpPr>
            <a:spLocks noGrp="1"/>
          </p:cNvSpPr>
          <p:nvPr>
            <p:ph type="title"/>
          </p:nvPr>
        </p:nvSpPr>
        <p:spPr/>
        <p:txBody>
          <a:bodyPr/>
          <a:lstStyle/>
          <a:p>
            <a:r>
              <a:rPr lang="en-US" dirty="0"/>
              <a:t>Evaluating our own conclusions</a:t>
            </a:r>
            <a:endParaRPr lang="he-IL" dirty="0"/>
          </a:p>
        </p:txBody>
      </p:sp>
      <p:sp>
        <p:nvSpPr>
          <p:cNvPr id="3" name="Content Placeholder 2">
            <a:extLst>
              <a:ext uri="{FF2B5EF4-FFF2-40B4-BE49-F238E27FC236}">
                <a16:creationId xmlns:a16="http://schemas.microsoft.com/office/drawing/2014/main" id="{7EBE8F51-D7A3-449F-909C-C1DA3D1240F2}"/>
              </a:ext>
            </a:extLst>
          </p:cNvPr>
          <p:cNvSpPr>
            <a:spLocks noGrp="1"/>
          </p:cNvSpPr>
          <p:nvPr>
            <p:ph idx="1"/>
          </p:nvPr>
        </p:nvSpPr>
        <p:spPr/>
        <p:txBody>
          <a:bodyPr/>
          <a:lstStyle/>
          <a:p>
            <a:endParaRPr lang="en-US" dirty="0"/>
          </a:p>
          <a:p>
            <a:r>
              <a:rPr lang="en-US" dirty="0"/>
              <a:t>Is this just trivia?</a:t>
            </a:r>
          </a:p>
          <a:p>
            <a:endParaRPr lang="en-US" dirty="0"/>
          </a:p>
          <a:p>
            <a:r>
              <a:rPr lang="en-US" dirty="0"/>
              <a:t>481 US lawyers</a:t>
            </a:r>
          </a:p>
          <a:p>
            <a:endParaRPr lang="en-US" dirty="0"/>
          </a:p>
          <a:p>
            <a:r>
              <a:rPr lang="en-US" dirty="0"/>
              <a:t>How likely are you </a:t>
            </a:r>
            <a:br>
              <a:rPr lang="en-US" dirty="0"/>
            </a:br>
            <a:r>
              <a:rPr lang="en-US" dirty="0"/>
              <a:t>to achieve your goal</a:t>
            </a:r>
            <a:br>
              <a:rPr lang="en-US" dirty="0"/>
            </a:br>
            <a:r>
              <a:rPr lang="en-US" dirty="0"/>
              <a:t>in current case?</a:t>
            </a:r>
          </a:p>
          <a:p>
            <a:endParaRPr lang="he-IL" dirty="0"/>
          </a:p>
        </p:txBody>
      </p:sp>
      <p:sp>
        <p:nvSpPr>
          <p:cNvPr id="5" name="Rectangle 4">
            <a:extLst>
              <a:ext uri="{FF2B5EF4-FFF2-40B4-BE49-F238E27FC236}">
                <a16:creationId xmlns:a16="http://schemas.microsoft.com/office/drawing/2014/main" id="{B8FD1BB1-4E66-4185-B61A-95CA1FC3DE94}"/>
              </a:ext>
            </a:extLst>
          </p:cNvPr>
          <p:cNvSpPr/>
          <p:nvPr/>
        </p:nvSpPr>
        <p:spPr>
          <a:xfrm>
            <a:off x="6315959" y="6308209"/>
            <a:ext cx="5810053" cy="369332"/>
          </a:xfrm>
          <a:prstGeom prst="rect">
            <a:avLst/>
          </a:prstGeom>
        </p:spPr>
        <p:txBody>
          <a:bodyPr wrap="square">
            <a:spAutoFit/>
          </a:bodyPr>
          <a:lstStyle/>
          <a:p>
            <a:r>
              <a:rPr lang="en-US" dirty="0"/>
              <a:t>Goodman-</a:t>
            </a:r>
            <a:r>
              <a:rPr lang="en-US" dirty="0" err="1"/>
              <a:t>Delahunty</a:t>
            </a:r>
            <a:r>
              <a:rPr lang="en-US" dirty="0"/>
              <a:t>, </a:t>
            </a:r>
            <a:r>
              <a:rPr lang="en-US" dirty="0" err="1"/>
              <a:t>Granhag</a:t>
            </a:r>
            <a:r>
              <a:rPr lang="en-US" dirty="0"/>
              <a:t>, Hartwig &amp; Loftus (2010). </a:t>
            </a:r>
            <a:endParaRPr lang="en-US" dirty="0">
              <a:effectLst/>
            </a:endParaRPr>
          </a:p>
        </p:txBody>
      </p:sp>
      <p:pic>
        <p:nvPicPr>
          <p:cNvPr id="4" name="Picture 3">
            <a:extLst>
              <a:ext uri="{FF2B5EF4-FFF2-40B4-BE49-F238E27FC236}">
                <a16:creationId xmlns:a16="http://schemas.microsoft.com/office/drawing/2014/main" id="{78C3BCF3-42A7-4D79-ADB1-61120BC6A10C}"/>
              </a:ext>
            </a:extLst>
          </p:cNvPr>
          <p:cNvPicPr>
            <a:picLocks noChangeAspect="1"/>
          </p:cNvPicPr>
          <p:nvPr/>
        </p:nvPicPr>
        <p:blipFill>
          <a:blip r:embed="rId2"/>
          <a:stretch>
            <a:fillRect/>
          </a:stretch>
        </p:blipFill>
        <p:spPr>
          <a:xfrm>
            <a:off x="4832053" y="2661266"/>
            <a:ext cx="3764907" cy="3382035"/>
          </a:xfrm>
          <a:prstGeom prst="rect">
            <a:avLst/>
          </a:prstGeom>
        </p:spPr>
      </p:pic>
      <p:sp>
        <p:nvSpPr>
          <p:cNvPr id="6" name="Rectangle 5">
            <a:extLst>
              <a:ext uri="{FF2B5EF4-FFF2-40B4-BE49-F238E27FC236}">
                <a16:creationId xmlns:a16="http://schemas.microsoft.com/office/drawing/2014/main" id="{401723ED-5CBF-4F1E-B150-AD627FEB8D59}"/>
              </a:ext>
            </a:extLst>
          </p:cNvPr>
          <p:cNvSpPr/>
          <p:nvPr/>
        </p:nvSpPr>
        <p:spPr>
          <a:xfrm>
            <a:off x="5571241" y="2620652"/>
            <a:ext cx="2837468" cy="29882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22778676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C554-45D3-4A61-86B8-CC791E5B4087}"/>
              </a:ext>
            </a:extLst>
          </p:cNvPr>
          <p:cNvSpPr>
            <a:spLocks noGrp="1"/>
          </p:cNvSpPr>
          <p:nvPr>
            <p:ph type="title"/>
          </p:nvPr>
        </p:nvSpPr>
        <p:spPr/>
        <p:txBody>
          <a:bodyPr/>
          <a:lstStyle/>
          <a:p>
            <a:r>
              <a:rPr lang="en-US" dirty="0"/>
              <a:t>Evaluating our own conclusions</a:t>
            </a:r>
            <a:endParaRPr lang="he-IL" dirty="0"/>
          </a:p>
        </p:txBody>
      </p:sp>
      <p:sp>
        <p:nvSpPr>
          <p:cNvPr id="3" name="Content Placeholder 2">
            <a:extLst>
              <a:ext uri="{FF2B5EF4-FFF2-40B4-BE49-F238E27FC236}">
                <a16:creationId xmlns:a16="http://schemas.microsoft.com/office/drawing/2014/main" id="{7EBE8F51-D7A3-449F-909C-C1DA3D1240F2}"/>
              </a:ext>
            </a:extLst>
          </p:cNvPr>
          <p:cNvSpPr>
            <a:spLocks noGrp="1"/>
          </p:cNvSpPr>
          <p:nvPr>
            <p:ph idx="1"/>
          </p:nvPr>
        </p:nvSpPr>
        <p:spPr/>
        <p:txBody>
          <a:bodyPr/>
          <a:lstStyle/>
          <a:p>
            <a:endParaRPr lang="en-US" dirty="0"/>
          </a:p>
          <a:p>
            <a:r>
              <a:rPr lang="en-US" dirty="0"/>
              <a:t>Is this just trivia?</a:t>
            </a:r>
          </a:p>
          <a:p>
            <a:endParaRPr lang="en-US" dirty="0"/>
          </a:p>
          <a:p>
            <a:r>
              <a:rPr lang="en-US" dirty="0"/>
              <a:t>481 US lawyers</a:t>
            </a:r>
          </a:p>
          <a:p>
            <a:endParaRPr lang="en-US" dirty="0"/>
          </a:p>
          <a:p>
            <a:r>
              <a:rPr lang="en-US" dirty="0"/>
              <a:t>How likely are you </a:t>
            </a:r>
            <a:br>
              <a:rPr lang="en-US" dirty="0"/>
            </a:br>
            <a:r>
              <a:rPr lang="en-US" dirty="0"/>
              <a:t>to achieve your goal</a:t>
            </a:r>
            <a:br>
              <a:rPr lang="en-US" dirty="0"/>
            </a:br>
            <a:r>
              <a:rPr lang="en-US" dirty="0"/>
              <a:t>in current case?</a:t>
            </a:r>
          </a:p>
          <a:p>
            <a:endParaRPr lang="he-IL" dirty="0"/>
          </a:p>
        </p:txBody>
      </p:sp>
      <p:sp>
        <p:nvSpPr>
          <p:cNvPr id="5" name="Rectangle 4">
            <a:extLst>
              <a:ext uri="{FF2B5EF4-FFF2-40B4-BE49-F238E27FC236}">
                <a16:creationId xmlns:a16="http://schemas.microsoft.com/office/drawing/2014/main" id="{B8FD1BB1-4E66-4185-B61A-95CA1FC3DE94}"/>
              </a:ext>
            </a:extLst>
          </p:cNvPr>
          <p:cNvSpPr/>
          <p:nvPr/>
        </p:nvSpPr>
        <p:spPr>
          <a:xfrm>
            <a:off x="6315959" y="6308209"/>
            <a:ext cx="5810053" cy="369332"/>
          </a:xfrm>
          <a:prstGeom prst="rect">
            <a:avLst/>
          </a:prstGeom>
        </p:spPr>
        <p:txBody>
          <a:bodyPr wrap="square">
            <a:spAutoFit/>
          </a:bodyPr>
          <a:lstStyle/>
          <a:p>
            <a:r>
              <a:rPr lang="en-US" dirty="0"/>
              <a:t>Goodman-</a:t>
            </a:r>
            <a:r>
              <a:rPr lang="en-US" dirty="0" err="1"/>
              <a:t>Delahunty</a:t>
            </a:r>
            <a:r>
              <a:rPr lang="en-US" dirty="0"/>
              <a:t>, </a:t>
            </a:r>
            <a:r>
              <a:rPr lang="en-US" dirty="0" err="1"/>
              <a:t>Granhag</a:t>
            </a:r>
            <a:r>
              <a:rPr lang="en-US" dirty="0"/>
              <a:t>, Hartwig &amp; Loftus (2010). </a:t>
            </a:r>
            <a:endParaRPr lang="en-US" dirty="0">
              <a:effectLst/>
            </a:endParaRPr>
          </a:p>
        </p:txBody>
      </p:sp>
      <p:pic>
        <p:nvPicPr>
          <p:cNvPr id="4" name="Picture 3">
            <a:extLst>
              <a:ext uri="{FF2B5EF4-FFF2-40B4-BE49-F238E27FC236}">
                <a16:creationId xmlns:a16="http://schemas.microsoft.com/office/drawing/2014/main" id="{78C3BCF3-42A7-4D79-ADB1-61120BC6A10C}"/>
              </a:ext>
            </a:extLst>
          </p:cNvPr>
          <p:cNvPicPr>
            <a:picLocks noChangeAspect="1"/>
          </p:cNvPicPr>
          <p:nvPr/>
        </p:nvPicPr>
        <p:blipFill>
          <a:blip r:embed="rId2"/>
          <a:stretch>
            <a:fillRect/>
          </a:stretch>
        </p:blipFill>
        <p:spPr>
          <a:xfrm>
            <a:off x="4832053" y="2661266"/>
            <a:ext cx="3764907" cy="3382035"/>
          </a:xfrm>
          <a:prstGeom prst="rect">
            <a:avLst/>
          </a:prstGeom>
        </p:spPr>
      </p:pic>
    </p:spTree>
    <p:extLst>
      <p:ext uri="{BB962C8B-B14F-4D97-AF65-F5344CB8AC3E}">
        <p14:creationId xmlns:p14="http://schemas.microsoft.com/office/powerpoint/2010/main" val="37882186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C554-45D3-4A61-86B8-CC791E5B4087}"/>
              </a:ext>
            </a:extLst>
          </p:cNvPr>
          <p:cNvSpPr>
            <a:spLocks noGrp="1"/>
          </p:cNvSpPr>
          <p:nvPr>
            <p:ph type="title"/>
          </p:nvPr>
        </p:nvSpPr>
        <p:spPr/>
        <p:txBody>
          <a:bodyPr/>
          <a:lstStyle/>
          <a:p>
            <a:r>
              <a:rPr lang="en-US" dirty="0"/>
              <a:t>Evaluating our own conclusions</a:t>
            </a:r>
            <a:endParaRPr lang="he-IL" dirty="0"/>
          </a:p>
        </p:txBody>
      </p:sp>
      <p:sp>
        <p:nvSpPr>
          <p:cNvPr id="3" name="Content Placeholder 2">
            <a:extLst>
              <a:ext uri="{FF2B5EF4-FFF2-40B4-BE49-F238E27FC236}">
                <a16:creationId xmlns:a16="http://schemas.microsoft.com/office/drawing/2014/main" id="{7EBE8F51-D7A3-449F-909C-C1DA3D1240F2}"/>
              </a:ext>
            </a:extLst>
          </p:cNvPr>
          <p:cNvSpPr>
            <a:spLocks noGrp="1"/>
          </p:cNvSpPr>
          <p:nvPr>
            <p:ph idx="1"/>
          </p:nvPr>
        </p:nvSpPr>
        <p:spPr/>
        <p:txBody>
          <a:bodyPr/>
          <a:lstStyle/>
          <a:p>
            <a:endParaRPr lang="en-US" dirty="0"/>
          </a:p>
          <a:p>
            <a:r>
              <a:rPr lang="en-US" dirty="0"/>
              <a:t>Is this just trivia?</a:t>
            </a:r>
          </a:p>
          <a:p>
            <a:endParaRPr lang="en-US" dirty="0"/>
          </a:p>
          <a:p>
            <a:r>
              <a:rPr lang="en-US" dirty="0"/>
              <a:t>481 US lawyers</a:t>
            </a:r>
          </a:p>
          <a:p>
            <a:endParaRPr lang="en-US" dirty="0"/>
          </a:p>
          <a:p>
            <a:r>
              <a:rPr lang="en-US" dirty="0"/>
              <a:t>How likely are you </a:t>
            </a:r>
            <a:br>
              <a:rPr lang="en-US" dirty="0"/>
            </a:br>
            <a:r>
              <a:rPr lang="en-US" dirty="0"/>
              <a:t>to achieve your goal</a:t>
            </a:r>
            <a:br>
              <a:rPr lang="en-US" dirty="0"/>
            </a:br>
            <a:r>
              <a:rPr lang="en-US" dirty="0"/>
              <a:t>in current case?</a:t>
            </a:r>
          </a:p>
          <a:p>
            <a:endParaRPr lang="he-IL" dirty="0"/>
          </a:p>
        </p:txBody>
      </p:sp>
      <p:sp>
        <p:nvSpPr>
          <p:cNvPr id="5" name="Rectangle 4">
            <a:extLst>
              <a:ext uri="{FF2B5EF4-FFF2-40B4-BE49-F238E27FC236}">
                <a16:creationId xmlns:a16="http://schemas.microsoft.com/office/drawing/2014/main" id="{B8FD1BB1-4E66-4185-B61A-95CA1FC3DE94}"/>
              </a:ext>
            </a:extLst>
          </p:cNvPr>
          <p:cNvSpPr/>
          <p:nvPr/>
        </p:nvSpPr>
        <p:spPr>
          <a:xfrm>
            <a:off x="6315959" y="6308209"/>
            <a:ext cx="5810053" cy="369332"/>
          </a:xfrm>
          <a:prstGeom prst="rect">
            <a:avLst/>
          </a:prstGeom>
        </p:spPr>
        <p:txBody>
          <a:bodyPr wrap="square">
            <a:spAutoFit/>
          </a:bodyPr>
          <a:lstStyle/>
          <a:p>
            <a:r>
              <a:rPr lang="en-US" dirty="0"/>
              <a:t>Goodman-</a:t>
            </a:r>
            <a:r>
              <a:rPr lang="en-US" dirty="0" err="1"/>
              <a:t>Delahunty</a:t>
            </a:r>
            <a:r>
              <a:rPr lang="en-US" dirty="0"/>
              <a:t>, </a:t>
            </a:r>
            <a:r>
              <a:rPr lang="en-US" dirty="0" err="1"/>
              <a:t>Granhag</a:t>
            </a:r>
            <a:r>
              <a:rPr lang="en-US" dirty="0"/>
              <a:t>, Hartwig &amp; Loftus (2010). </a:t>
            </a:r>
            <a:endParaRPr lang="en-US" dirty="0">
              <a:effectLst/>
            </a:endParaRPr>
          </a:p>
        </p:txBody>
      </p:sp>
      <p:pic>
        <p:nvPicPr>
          <p:cNvPr id="4" name="Picture 3">
            <a:extLst>
              <a:ext uri="{FF2B5EF4-FFF2-40B4-BE49-F238E27FC236}">
                <a16:creationId xmlns:a16="http://schemas.microsoft.com/office/drawing/2014/main" id="{78C3BCF3-42A7-4D79-ADB1-61120BC6A1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59687" y="2532682"/>
            <a:ext cx="3850680" cy="3510620"/>
          </a:xfrm>
          <a:prstGeom prst="rect">
            <a:avLst/>
          </a:prstGeom>
        </p:spPr>
      </p:pic>
    </p:spTree>
    <p:extLst>
      <p:ext uri="{BB962C8B-B14F-4D97-AF65-F5344CB8AC3E}">
        <p14:creationId xmlns:p14="http://schemas.microsoft.com/office/powerpoint/2010/main" val="29678548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C554-45D3-4A61-86B8-CC791E5B4087}"/>
              </a:ext>
            </a:extLst>
          </p:cNvPr>
          <p:cNvSpPr>
            <a:spLocks noGrp="1"/>
          </p:cNvSpPr>
          <p:nvPr>
            <p:ph type="title"/>
          </p:nvPr>
        </p:nvSpPr>
        <p:spPr/>
        <p:txBody>
          <a:bodyPr/>
          <a:lstStyle/>
          <a:p>
            <a:r>
              <a:rPr lang="en-US" dirty="0"/>
              <a:t>Evaluating our own conclusions</a:t>
            </a:r>
            <a:endParaRPr lang="he-IL" dirty="0"/>
          </a:p>
        </p:txBody>
      </p:sp>
      <p:sp>
        <p:nvSpPr>
          <p:cNvPr id="3" name="Content Placeholder 2">
            <a:extLst>
              <a:ext uri="{FF2B5EF4-FFF2-40B4-BE49-F238E27FC236}">
                <a16:creationId xmlns:a16="http://schemas.microsoft.com/office/drawing/2014/main" id="{7EBE8F51-D7A3-449F-909C-C1DA3D1240F2}"/>
              </a:ext>
            </a:extLst>
          </p:cNvPr>
          <p:cNvSpPr>
            <a:spLocks noGrp="1"/>
          </p:cNvSpPr>
          <p:nvPr>
            <p:ph idx="1"/>
          </p:nvPr>
        </p:nvSpPr>
        <p:spPr/>
        <p:txBody>
          <a:bodyPr/>
          <a:lstStyle/>
          <a:p>
            <a:endParaRPr lang="en-US" dirty="0"/>
          </a:p>
          <a:p>
            <a:r>
              <a:rPr lang="en-US" dirty="0"/>
              <a:t>Is this just trivia?</a:t>
            </a:r>
          </a:p>
          <a:p>
            <a:endParaRPr lang="en-US" dirty="0"/>
          </a:p>
          <a:p>
            <a:r>
              <a:rPr lang="en-US" dirty="0"/>
              <a:t>481 US lawyers</a:t>
            </a:r>
          </a:p>
          <a:p>
            <a:endParaRPr lang="en-US" dirty="0"/>
          </a:p>
          <a:p>
            <a:r>
              <a:rPr lang="en-US" dirty="0"/>
              <a:t>How likely are you </a:t>
            </a:r>
            <a:br>
              <a:rPr lang="en-US" dirty="0"/>
            </a:br>
            <a:r>
              <a:rPr lang="en-US" dirty="0"/>
              <a:t>to achieve your goal</a:t>
            </a:r>
            <a:br>
              <a:rPr lang="en-US" dirty="0"/>
            </a:br>
            <a:r>
              <a:rPr lang="en-US" dirty="0"/>
              <a:t>in current case?</a:t>
            </a:r>
          </a:p>
          <a:p>
            <a:endParaRPr lang="he-IL" dirty="0"/>
          </a:p>
        </p:txBody>
      </p:sp>
      <p:sp>
        <p:nvSpPr>
          <p:cNvPr id="5" name="Rectangle 4">
            <a:extLst>
              <a:ext uri="{FF2B5EF4-FFF2-40B4-BE49-F238E27FC236}">
                <a16:creationId xmlns:a16="http://schemas.microsoft.com/office/drawing/2014/main" id="{B8FD1BB1-4E66-4185-B61A-95CA1FC3DE94}"/>
              </a:ext>
            </a:extLst>
          </p:cNvPr>
          <p:cNvSpPr/>
          <p:nvPr/>
        </p:nvSpPr>
        <p:spPr>
          <a:xfrm>
            <a:off x="6315959" y="6308209"/>
            <a:ext cx="5810053" cy="369332"/>
          </a:xfrm>
          <a:prstGeom prst="rect">
            <a:avLst/>
          </a:prstGeom>
        </p:spPr>
        <p:txBody>
          <a:bodyPr wrap="square">
            <a:spAutoFit/>
          </a:bodyPr>
          <a:lstStyle/>
          <a:p>
            <a:r>
              <a:rPr lang="en-US" dirty="0"/>
              <a:t>Goodman-</a:t>
            </a:r>
            <a:r>
              <a:rPr lang="en-US" dirty="0" err="1"/>
              <a:t>Delahunty</a:t>
            </a:r>
            <a:r>
              <a:rPr lang="en-US" dirty="0"/>
              <a:t>, </a:t>
            </a:r>
            <a:r>
              <a:rPr lang="en-US" dirty="0" err="1"/>
              <a:t>Granhag</a:t>
            </a:r>
            <a:r>
              <a:rPr lang="en-US" dirty="0"/>
              <a:t>, Hartwig &amp; Loftus (2010). </a:t>
            </a:r>
            <a:endParaRPr lang="en-US" dirty="0">
              <a:effectLst/>
            </a:endParaRPr>
          </a:p>
        </p:txBody>
      </p:sp>
      <p:pic>
        <p:nvPicPr>
          <p:cNvPr id="4" name="Picture 3">
            <a:extLst>
              <a:ext uri="{FF2B5EF4-FFF2-40B4-BE49-F238E27FC236}">
                <a16:creationId xmlns:a16="http://schemas.microsoft.com/office/drawing/2014/main" id="{78C3BCF3-42A7-4D79-ADB1-61120BC6A1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59687" y="2532682"/>
            <a:ext cx="3850680" cy="3510620"/>
          </a:xfrm>
          <a:prstGeom prst="rect">
            <a:avLst/>
          </a:prstGeom>
        </p:spPr>
      </p:pic>
      <p:cxnSp>
        <p:nvCxnSpPr>
          <p:cNvPr id="7" name="Straight Connector 6">
            <a:extLst>
              <a:ext uri="{FF2B5EF4-FFF2-40B4-BE49-F238E27FC236}">
                <a16:creationId xmlns:a16="http://schemas.microsoft.com/office/drawing/2014/main" id="{4365C0BC-18C0-49C4-A2E7-CF9979D6EEAA}"/>
              </a:ext>
            </a:extLst>
          </p:cNvPr>
          <p:cNvCxnSpPr/>
          <p:nvPr/>
        </p:nvCxnSpPr>
        <p:spPr>
          <a:xfrm flipH="1">
            <a:off x="5646656" y="3704734"/>
            <a:ext cx="2545237"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58F975A8-DF9F-4CE1-BEDC-B30CF91D336B}"/>
              </a:ext>
            </a:extLst>
          </p:cNvPr>
          <p:cNvCxnSpPr>
            <a:cxnSpLocks/>
          </p:cNvCxnSpPr>
          <p:nvPr/>
        </p:nvCxnSpPr>
        <p:spPr>
          <a:xfrm flipH="1">
            <a:off x="8191892" y="3704734"/>
            <a:ext cx="1" cy="191207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51844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C554-45D3-4A61-86B8-CC791E5B4087}"/>
              </a:ext>
            </a:extLst>
          </p:cNvPr>
          <p:cNvSpPr>
            <a:spLocks noGrp="1"/>
          </p:cNvSpPr>
          <p:nvPr>
            <p:ph type="title"/>
          </p:nvPr>
        </p:nvSpPr>
        <p:spPr/>
        <p:txBody>
          <a:bodyPr/>
          <a:lstStyle/>
          <a:p>
            <a:r>
              <a:rPr lang="en-US" dirty="0"/>
              <a:t>Evaluating our own conclusions</a:t>
            </a:r>
            <a:endParaRPr lang="he-IL" dirty="0"/>
          </a:p>
        </p:txBody>
      </p:sp>
      <p:sp>
        <p:nvSpPr>
          <p:cNvPr id="3" name="Content Placeholder 2">
            <a:extLst>
              <a:ext uri="{FF2B5EF4-FFF2-40B4-BE49-F238E27FC236}">
                <a16:creationId xmlns:a16="http://schemas.microsoft.com/office/drawing/2014/main" id="{7EBE8F51-D7A3-449F-909C-C1DA3D1240F2}"/>
              </a:ext>
            </a:extLst>
          </p:cNvPr>
          <p:cNvSpPr>
            <a:spLocks noGrp="1"/>
          </p:cNvSpPr>
          <p:nvPr>
            <p:ph idx="1"/>
          </p:nvPr>
        </p:nvSpPr>
        <p:spPr/>
        <p:txBody>
          <a:bodyPr/>
          <a:lstStyle/>
          <a:p>
            <a:endParaRPr lang="en-US" dirty="0"/>
          </a:p>
          <a:p>
            <a:r>
              <a:rPr lang="en-US" dirty="0"/>
              <a:t>Is this just trivia?</a:t>
            </a:r>
          </a:p>
          <a:p>
            <a:endParaRPr lang="en-US" dirty="0"/>
          </a:p>
          <a:p>
            <a:r>
              <a:rPr lang="en-US" dirty="0"/>
              <a:t>481 US lawyers</a:t>
            </a:r>
          </a:p>
          <a:p>
            <a:endParaRPr lang="en-US" dirty="0"/>
          </a:p>
          <a:p>
            <a:r>
              <a:rPr lang="en-US" dirty="0"/>
              <a:t>How likely are you </a:t>
            </a:r>
            <a:br>
              <a:rPr lang="en-US" dirty="0"/>
            </a:br>
            <a:r>
              <a:rPr lang="en-US" dirty="0"/>
              <a:t>to achieve your goal</a:t>
            </a:r>
            <a:br>
              <a:rPr lang="en-US" dirty="0"/>
            </a:br>
            <a:r>
              <a:rPr lang="en-US" dirty="0"/>
              <a:t>in current case?</a:t>
            </a:r>
          </a:p>
          <a:p>
            <a:endParaRPr lang="he-IL" dirty="0"/>
          </a:p>
        </p:txBody>
      </p:sp>
      <p:sp>
        <p:nvSpPr>
          <p:cNvPr id="5" name="Rectangle 4">
            <a:extLst>
              <a:ext uri="{FF2B5EF4-FFF2-40B4-BE49-F238E27FC236}">
                <a16:creationId xmlns:a16="http://schemas.microsoft.com/office/drawing/2014/main" id="{B8FD1BB1-4E66-4185-B61A-95CA1FC3DE94}"/>
              </a:ext>
            </a:extLst>
          </p:cNvPr>
          <p:cNvSpPr/>
          <p:nvPr/>
        </p:nvSpPr>
        <p:spPr>
          <a:xfrm>
            <a:off x="6315959" y="6308209"/>
            <a:ext cx="5810053" cy="369332"/>
          </a:xfrm>
          <a:prstGeom prst="rect">
            <a:avLst/>
          </a:prstGeom>
        </p:spPr>
        <p:txBody>
          <a:bodyPr wrap="square">
            <a:spAutoFit/>
          </a:bodyPr>
          <a:lstStyle/>
          <a:p>
            <a:r>
              <a:rPr lang="en-US" dirty="0"/>
              <a:t>Goodman-</a:t>
            </a:r>
            <a:r>
              <a:rPr lang="en-US" dirty="0" err="1"/>
              <a:t>Delahunty</a:t>
            </a:r>
            <a:r>
              <a:rPr lang="en-US" dirty="0"/>
              <a:t>, </a:t>
            </a:r>
            <a:r>
              <a:rPr lang="en-US" dirty="0" err="1"/>
              <a:t>Granhag</a:t>
            </a:r>
            <a:r>
              <a:rPr lang="en-US" dirty="0"/>
              <a:t>, Hartwig &amp; Loftus (2010). </a:t>
            </a:r>
            <a:endParaRPr lang="en-US" dirty="0">
              <a:effectLst/>
            </a:endParaRPr>
          </a:p>
        </p:txBody>
      </p:sp>
      <p:pic>
        <p:nvPicPr>
          <p:cNvPr id="4" name="Picture 3">
            <a:extLst>
              <a:ext uri="{FF2B5EF4-FFF2-40B4-BE49-F238E27FC236}">
                <a16:creationId xmlns:a16="http://schemas.microsoft.com/office/drawing/2014/main" id="{78C3BCF3-42A7-4D79-ADB1-61120BC6A1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59687" y="2532682"/>
            <a:ext cx="3850680" cy="3510620"/>
          </a:xfrm>
          <a:prstGeom prst="rect">
            <a:avLst/>
          </a:prstGeom>
        </p:spPr>
      </p:pic>
      <p:cxnSp>
        <p:nvCxnSpPr>
          <p:cNvPr id="7" name="Straight Connector 6">
            <a:extLst>
              <a:ext uri="{FF2B5EF4-FFF2-40B4-BE49-F238E27FC236}">
                <a16:creationId xmlns:a16="http://schemas.microsoft.com/office/drawing/2014/main" id="{4365C0BC-18C0-49C4-A2E7-CF9979D6EEAA}"/>
              </a:ext>
            </a:extLst>
          </p:cNvPr>
          <p:cNvCxnSpPr>
            <a:cxnSpLocks/>
          </p:cNvCxnSpPr>
          <p:nvPr/>
        </p:nvCxnSpPr>
        <p:spPr>
          <a:xfrm flipH="1">
            <a:off x="5656082" y="4006392"/>
            <a:ext cx="2262435"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58F975A8-DF9F-4CE1-BEDC-B30CF91D336B}"/>
              </a:ext>
            </a:extLst>
          </p:cNvPr>
          <p:cNvCxnSpPr>
            <a:cxnSpLocks/>
          </p:cNvCxnSpPr>
          <p:nvPr/>
        </p:nvCxnSpPr>
        <p:spPr>
          <a:xfrm flipH="1">
            <a:off x="7937371" y="4001294"/>
            <a:ext cx="1" cy="1626508"/>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84457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C554-45D3-4A61-86B8-CC791E5B4087}"/>
              </a:ext>
            </a:extLst>
          </p:cNvPr>
          <p:cNvSpPr>
            <a:spLocks noGrp="1"/>
          </p:cNvSpPr>
          <p:nvPr>
            <p:ph type="title"/>
          </p:nvPr>
        </p:nvSpPr>
        <p:spPr/>
        <p:txBody>
          <a:bodyPr/>
          <a:lstStyle/>
          <a:p>
            <a:r>
              <a:rPr lang="en-US" dirty="0"/>
              <a:t>Evaluating our own conclusions</a:t>
            </a:r>
            <a:endParaRPr lang="he-IL" dirty="0"/>
          </a:p>
        </p:txBody>
      </p:sp>
      <p:sp>
        <p:nvSpPr>
          <p:cNvPr id="3" name="Content Placeholder 2">
            <a:extLst>
              <a:ext uri="{FF2B5EF4-FFF2-40B4-BE49-F238E27FC236}">
                <a16:creationId xmlns:a16="http://schemas.microsoft.com/office/drawing/2014/main" id="{7EBE8F51-D7A3-449F-909C-C1DA3D1240F2}"/>
              </a:ext>
            </a:extLst>
          </p:cNvPr>
          <p:cNvSpPr>
            <a:spLocks noGrp="1"/>
          </p:cNvSpPr>
          <p:nvPr>
            <p:ph idx="1"/>
          </p:nvPr>
        </p:nvSpPr>
        <p:spPr/>
        <p:txBody>
          <a:bodyPr/>
          <a:lstStyle/>
          <a:p>
            <a:endParaRPr lang="en-US" dirty="0"/>
          </a:p>
          <a:p>
            <a:r>
              <a:rPr lang="en-US" dirty="0"/>
              <a:t>Is this just trivia?</a:t>
            </a:r>
          </a:p>
          <a:p>
            <a:endParaRPr lang="en-US" dirty="0"/>
          </a:p>
          <a:p>
            <a:r>
              <a:rPr lang="en-US" dirty="0"/>
              <a:t>481 US lawyers</a:t>
            </a:r>
          </a:p>
          <a:p>
            <a:endParaRPr lang="en-US" dirty="0"/>
          </a:p>
          <a:p>
            <a:r>
              <a:rPr lang="en-US" dirty="0"/>
              <a:t>How likely are you </a:t>
            </a:r>
            <a:br>
              <a:rPr lang="en-US" dirty="0"/>
            </a:br>
            <a:r>
              <a:rPr lang="en-US" dirty="0"/>
              <a:t>to achieve your goal</a:t>
            </a:r>
            <a:br>
              <a:rPr lang="en-US" dirty="0"/>
            </a:br>
            <a:r>
              <a:rPr lang="en-US" dirty="0"/>
              <a:t>in current case?</a:t>
            </a:r>
          </a:p>
          <a:p>
            <a:endParaRPr lang="he-IL" dirty="0"/>
          </a:p>
        </p:txBody>
      </p:sp>
      <p:sp>
        <p:nvSpPr>
          <p:cNvPr id="5" name="Rectangle 4">
            <a:extLst>
              <a:ext uri="{FF2B5EF4-FFF2-40B4-BE49-F238E27FC236}">
                <a16:creationId xmlns:a16="http://schemas.microsoft.com/office/drawing/2014/main" id="{B8FD1BB1-4E66-4185-B61A-95CA1FC3DE94}"/>
              </a:ext>
            </a:extLst>
          </p:cNvPr>
          <p:cNvSpPr/>
          <p:nvPr/>
        </p:nvSpPr>
        <p:spPr>
          <a:xfrm>
            <a:off x="6315959" y="6308209"/>
            <a:ext cx="5810053" cy="369332"/>
          </a:xfrm>
          <a:prstGeom prst="rect">
            <a:avLst/>
          </a:prstGeom>
        </p:spPr>
        <p:txBody>
          <a:bodyPr wrap="square">
            <a:spAutoFit/>
          </a:bodyPr>
          <a:lstStyle/>
          <a:p>
            <a:r>
              <a:rPr lang="en-US" dirty="0"/>
              <a:t>Goodman-</a:t>
            </a:r>
            <a:r>
              <a:rPr lang="en-US" dirty="0" err="1"/>
              <a:t>Delahunty</a:t>
            </a:r>
            <a:r>
              <a:rPr lang="en-US" dirty="0"/>
              <a:t>, </a:t>
            </a:r>
            <a:r>
              <a:rPr lang="en-US" dirty="0" err="1"/>
              <a:t>Granhag</a:t>
            </a:r>
            <a:r>
              <a:rPr lang="en-US" dirty="0"/>
              <a:t>, Hartwig &amp; Loftus (2010). </a:t>
            </a:r>
            <a:endParaRPr lang="en-US" dirty="0">
              <a:effectLst/>
            </a:endParaRPr>
          </a:p>
        </p:txBody>
      </p:sp>
      <p:pic>
        <p:nvPicPr>
          <p:cNvPr id="4" name="Picture 3">
            <a:extLst>
              <a:ext uri="{FF2B5EF4-FFF2-40B4-BE49-F238E27FC236}">
                <a16:creationId xmlns:a16="http://schemas.microsoft.com/office/drawing/2014/main" id="{78C3BCF3-42A7-4D79-ADB1-61120BC6A1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59687" y="2532682"/>
            <a:ext cx="3850680" cy="3510620"/>
          </a:xfrm>
          <a:prstGeom prst="rect">
            <a:avLst/>
          </a:prstGeom>
        </p:spPr>
      </p:pic>
      <p:cxnSp>
        <p:nvCxnSpPr>
          <p:cNvPr id="7" name="Straight Connector 6">
            <a:extLst>
              <a:ext uri="{FF2B5EF4-FFF2-40B4-BE49-F238E27FC236}">
                <a16:creationId xmlns:a16="http://schemas.microsoft.com/office/drawing/2014/main" id="{4365C0BC-18C0-49C4-A2E7-CF9979D6EEAA}"/>
              </a:ext>
            </a:extLst>
          </p:cNvPr>
          <p:cNvCxnSpPr>
            <a:cxnSpLocks/>
          </p:cNvCxnSpPr>
          <p:nvPr/>
        </p:nvCxnSpPr>
        <p:spPr>
          <a:xfrm flipH="1">
            <a:off x="5674937" y="3921551"/>
            <a:ext cx="1989055"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58F975A8-DF9F-4CE1-BEDC-B30CF91D336B}"/>
              </a:ext>
            </a:extLst>
          </p:cNvPr>
          <p:cNvCxnSpPr>
            <a:cxnSpLocks/>
          </p:cNvCxnSpPr>
          <p:nvPr/>
        </p:nvCxnSpPr>
        <p:spPr>
          <a:xfrm>
            <a:off x="7663992" y="3921551"/>
            <a:ext cx="1" cy="1706251"/>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8849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C554-45D3-4A61-86B8-CC791E5B4087}"/>
              </a:ext>
            </a:extLst>
          </p:cNvPr>
          <p:cNvSpPr>
            <a:spLocks noGrp="1"/>
          </p:cNvSpPr>
          <p:nvPr>
            <p:ph type="title"/>
          </p:nvPr>
        </p:nvSpPr>
        <p:spPr/>
        <p:txBody>
          <a:bodyPr/>
          <a:lstStyle/>
          <a:p>
            <a:r>
              <a:rPr lang="en-US" dirty="0"/>
              <a:t>Evaluating our own conclusions</a:t>
            </a:r>
            <a:endParaRPr lang="he-IL" dirty="0"/>
          </a:p>
        </p:txBody>
      </p:sp>
      <p:sp>
        <p:nvSpPr>
          <p:cNvPr id="3" name="Content Placeholder 2">
            <a:extLst>
              <a:ext uri="{FF2B5EF4-FFF2-40B4-BE49-F238E27FC236}">
                <a16:creationId xmlns:a16="http://schemas.microsoft.com/office/drawing/2014/main" id="{7EBE8F51-D7A3-449F-909C-C1DA3D1240F2}"/>
              </a:ext>
            </a:extLst>
          </p:cNvPr>
          <p:cNvSpPr>
            <a:spLocks noGrp="1"/>
          </p:cNvSpPr>
          <p:nvPr>
            <p:ph idx="1"/>
          </p:nvPr>
        </p:nvSpPr>
        <p:spPr>
          <a:xfrm>
            <a:off x="838200" y="1825625"/>
            <a:ext cx="10515600" cy="4351338"/>
          </a:xfrm>
        </p:spPr>
        <p:txBody>
          <a:bodyPr/>
          <a:lstStyle/>
          <a:p>
            <a:r>
              <a:rPr lang="en-US" dirty="0"/>
              <a:t>What is this effect called?</a:t>
            </a:r>
            <a:endParaRPr lang="he-IL" dirty="0"/>
          </a:p>
        </p:txBody>
      </p:sp>
      <p:sp>
        <p:nvSpPr>
          <p:cNvPr id="5" name="Rectangle 4">
            <a:extLst>
              <a:ext uri="{FF2B5EF4-FFF2-40B4-BE49-F238E27FC236}">
                <a16:creationId xmlns:a16="http://schemas.microsoft.com/office/drawing/2014/main" id="{B8FD1BB1-4E66-4185-B61A-95CA1FC3DE94}"/>
              </a:ext>
            </a:extLst>
          </p:cNvPr>
          <p:cNvSpPr/>
          <p:nvPr/>
        </p:nvSpPr>
        <p:spPr>
          <a:xfrm>
            <a:off x="7346623" y="6059766"/>
            <a:ext cx="3371654" cy="369332"/>
          </a:xfrm>
          <a:prstGeom prst="rect">
            <a:avLst/>
          </a:prstGeom>
        </p:spPr>
        <p:txBody>
          <a:bodyPr wrap="square">
            <a:spAutoFit/>
          </a:bodyPr>
          <a:lstStyle/>
          <a:p>
            <a:pPr marL="304800" indent="-304800"/>
            <a:r>
              <a:rPr lang="en-US" dirty="0"/>
              <a:t>Lichtenstein &amp; </a:t>
            </a:r>
            <a:r>
              <a:rPr lang="en-US" dirty="0" err="1"/>
              <a:t>Fischhoff</a:t>
            </a:r>
            <a:r>
              <a:rPr lang="en-US" dirty="0"/>
              <a:t> (1977). </a:t>
            </a:r>
            <a:endParaRPr lang="en-US" dirty="0">
              <a:effectLst/>
            </a:endParaRPr>
          </a:p>
        </p:txBody>
      </p:sp>
      <p:grpSp>
        <p:nvGrpSpPr>
          <p:cNvPr id="11" name="Group 10">
            <a:extLst>
              <a:ext uri="{FF2B5EF4-FFF2-40B4-BE49-F238E27FC236}">
                <a16:creationId xmlns:a16="http://schemas.microsoft.com/office/drawing/2014/main" id="{65E973B6-58AE-46FF-B108-D6489107B787}"/>
              </a:ext>
            </a:extLst>
          </p:cNvPr>
          <p:cNvGrpSpPr/>
          <p:nvPr/>
        </p:nvGrpSpPr>
        <p:grpSpPr>
          <a:xfrm>
            <a:off x="1003699" y="2214019"/>
            <a:ext cx="4140072" cy="3697788"/>
            <a:chOff x="3206551" y="2795088"/>
            <a:chExt cx="4140072" cy="3697788"/>
          </a:xfrm>
        </p:grpSpPr>
        <p:pic>
          <p:nvPicPr>
            <p:cNvPr id="6" name="Picture 5">
              <a:extLst>
                <a:ext uri="{FF2B5EF4-FFF2-40B4-BE49-F238E27FC236}">
                  <a16:creationId xmlns:a16="http://schemas.microsoft.com/office/drawing/2014/main" id="{277CE8DB-AD12-436E-8A11-AAE8555F4840}"/>
                </a:ext>
              </a:extLst>
            </p:cNvPr>
            <p:cNvPicPr>
              <a:picLocks noChangeAspect="1"/>
            </p:cNvPicPr>
            <p:nvPr/>
          </p:nvPicPr>
          <p:blipFill>
            <a:blip r:embed="rId2"/>
            <a:stretch>
              <a:fillRect/>
            </a:stretch>
          </p:blipFill>
          <p:spPr>
            <a:xfrm>
              <a:off x="3206551" y="2795088"/>
              <a:ext cx="4140072" cy="3697788"/>
            </a:xfrm>
            <a:prstGeom prst="rect">
              <a:avLst/>
            </a:prstGeom>
          </p:spPr>
        </p:pic>
        <p:sp>
          <p:nvSpPr>
            <p:cNvPr id="4" name="Freeform: Shape 3">
              <a:extLst>
                <a:ext uri="{FF2B5EF4-FFF2-40B4-BE49-F238E27FC236}">
                  <a16:creationId xmlns:a16="http://schemas.microsoft.com/office/drawing/2014/main" id="{738D0B5D-87D6-47CD-BF2C-28D4CBE8A942}"/>
                </a:ext>
              </a:extLst>
            </p:cNvPr>
            <p:cNvSpPr/>
            <p:nvPr/>
          </p:nvSpPr>
          <p:spPr>
            <a:xfrm>
              <a:off x="5052768" y="2941163"/>
              <a:ext cx="1536568" cy="1583703"/>
            </a:xfrm>
            <a:custGeom>
              <a:avLst/>
              <a:gdLst>
                <a:gd name="connsiteX0" fmla="*/ 0 w 1480008"/>
                <a:gd name="connsiteY0" fmla="*/ 1517715 h 1527142"/>
                <a:gd name="connsiteX1" fmla="*/ 1480008 w 1480008"/>
                <a:gd name="connsiteY1" fmla="*/ 0 h 1527142"/>
                <a:gd name="connsiteX2" fmla="*/ 1480008 w 1480008"/>
                <a:gd name="connsiteY2" fmla="*/ 725864 h 1527142"/>
                <a:gd name="connsiteX3" fmla="*/ 989814 w 1480008"/>
                <a:gd name="connsiteY3" fmla="*/ 1168924 h 1527142"/>
                <a:gd name="connsiteX4" fmla="*/ 461913 w 1480008"/>
                <a:gd name="connsiteY4" fmla="*/ 1527142 h 1527142"/>
                <a:gd name="connsiteX5" fmla="*/ 0 w 1480008"/>
                <a:gd name="connsiteY5" fmla="*/ 1517715 h 1527142"/>
                <a:gd name="connsiteX0" fmla="*/ 0 w 1536568"/>
                <a:gd name="connsiteY0" fmla="*/ 1583703 h 1583703"/>
                <a:gd name="connsiteX1" fmla="*/ 1536568 w 1536568"/>
                <a:gd name="connsiteY1" fmla="*/ 0 h 1583703"/>
                <a:gd name="connsiteX2" fmla="*/ 1536568 w 1536568"/>
                <a:gd name="connsiteY2" fmla="*/ 725864 h 1583703"/>
                <a:gd name="connsiteX3" fmla="*/ 1046374 w 1536568"/>
                <a:gd name="connsiteY3" fmla="*/ 1168924 h 1583703"/>
                <a:gd name="connsiteX4" fmla="*/ 518473 w 1536568"/>
                <a:gd name="connsiteY4" fmla="*/ 1527142 h 1583703"/>
                <a:gd name="connsiteX5" fmla="*/ 0 w 1536568"/>
                <a:gd name="connsiteY5" fmla="*/ 1583703 h 1583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36568" h="1583703">
                  <a:moveTo>
                    <a:pt x="0" y="1583703"/>
                  </a:moveTo>
                  <a:lnTo>
                    <a:pt x="1536568" y="0"/>
                  </a:lnTo>
                  <a:lnTo>
                    <a:pt x="1536568" y="725864"/>
                  </a:lnTo>
                  <a:lnTo>
                    <a:pt x="1046374" y="1168924"/>
                  </a:lnTo>
                  <a:lnTo>
                    <a:pt x="518473" y="1527142"/>
                  </a:lnTo>
                  <a:lnTo>
                    <a:pt x="0" y="1583703"/>
                  </a:ln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7" name="Freeform: Shape 6">
              <a:extLst>
                <a:ext uri="{FF2B5EF4-FFF2-40B4-BE49-F238E27FC236}">
                  <a16:creationId xmlns:a16="http://schemas.microsoft.com/office/drawing/2014/main" id="{5AB5802F-8878-471B-BF0C-83B04F5E49A8}"/>
                </a:ext>
              </a:extLst>
            </p:cNvPr>
            <p:cNvSpPr/>
            <p:nvPr/>
          </p:nvSpPr>
          <p:spPr>
            <a:xfrm>
              <a:off x="3996965" y="5024487"/>
              <a:ext cx="518475" cy="509047"/>
            </a:xfrm>
            <a:custGeom>
              <a:avLst/>
              <a:gdLst>
                <a:gd name="connsiteX0" fmla="*/ 0 w 518475"/>
                <a:gd name="connsiteY0" fmla="*/ 141402 h 509047"/>
                <a:gd name="connsiteX1" fmla="*/ 518475 w 518475"/>
                <a:gd name="connsiteY1" fmla="*/ 0 h 509047"/>
                <a:gd name="connsiteX2" fmla="*/ 0 w 518475"/>
                <a:gd name="connsiteY2" fmla="*/ 509047 h 509047"/>
                <a:gd name="connsiteX3" fmla="*/ 0 w 518475"/>
                <a:gd name="connsiteY3" fmla="*/ 141402 h 509047"/>
              </a:gdLst>
              <a:ahLst/>
              <a:cxnLst>
                <a:cxn ang="0">
                  <a:pos x="connsiteX0" y="connsiteY0"/>
                </a:cxn>
                <a:cxn ang="0">
                  <a:pos x="connsiteX1" y="connsiteY1"/>
                </a:cxn>
                <a:cxn ang="0">
                  <a:pos x="connsiteX2" y="connsiteY2"/>
                </a:cxn>
                <a:cxn ang="0">
                  <a:pos x="connsiteX3" y="connsiteY3"/>
                </a:cxn>
              </a:cxnLst>
              <a:rect l="l" t="t" r="r" b="b"/>
              <a:pathLst>
                <a:path w="518475" h="509047">
                  <a:moveTo>
                    <a:pt x="0" y="141402"/>
                  </a:moveTo>
                  <a:lnTo>
                    <a:pt x="518475" y="0"/>
                  </a:lnTo>
                  <a:lnTo>
                    <a:pt x="0" y="509047"/>
                  </a:lnTo>
                  <a:lnTo>
                    <a:pt x="0" y="141402"/>
                  </a:lnTo>
                  <a:close/>
                </a:path>
              </a:pathLst>
            </a:cu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pSp>
      <p:grpSp>
        <p:nvGrpSpPr>
          <p:cNvPr id="8" name="Group 7">
            <a:extLst>
              <a:ext uri="{FF2B5EF4-FFF2-40B4-BE49-F238E27FC236}">
                <a16:creationId xmlns:a16="http://schemas.microsoft.com/office/drawing/2014/main" id="{2BFF411C-9D47-4380-AA04-9AFFCD16DDDE}"/>
              </a:ext>
            </a:extLst>
          </p:cNvPr>
          <p:cNvGrpSpPr/>
          <p:nvPr/>
        </p:nvGrpSpPr>
        <p:grpSpPr>
          <a:xfrm>
            <a:off x="5934185" y="2214019"/>
            <a:ext cx="4140072" cy="3697788"/>
            <a:chOff x="3206551" y="2795088"/>
            <a:chExt cx="4140072" cy="3697788"/>
          </a:xfrm>
        </p:grpSpPr>
        <p:pic>
          <p:nvPicPr>
            <p:cNvPr id="9" name="Picture 8">
              <a:extLst>
                <a:ext uri="{FF2B5EF4-FFF2-40B4-BE49-F238E27FC236}">
                  <a16:creationId xmlns:a16="http://schemas.microsoft.com/office/drawing/2014/main" id="{1A5E3E6B-1330-448C-98F4-334AB341A75D}"/>
                </a:ext>
              </a:extLst>
            </p:cNvPr>
            <p:cNvPicPr>
              <a:picLocks noChangeAspect="1"/>
            </p:cNvPicPr>
            <p:nvPr/>
          </p:nvPicPr>
          <p:blipFill>
            <a:blip r:embed="rId2"/>
            <a:stretch>
              <a:fillRect/>
            </a:stretch>
          </p:blipFill>
          <p:spPr>
            <a:xfrm>
              <a:off x="3206551" y="2795088"/>
              <a:ext cx="4140072" cy="3697788"/>
            </a:xfrm>
            <a:prstGeom prst="rect">
              <a:avLst/>
            </a:prstGeom>
          </p:spPr>
        </p:pic>
        <p:sp>
          <p:nvSpPr>
            <p:cNvPr id="10" name="Freeform: Shape 9">
              <a:extLst>
                <a:ext uri="{FF2B5EF4-FFF2-40B4-BE49-F238E27FC236}">
                  <a16:creationId xmlns:a16="http://schemas.microsoft.com/office/drawing/2014/main" id="{2950D1D3-4828-4BE6-AD6C-1EF5C0DC07BD}"/>
                </a:ext>
              </a:extLst>
            </p:cNvPr>
            <p:cNvSpPr/>
            <p:nvPr/>
          </p:nvSpPr>
          <p:spPr>
            <a:xfrm>
              <a:off x="3968685" y="2960017"/>
              <a:ext cx="2602704" cy="2714919"/>
            </a:xfrm>
            <a:custGeom>
              <a:avLst/>
              <a:gdLst>
                <a:gd name="connsiteX0" fmla="*/ 2611224 w 2611224"/>
                <a:gd name="connsiteY0" fmla="*/ 0 h 2743200"/>
                <a:gd name="connsiteX1" fmla="*/ 2601797 w 2611224"/>
                <a:gd name="connsiteY1" fmla="*/ 1470582 h 2743200"/>
                <a:gd name="connsiteX2" fmla="*/ 2300140 w 2611224"/>
                <a:gd name="connsiteY2" fmla="*/ 1772239 h 2743200"/>
                <a:gd name="connsiteX3" fmla="*/ 1998482 w 2611224"/>
                <a:gd name="connsiteY3" fmla="*/ 2045617 h 2743200"/>
                <a:gd name="connsiteX4" fmla="*/ 1574276 w 2611224"/>
                <a:gd name="connsiteY4" fmla="*/ 2328421 h 2743200"/>
                <a:gd name="connsiteX5" fmla="*/ 1093509 w 2611224"/>
                <a:gd name="connsiteY5" fmla="*/ 2205872 h 2743200"/>
                <a:gd name="connsiteX6" fmla="*/ 575035 w 2611224"/>
                <a:gd name="connsiteY6" fmla="*/ 2733773 h 2743200"/>
                <a:gd name="connsiteX7" fmla="*/ 0 w 2611224"/>
                <a:gd name="connsiteY7" fmla="*/ 2743200 h 2743200"/>
                <a:gd name="connsiteX8" fmla="*/ 9426 w 2611224"/>
                <a:gd name="connsiteY8" fmla="*/ 2639505 h 2743200"/>
                <a:gd name="connsiteX9" fmla="*/ 2611224 w 2611224"/>
                <a:gd name="connsiteY9" fmla="*/ 0 h 2743200"/>
                <a:gd name="connsiteX0" fmla="*/ 2601797 w 2602704"/>
                <a:gd name="connsiteY0" fmla="*/ 0 h 2714919"/>
                <a:gd name="connsiteX1" fmla="*/ 2601797 w 2602704"/>
                <a:gd name="connsiteY1" fmla="*/ 1442301 h 2714919"/>
                <a:gd name="connsiteX2" fmla="*/ 2300140 w 2602704"/>
                <a:gd name="connsiteY2" fmla="*/ 1743958 h 2714919"/>
                <a:gd name="connsiteX3" fmla="*/ 1998482 w 2602704"/>
                <a:gd name="connsiteY3" fmla="*/ 2017336 h 2714919"/>
                <a:gd name="connsiteX4" fmla="*/ 1574276 w 2602704"/>
                <a:gd name="connsiteY4" fmla="*/ 2300140 h 2714919"/>
                <a:gd name="connsiteX5" fmla="*/ 1093509 w 2602704"/>
                <a:gd name="connsiteY5" fmla="*/ 2177591 h 2714919"/>
                <a:gd name="connsiteX6" fmla="*/ 575035 w 2602704"/>
                <a:gd name="connsiteY6" fmla="*/ 2705492 h 2714919"/>
                <a:gd name="connsiteX7" fmla="*/ 0 w 2602704"/>
                <a:gd name="connsiteY7" fmla="*/ 2714919 h 2714919"/>
                <a:gd name="connsiteX8" fmla="*/ 9426 w 2602704"/>
                <a:gd name="connsiteY8" fmla="*/ 2611224 h 2714919"/>
                <a:gd name="connsiteX9" fmla="*/ 2601797 w 2602704"/>
                <a:gd name="connsiteY9" fmla="*/ 0 h 2714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02704" h="2714919">
                  <a:moveTo>
                    <a:pt x="2601797" y="0"/>
                  </a:moveTo>
                  <a:cubicBezTo>
                    <a:pt x="2598655" y="490194"/>
                    <a:pt x="2604939" y="952107"/>
                    <a:pt x="2601797" y="1442301"/>
                  </a:cubicBezTo>
                  <a:lnTo>
                    <a:pt x="2300140" y="1743958"/>
                  </a:lnTo>
                  <a:lnTo>
                    <a:pt x="1998482" y="2017336"/>
                  </a:lnTo>
                  <a:lnTo>
                    <a:pt x="1574276" y="2300140"/>
                  </a:lnTo>
                  <a:lnTo>
                    <a:pt x="1093509" y="2177591"/>
                  </a:lnTo>
                  <a:lnTo>
                    <a:pt x="575035" y="2705492"/>
                  </a:lnTo>
                  <a:lnTo>
                    <a:pt x="0" y="2714919"/>
                  </a:lnTo>
                  <a:lnTo>
                    <a:pt x="9426" y="2611224"/>
                  </a:lnTo>
                  <a:lnTo>
                    <a:pt x="2601797" y="0"/>
                  </a:ln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pSp>
    </p:spTree>
    <p:extLst>
      <p:ext uri="{BB962C8B-B14F-4D97-AF65-F5344CB8AC3E}">
        <p14:creationId xmlns:p14="http://schemas.microsoft.com/office/powerpoint/2010/main" val="3532851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C554-45D3-4A61-86B8-CC791E5B4087}"/>
              </a:ext>
            </a:extLst>
          </p:cNvPr>
          <p:cNvSpPr>
            <a:spLocks noGrp="1"/>
          </p:cNvSpPr>
          <p:nvPr>
            <p:ph type="title"/>
          </p:nvPr>
        </p:nvSpPr>
        <p:spPr/>
        <p:txBody>
          <a:bodyPr/>
          <a:lstStyle/>
          <a:p>
            <a:r>
              <a:rPr lang="en-US" dirty="0"/>
              <a:t>Dunning–Kruger effect</a:t>
            </a:r>
          </a:p>
        </p:txBody>
      </p:sp>
      <p:sp>
        <p:nvSpPr>
          <p:cNvPr id="3" name="Content Placeholder 2">
            <a:extLst>
              <a:ext uri="{FF2B5EF4-FFF2-40B4-BE49-F238E27FC236}">
                <a16:creationId xmlns:a16="http://schemas.microsoft.com/office/drawing/2014/main" id="{7EBE8F51-D7A3-449F-909C-C1DA3D1240F2}"/>
              </a:ext>
            </a:extLst>
          </p:cNvPr>
          <p:cNvSpPr>
            <a:spLocks noGrp="1"/>
          </p:cNvSpPr>
          <p:nvPr>
            <p:ph idx="1"/>
          </p:nvPr>
        </p:nvSpPr>
        <p:spPr>
          <a:xfrm>
            <a:off x="838200" y="1825625"/>
            <a:ext cx="10515600" cy="4351338"/>
          </a:xfrm>
        </p:spPr>
        <p:txBody>
          <a:bodyPr/>
          <a:lstStyle/>
          <a:p>
            <a:endParaRPr lang="he-IL" dirty="0"/>
          </a:p>
        </p:txBody>
      </p:sp>
      <p:sp>
        <p:nvSpPr>
          <p:cNvPr id="5" name="Rectangle 4">
            <a:extLst>
              <a:ext uri="{FF2B5EF4-FFF2-40B4-BE49-F238E27FC236}">
                <a16:creationId xmlns:a16="http://schemas.microsoft.com/office/drawing/2014/main" id="{B8FD1BB1-4E66-4185-B61A-95CA1FC3DE94}"/>
              </a:ext>
            </a:extLst>
          </p:cNvPr>
          <p:cNvSpPr/>
          <p:nvPr/>
        </p:nvSpPr>
        <p:spPr>
          <a:xfrm>
            <a:off x="7346623" y="6059766"/>
            <a:ext cx="3371654" cy="369332"/>
          </a:xfrm>
          <a:prstGeom prst="rect">
            <a:avLst/>
          </a:prstGeom>
        </p:spPr>
        <p:txBody>
          <a:bodyPr wrap="square">
            <a:spAutoFit/>
          </a:bodyPr>
          <a:lstStyle/>
          <a:p>
            <a:pPr marL="304800" indent="-304800"/>
            <a:r>
              <a:rPr lang="en-US" dirty="0"/>
              <a:t>Lichtenstein &amp; </a:t>
            </a:r>
            <a:r>
              <a:rPr lang="en-US" dirty="0" err="1"/>
              <a:t>Fischhoff</a:t>
            </a:r>
            <a:r>
              <a:rPr lang="en-US" dirty="0"/>
              <a:t> (1977). </a:t>
            </a:r>
            <a:endParaRPr lang="en-US" dirty="0">
              <a:effectLst/>
            </a:endParaRPr>
          </a:p>
        </p:txBody>
      </p:sp>
      <p:grpSp>
        <p:nvGrpSpPr>
          <p:cNvPr id="11" name="Group 10">
            <a:extLst>
              <a:ext uri="{FF2B5EF4-FFF2-40B4-BE49-F238E27FC236}">
                <a16:creationId xmlns:a16="http://schemas.microsoft.com/office/drawing/2014/main" id="{65E973B6-58AE-46FF-B108-D6489107B787}"/>
              </a:ext>
            </a:extLst>
          </p:cNvPr>
          <p:cNvGrpSpPr/>
          <p:nvPr/>
        </p:nvGrpSpPr>
        <p:grpSpPr>
          <a:xfrm>
            <a:off x="1003699" y="2214019"/>
            <a:ext cx="4140072" cy="3697788"/>
            <a:chOff x="3206551" y="2795088"/>
            <a:chExt cx="4140072" cy="3697788"/>
          </a:xfrm>
        </p:grpSpPr>
        <p:pic>
          <p:nvPicPr>
            <p:cNvPr id="6" name="Picture 5">
              <a:extLst>
                <a:ext uri="{FF2B5EF4-FFF2-40B4-BE49-F238E27FC236}">
                  <a16:creationId xmlns:a16="http://schemas.microsoft.com/office/drawing/2014/main" id="{277CE8DB-AD12-436E-8A11-AAE8555F4840}"/>
                </a:ext>
              </a:extLst>
            </p:cNvPr>
            <p:cNvPicPr>
              <a:picLocks noChangeAspect="1"/>
            </p:cNvPicPr>
            <p:nvPr/>
          </p:nvPicPr>
          <p:blipFill>
            <a:blip r:embed="rId2"/>
            <a:stretch>
              <a:fillRect/>
            </a:stretch>
          </p:blipFill>
          <p:spPr>
            <a:xfrm>
              <a:off x="3206551" y="2795088"/>
              <a:ext cx="4140072" cy="3697788"/>
            </a:xfrm>
            <a:prstGeom prst="rect">
              <a:avLst/>
            </a:prstGeom>
          </p:spPr>
        </p:pic>
        <p:sp>
          <p:nvSpPr>
            <p:cNvPr id="4" name="Freeform: Shape 3">
              <a:extLst>
                <a:ext uri="{FF2B5EF4-FFF2-40B4-BE49-F238E27FC236}">
                  <a16:creationId xmlns:a16="http://schemas.microsoft.com/office/drawing/2014/main" id="{738D0B5D-87D6-47CD-BF2C-28D4CBE8A942}"/>
                </a:ext>
              </a:extLst>
            </p:cNvPr>
            <p:cNvSpPr/>
            <p:nvPr/>
          </p:nvSpPr>
          <p:spPr>
            <a:xfrm>
              <a:off x="5052768" y="2941163"/>
              <a:ext cx="1536568" cy="1583703"/>
            </a:xfrm>
            <a:custGeom>
              <a:avLst/>
              <a:gdLst>
                <a:gd name="connsiteX0" fmla="*/ 0 w 1480008"/>
                <a:gd name="connsiteY0" fmla="*/ 1517715 h 1527142"/>
                <a:gd name="connsiteX1" fmla="*/ 1480008 w 1480008"/>
                <a:gd name="connsiteY1" fmla="*/ 0 h 1527142"/>
                <a:gd name="connsiteX2" fmla="*/ 1480008 w 1480008"/>
                <a:gd name="connsiteY2" fmla="*/ 725864 h 1527142"/>
                <a:gd name="connsiteX3" fmla="*/ 989814 w 1480008"/>
                <a:gd name="connsiteY3" fmla="*/ 1168924 h 1527142"/>
                <a:gd name="connsiteX4" fmla="*/ 461913 w 1480008"/>
                <a:gd name="connsiteY4" fmla="*/ 1527142 h 1527142"/>
                <a:gd name="connsiteX5" fmla="*/ 0 w 1480008"/>
                <a:gd name="connsiteY5" fmla="*/ 1517715 h 1527142"/>
                <a:gd name="connsiteX0" fmla="*/ 0 w 1536568"/>
                <a:gd name="connsiteY0" fmla="*/ 1583703 h 1583703"/>
                <a:gd name="connsiteX1" fmla="*/ 1536568 w 1536568"/>
                <a:gd name="connsiteY1" fmla="*/ 0 h 1583703"/>
                <a:gd name="connsiteX2" fmla="*/ 1536568 w 1536568"/>
                <a:gd name="connsiteY2" fmla="*/ 725864 h 1583703"/>
                <a:gd name="connsiteX3" fmla="*/ 1046374 w 1536568"/>
                <a:gd name="connsiteY3" fmla="*/ 1168924 h 1583703"/>
                <a:gd name="connsiteX4" fmla="*/ 518473 w 1536568"/>
                <a:gd name="connsiteY4" fmla="*/ 1527142 h 1583703"/>
                <a:gd name="connsiteX5" fmla="*/ 0 w 1536568"/>
                <a:gd name="connsiteY5" fmla="*/ 1583703 h 15837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36568" h="1583703">
                  <a:moveTo>
                    <a:pt x="0" y="1583703"/>
                  </a:moveTo>
                  <a:lnTo>
                    <a:pt x="1536568" y="0"/>
                  </a:lnTo>
                  <a:lnTo>
                    <a:pt x="1536568" y="725864"/>
                  </a:lnTo>
                  <a:lnTo>
                    <a:pt x="1046374" y="1168924"/>
                  </a:lnTo>
                  <a:lnTo>
                    <a:pt x="518473" y="1527142"/>
                  </a:lnTo>
                  <a:lnTo>
                    <a:pt x="0" y="1583703"/>
                  </a:ln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7" name="Freeform: Shape 6">
              <a:extLst>
                <a:ext uri="{FF2B5EF4-FFF2-40B4-BE49-F238E27FC236}">
                  <a16:creationId xmlns:a16="http://schemas.microsoft.com/office/drawing/2014/main" id="{5AB5802F-8878-471B-BF0C-83B04F5E49A8}"/>
                </a:ext>
              </a:extLst>
            </p:cNvPr>
            <p:cNvSpPr/>
            <p:nvPr/>
          </p:nvSpPr>
          <p:spPr>
            <a:xfrm>
              <a:off x="3996965" y="5024487"/>
              <a:ext cx="518475" cy="509047"/>
            </a:xfrm>
            <a:custGeom>
              <a:avLst/>
              <a:gdLst>
                <a:gd name="connsiteX0" fmla="*/ 0 w 518475"/>
                <a:gd name="connsiteY0" fmla="*/ 141402 h 509047"/>
                <a:gd name="connsiteX1" fmla="*/ 518475 w 518475"/>
                <a:gd name="connsiteY1" fmla="*/ 0 h 509047"/>
                <a:gd name="connsiteX2" fmla="*/ 0 w 518475"/>
                <a:gd name="connsiteY2" fmla="*/ 509047 h 509047"/>
                <a:gd name="connsiteX3" fmla="*/ 0 w 518475"/>
                <a:gd name="connsiteY3" fmla="*/ 141402 h 509047"/>
              </a:gdLst>
              <a:ahLst/>
              <a:cxnLst>
                <a:cxn ang="0">
                  <a:pos x="connsiteX0" y="connsiteY0"/>
                </a:cxn>
                <a:cxn ang="0">
                  <a:pos x="connsiteX1" y="connsiteY1"/>
                </a:cxn>
                <a:cxn ang="0">
                  <a:pos x="connsiteX2" y="connsiteY2"/>
                </a:cxn>
                <a:cxn ang="0">
                  <a:pos x="connsiteX3" y="connsiteY3"/>
                </a:cxn>
              </a:cxnLst>
              <a:rect l="l" t="t" r="r" b="b"/>
              <a:pathLst>
                <a:path w="518475" h="509047">
                  <a:moveTo>
                    <a:pt x="0" y="141402"/>
                  </a:moveTo>
                  <a:lnTo>
                    <a:pt x="518475" y="0"/>
                  </a:lnTo>
                  <a:lnTo>
                    <a:pt x="0" y="509047"/>
                  </a:lnTo>
                  <a:lnTo>
                    <a:pt x="0" y="141402"/>
                  </a:lnTo>
                  <a:close/>
                </a:path>
              </a:pathLst>
            </a:cu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pSp>
      <p:grpSp>
        <p:nvGrpSpPr>
          <p:cNvPr id="8" name="Group 7">
            <a:extLst>
              <a:ext uri="{FF2B5EF4-FFF2-40B4-BE49-F238E27FC236}">
                <a16:creationId xmlns:a16="http://schemas.microsoft.com/office/drawing/2014/main" id="{2BFF411C-9D47-4380-AA04-9AFFCD16DDDE}"/>
              </a:ext>
            </a:extLst>
          </p:cNvPr>
          <p:cNvGrpSpPr/>
          <p:nvPr/>
        </p:nvGrpSpPr>
        <p:grpSpPr>
          <a:xfrm>
            <a:off x="5934185" y="2214019"/>
            <a:ext cx="4140072" cy="3697788"/>
            <a:chOff x="3206551" y="2795088"/>
            <a:chExt cx="4140072" cy="3697788"/>
          </a:xfrm>
        </p:grpSpPr>
        <p:pic>
          <p:nvPicPr>
            <p:cNvPr id="9" name="Picture 8">
              <a:extLst>
                <a:ext uri="{FF2B5EF4-FFF2-40B4-BE49-F238E27FC236}">
                  <a16:creationId xmlns:a16="http://schemas.microsoft.com/office/drawing/2014/main" id="{1A5E3E6B-1330-448C-98F4-334AB341A75D}"/>
                </a:ext>
              </a:extLst>
            </p:cNvPr>
            <p:cNvPicPr>
              <a:picLocks noChangeAspect="1"/>
            </p:cNvPicPr>
            <p:nvPr/>
          </p:nvPicPr>
          <p:blipFill>
            <a:blip r:embed="rId2"/>
            <a:stretch>
              <a:fillRect/>
            </a:stretch>
          </p:blipFill>
          <p:spPr>
            <a:xfrm>
              <a:off x="3206551" y="2795088"/>
              <a:ext cx="4140072" cy="3697788"/>
            </a:xfrm>
            <a:prstGeom prst="rect">
              <a:avLst/>
            </a:prstGeom>
          </p:spPr>
        </p:pic>
        <p:sp>
          <p:nvSpPr>
            <p:cNvPr id="10" name="Freeform: Shape 9">
              <a:extLst>
                <a:ext uri="{FF2B5EF4-FFF2-40B4-BE49-F238E27FC236}">
                  <a16:creationId xmlns:a16="http://schemas.microsoft.com/office/drawing/2014/main" id="{2950D1D3-4828-4BE6-AD6C-1EF5C0DC07BD}"/>
                </a:ext>
              </a:extLst>
            </p:cNvPr>
            <p:cNvSpPr/>
            <p:nvPr/>
          </p:nvSpPr>
          <p:spPr>
            <a:xfrm>
              <a:off x="3968685" y="2960017"/>
              <a:ext cx="2602704" cy="2714919"/>
            </a:xfrm>
            <a:custGeom>
              <a:avLst/>
              <a:gdLst>
                <a:gd name="connsiteX0" fmla="*/ 2611224 w 2611224"/>
                <a:gd name="connsiteY0" fmla="*/ 0 h 2743200"/>
                <a:gd name="connsiteX1" fmla="*/ 2601797 w 2611224"/>
                <a:gd name="connsiteY1" fmla="*/ 1470582 h 2743200"/>
                <a:gd name="connsiteX2" fmla="*/ 2300140 w 2611224"/>
                <a:gd name="connsiteY2" fmla="*/ 1772239 h 2743200"/>
                <a:gd name="connsiteX3" fmla="*/ 1998482 w 2611224"/>
                <a:gd name="connsiteY3" fmla="*/ 2045617 h 2743200"/>
                <a:gd name="connsiteX4" fmla="*/ 1574276 w 2611224"/>
                <a:gd name="connsiteY4" fmla="*/ 2328421 h 2743200"/>
                <a:gd name="connsiteX5" fmla="*/ 1093509 w 2611224"/>
                <a:gd name="connsiteY5" fmla="*/ 2205872 h 2743200"/>
                <a:gd name="connsiteX6" fmla="*/ 575035 w 2611224"/>
                <a:gd name="connsiteY6" fmla="*/ 2733773 h 2743200"/>
                <a:gd name="connsiteX7" fmla="*/ 0 w 2611224"/>
                <a:gd name="connsiteY7" fmla="*/ 2743200 h 2743200"/>
                <a:gd name="connsiteX8" fmla="*/ 9426 w 2611224"/>
                <a:gd name="connsiteY8" fmla="*/ 2639505 h 2743200"/>
                <a:gd name="connsiteX9" fmla="*/ 2611224 w 2611224"/>
                <a:gd name="connsiteY9" fmla="*/ 0 h 2743200"/>
                <a:gd name="connsiteX0" fmla="*/ 2601797 w 2602704"/>
                <a:gd name="connsiteY0" fmla="*/ 0 h 2714919"/>
                <a:gd name="connsiteX1" fmla="*/ 2601797 w 2602704"/>
                <a:gd name="connsiteY1" fmla="*/ 1442301 h 2714919"/>
                <a:gd name="connsiteX2" fmla="*/ 2300140 w 2602704"/>
                <a:gd name="connsiteY2" fmla="*/ 1743958 h 2714919"/>
                <a:gd name="connsiteX3" fmla="*/ 1998482 w 2602704"/>
                <a:gd name="connsiteY3" fmla="*/ 2017336 h 2714919"/>
                <a:gd name="connsiteX4" fmla="*/ 1574276 w 2602704"/>
                <a:gd name="connsiteY4" fmla="*/ 2300140 h 2714919"/>
                <a:gd name="connsiteX5" fmla="*/ 1093509 w 2602704"/>
                <a:gd name="connsiteY5" fmla="*/ 2177591 h 2714919"/>
                <a:gd name="connsiteX6" fmla="*/ 575035 w 2602704"/>
                <a:gd name="connsiteY6" fmla="*/ 2705492 h 2714919"/>
                <a:gd name="connsiteX7" fmla="*/ 0 w 2602704"/>
                <a:gd name="connsiteY7" fmla="*/ 2714919 h 2714919"/>
                <a:gd name="connsiteX8" fmla="*/ 9426 w 2602704"/>
                <a:gd name="connsiteY8" fmla="*/ 2611224 h 2714919"/>
                <a:gd name="connsiteX9" fmla="*/ 2601797 w 2602704"/>
                <a:gd name="connsiteY9" fmla="*/ 0 h 27149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02704" h="2714919">
                  <a:moveTo>
                    <a:pt x="2601797" y="0"/>
                  </a:moveTo>
                  <a:cubicBezTo>
                    <a:pt x="2598655" y="490194"/>
                    <a:pt x="2604939" y="952107"/>
                    <a:pt x="2601797" y="1442301"/>
                  </a:cubicBezTo>
                  <a:lnTo>
                    <a:pt x="2300140" y="1743958"/>
                  </a:lnTo>
                  <a:lnTo>
                    <a:pt x="1998482" y="2017336"/>
                  </a:lnTo>
                  <a:lnTo>
                    <a:pt x="1574276" y="2300140"/>
                  </a:lnTo>
                  <a:lnTo>
                    <a:pt x="1093509" y="2177591"/>
                  </a:lnTo>
                  <a:lnTo>
                    <a:pt x="575035" y="2705492"/>
                  </a:lnTo>
                  <a:lnTo>
                    <a:pt x="0" y="2714919"/>
                  </a:lnTo>
                  <a:lnTo>
                    <a:pt x="9426" y="2611224"/>
                  </a:lnTo>
                  <a:lnTo>
                    <a:pt x="2601797" y="0"/>
                  </a:lnTo>
                  <a:close/>
                </a:path>
              </a:pathLst>
            </a:cu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pSp>
    </p:spTree>
    <p:extLst>
      <p:ext uri="{BB962C8B-B14F-4D97-AF65-F5344CB8AC3E}">
        <p14:creationId xmlns:p14="http://schemas.microsoft.com/office/powerpoint/2010/main" val="39685122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C554-45D3-4A61-86B8-CC791E5B4087}"/>
              </a:ext>
            </a:extLst>
          </p:cNvPr>
          <p:cNvSpPr>
            <a:spLocks noGrp="1"/>
          </p:cNvSpPr>
          <p:nvPr>
            <p:ph type="title"/>
          </p:nvPr>
        </p:nvSpPr>
        <p:spPr/>
        <p:txBody>
          <a:bodyPr/>
          <a:lstStyle/>
          <a:p>
            <a:r>
              <a:rPr lang="en-US" dirty="0"/>
              <a:t>Dunning–Kruger effect</a:t>
            </a:r>
          </a:p>
        </p:txBody>
      </p:sp>
      <p:sp>
        <p:nvSpPr>
          <p:cNvPr id="3" name="Content Placeholder 2">
            <a:extLst>
              <a:ext uri="{FF2B5EF4-FFF2-40B4-BE49-F238E27FC236}">
                <a16:creationId xmlns:a16="http://schemas.microsoft.com/office/drawing/2014/main" id="{7EBE8F51-D7A3-449F-909C-C1DA3D1240F2}"/>
              </a:ext>
            </a:extLst>
          </p:cNvPr>
          <p:cNvSpPr>
            <a:spLocks noGrp="1"/>
          </p:cNvSpPr>
          <p:nvPr>
            <p:ph idx="1"/>
          </p:nvPr>
        </p:nvSpPr>
        <p:spPr>
          <a:xfrm>
            <a:off x="838200" y="1825625"/>
            <a:ext cx="10515600" cy="4351338"/>
          </a:xfrm>
        </p:spPr>
        <p:txBody>
          <a:bodyPr/>
          <a:lstStyle/>
          <a:p>
            <a:endParaRPr lang="he-IL" dirty="0"/>
          </a:p>
        </p:txBody>
      </p:sp>
    </p:spTree>
    <p:extLst>
      <p:ext uri="{BB962C8B-B14F-4D97-AF65-F5344CB8AC3E}">
        <p14:creationId xmlns:p14="http://schemas.microsoft.com/office/powerpoint/2010/main" val="8188502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C554-45D3-4A61-86B8-CC791E5B4087}"/>
              </a:ext>
            </a:extLst>
          </p:cNvPr>
          <p:cNvSpPr>
            <a:spLocks noGrp="1"/>
          </p:cNvSpPr>
          <p:nvPr>
            <p:ph type="title"/>
          </p:nvPr>
        </p:nvSpPr>
        <p:spPr/>
        <p:txBody>
          <a:bodyPr/>
          <a:lstStyle/>
          <a:p>
            <a:r>
              <a:rPr lang="en-US" dirty="0"/>
              <a:t>Dunning–Kruger effect</a:t>
            </a:r>
          </a:p>
        </p:txBody>
      </p:sp>
      <p:sp>
        <p:nvSpPr>
          <p:cNvPr id="3" name="Content Placeholder 2">
            <a:extLst>
              <a:ext uri="{FF2B5EF4-FFF2-40B4-BE49-F238E27FC236}">
                <a16:creationId xmlns:a16="http://schemas.microsoft.com/office/drawing/2014/main" id="{7EBE8F51-D7A3-449F-909C-C1DA3D1240F2}"/>
              </a:ext>
            </a:extLst>
          </p:cNvPr>
          <p:cNvSpPr>
            <a:spLocks noGrp="1"/>
          </p:cNvSpPr>
          <p:nvPr>
            <p:ph idx="1"/>
          </p:nvPr>
        </p:nvSpPr>
        <p:spPr>
          <a:xfrm>
            <a:off x="838200" y="1825625"/>
            <a:ext cx="10515600" cy="4351338"/>
          </a:xfrm>
        </p:spPr>
        <p:txBody>
          <a:bodyPr/>
          <a:lstStyle/>
          <a:p>
            <a:endParaRPr lang="en-US" dirty="0"/>
          </a:p>
          <a:p>
            <a:r>
              <a:rPr lang="en-US" dirty="0"/>
              <a:t>Ability to judge how skilled one is at a task depends on one’s skill level</a:t>
            </a:r>
            <a:endParaRPr lang="he-IL" dirty="0"/>
          </a:p>
        </p:txBody>
      </p:sp>
    </p:spTree>
    <p:extLst>
      <p:ext uri="{BB962C8B-B14F-4D97-AF65-F5344CB8AC3E}">
        <p14:creationId xmlns:p14="http://schemas.microsoft.com/office/powerpoint/2010/main" val="358529658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C554-45D3-4A61-86B8-CC791E5B4087}"/>
              </a:ext>
            </a:extLst>
          </p:cNvPr>
          <p:cNvSpPr>
            <a:spLocks noGrp="1"/>
          </p:cNvSpPr>
          <p:nvPr>
            <p:ph type="title"/>
          </p:nvPr>
        </p:nvSpPr>
        <p:spPr/>
        <p:txBody>
          <a:bodyPr/>
          <a:lstStyle/>
          <a:p>
            <a:r>
              <a:rPr lang="en-US" dirty="0"/>
              <a:t>Dunning–Kruger effect</a:t>
            </a:r>
          </a:p>
        </p:txBody>
      </p:sp>
      <p:sp>
        <p:nvSpPr>
          <p:cNvPr id="3" name="Content Placeholder 2">
            <a:extLst>
              <a:ext uri="{FF2B5EF4-FFF2-40B4-BE49-F238E27FC236}">
                <a16:creationId xmlns:a16="http://schemas.microsoft.com/office/drawing/2014/main" id="{7EBE8F51-D7A3-449F-909C-C1DA3D1240F2}"/>
              </a:ext>
            </a:extLst>
          </p:cNvPr>
          <p:cNvSpPr>
            <a:spLocks noGrp="1"/>
          </p:cNvSpPr>
          <p:nvPr>
            <p:ph idx="1"/>
          </p:nvPr>
        </p:nvSpPr>
        <p:spPr>
          <a:xfrm>
            <a:off x="838200" y="1825625"/>
            <a:ext cx="10515600" cy="4351338"/>
          </a:xfrm>
        </p:spPr>
        <p:txBody>
          <a:bodyPr/>
          <a:lstStyle/>
          <a:p>
            <a:endParaRPr lang="en-US" dirty="0"/>
          </a:p>
          <a:p>
            <a:r>
              <a:rPr lang="en-US" dirty="0"/>
              <a:t>Ability to judge how skilled one is at a task depends on one’s skill level</a:t>
            </a:r>
          </a:p>
          <a:p>
            <a:endParaRPr lang="en-US" dirty="0"/>
          </a:p>
          <a:p>
            <a:r>
              <a:rPr lang="en-US" dirty="0"/>
              <a:t>Higher skill -&gt;</a:t>
            </a:r>
            <a:endParaRPr lang="he-IL" dirty="0"/>
          </a:p>
        </p:txBody>
      </p:sp>
    </p:spTree>
    <p:extLst>
      <p:ext uri="{BB962C8B-B14F-4D97-AF65-F5344CB8AC3E}">
        <p14:creationId xmlns:p14="http://schemas.microsoft.com/office/powerpoint/2010/main" val="367562075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C554-45D3-4A61-86B8-CC791E5B4087}"/>
              </a:ext>
            </a:extLst>
          </p:cNvPr>
          <p:cNvSpPr>
            <a:spLocks noGrp="1"/>
          </p:cNvSpPr>
          <p:nvPr>
            <p:ph type="title"/>
          </p:nvPr>
        </p:nvSpPr>
        <p:spPr/>
        <p:txBody>
          <a:bodyPr/>
          <a:lstStyle/>
          <a:p>
            <a:r>
              <a:rPr lang="en-US" dirty="0"/>
              <a:t>Dunning–Kruger effect</a:t>
            </a:r>
          </a:p>
        </p:txBody>
      </p:sp>
      <p:sp>
        <p:nvSpPr>
          <p:cNvPr id="3" name="Content Placeholder 2">
            <a:extLst>
              <a:ext uri="{FF2B5EF4-FFF2-40B4-BE49-F238E27FC236}">
                <a16:creationId xmlns:a16="http://schemas.microsoft.com/office/drawing/2014/main" id="{7EBE8F51-D7A3-449F-909C-C1DA3D1240F2}"/>
              </a:ext>
            </a:extLst>
          </p:cNvPr>
          <p:cNvSpPr>
            <a:spLocks noGrp="1"/>
          </p:cNvSpPr>
          <p:nvPr>
            <p:ph idx="1"/>
          </p:nvPr>
        </p:nvSpPr>
        <p:spPr>
          <a:xfrm>
            <a:off x="838200" y="1825625"/>
            <a:ext cx="10515600" cy="4351338"/>
          </a:xfrm>
        </p:spPr>
        <p:txBody>
          <a:bodyPr/>
          <a:lstStyle/>
          <a:p>
            <a:endParaRPr lang="en-US" dirty="0"/>
          </a:p>
          <a:p>
            <a:r>
              <a:rPr lang="en-US" dirty="0"/>
              <a:t>Ability to judge how skilled one is at a task depends on one’s skill level</a:t>
            </a:r>
          </a:p>
          <a:p>
            <a:endParaRPr lang="en-US" dirty="0"/>
          </a:p>
          <a:p>
            <a:r>
              <a:rPr lang="en-US" dirty="0"/>
              <a:t>Higher skill -&gt; more accurate self assessment</a:t>
            </a:r>
            <a:endParaRPr lang="he-IL" dirty="0"/>
          </a:p>
        </p:txBody>
      </p:sp>
    </p:spTree>
    <p:extLst>
      <p:ext uri="{BB962C8B-B14F-4D97-AF65-F5344CB8AC3E}">
        <p14:creationId xmlns:p14="http://schemas.microsoft.com/office/powerpoint/2010/main" val="1712800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C554-45D3-4A61-86B8-CC791E5B4087}"/>
              </a:ext>
            </a:extLst>
          </p:cNvPr>
          <p:cNvSpPr>
            <a:spLocks noGrp="1"/>
          </p:cNvSpPr>
          <p:nvPr>
            <p:ph type="title"/>
          </p:nvPr>
        </p:nvSpPr>
        <p:spPr/>
        <p:txBody>
          <a:bodyPr/>
          <a:lstStyle/>
          <a:p>
            <a:r>
              <a:rPr lang="en-US" dirty="0"/>
              <a:t>Dunning–Kruger effect</a:t>
            </a:r>
          </a:p>
        </p:txBody>
      </p:sp>
      <p:sp>
        <p:nvSpPr>
          <p:cNvPr id="3" name="Content Placeholder 2">
            <a:extLst>
              <a:ext uri="{FF2B5EF4-FFF2-40B4-BE49-F238E27FC236}">
                <a16:creationId xmlns:a16="http://schemas.microsoft.com/office/drawing/2014/main" id="{7EBE8F51-D7A3-449F-909C-C1DA3D1240F2}"/>
              </a:ext>
            </a:extLst>
          </p:cNvPr>
          <p:cNvSpPr>
            <a:spLocks noGrp="1"/>
          </p:cNvSpPr>
          <p:nvPr>
            <p:ph idx="1"/>
          </p:nvPr>
        </p:nvSpPr>
        <p:spPr>
          <a:xfrm>
            <a:off x="838200" y="1825625"/>
            <a:ext cx="10515600" cy="4351338"/>
          </a:xfrm>
        </p:spPr>
        <p:txBody>
          <a:bodyPr/>
          <a:lstStyle/>
          <a:p>
            <a:r>
              <a:rPr lang="en-US" dirty="0"/>
              <a:t>Ability to judge how skilled one is at a task depends on one’s skill level</a:t>
            </a:r>
          </a:p>
        </p:txBody>
      </p:sp>
      <p:pic>
        <p:nvPicPr>
          <p:cNvPr id="6" name="Picture 2" descr="Graph showing the difference between self-perceived and actual performance">
            <a:extLst>
              <a:ext uri="{FF2B5EF4-FFF2-40B4-BE49-F238E27FC236}">
                <a16:creationId xmlns:a16="http://schemas.microsoft.com/office/drawing/2014/main" id="{2DD3C193-2443-4F83-AB7A-4B97A8FDEDF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1484"/>
          <a:stretch/>
        </p:blipFill>
        <p:spPr bwMode="auto">
          <a:xfrm>
            <a:off x="5269583" y="2972405"/>
            <a:ext cx="4534293" cy="333949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46013A9A-76B2-4CD2-9949-0EA42B224312}"/>
              </a:ext>
            </a:extLst>
          </p:cNvPr>
          <p:cNvPicPr>
            <a:picLocks noChangeAspect="1"/>
          </p:cNvPicPr>
          <p:nvPr/>
        </p:nvPicPr>
        <p:blipFill>
          <a:blip r:embed="rId3"/>
          <a:stretch>
            <a:fillRect/>
          </a:stretch>
        </p:blipFill>
        <p:spPr>
          <a:xfrm>
            <a:off x="6748099" y="6056257"/>
            <a:ext cx="2391109" cy="390580"/>
          </a:xfrm>
          <a:prstGeom prst="rect">
            <a:avLst/>
          </a:prstGeom>
        </p:spPr>
      </p:pic>
    </p:spTree>
    <p:extLst>
      <p:ext uri="{BB962C8B-B14F-4D97-AF65-F5344CB8AC3E}">
        <p14:creationId xmlns:p14="http://schemas.microsoft.com/office/powerpoint/2010/main" val="283614270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C554-45D3-4A61-86B8-CC791E5B4087}"/>
              </a:ext>
            </a:extLst>
          </p:cNvPr>
          <p:cNvSpPr>
            <a:spLocks noGrp="1"/>
          </p:cNvSpPr>
          <p:nvPr>
            <p:ph type="title"/>
          </p:nvPr>
        </p:nvSpPr>
        <p:spPr/>
        <p:txBody>
          <a:bodyPr/>
          <a:lstStyle/>
          <a:p>
            <a:r>
              <a:rPr lang="en-US" dirty="0"/>
              <a:t>Dunning–Kruger effect</a:t>
            </a:r>
          </a:p>
        </p:txBody>
      </p:sp>
      <p:sp>
        <p:nvSpPr>
          <p:cNvPr id="3" name="Content Placeholder 2">
            <a:extLst>
              <a:ext uri="{FF2B5EF4-FFF2-40B4-BE49-F238E27FC236}">
                <a16:creationId xmlns:a16="http://schemas.microsoft.com/office/drawing/2014/main" id="{7EBE8F51-D7A3-449F-909C-C1DA3D1240F2}"/>
              </a:ext>
            </a:extLst>
          </p:cNvPr>
          <p:cNvSpPr>
            <a:spLocks noGrp="1"/>
          </p:cNvSpPr>
          <p:nvPr>
            <p:ph idx="1"/>
          </p:nvPr>
        </p:nvSpPr>
        <p:spPr>
          <a:xfrm>
            <a:off x="838200" y="1825625"/>
            <a:ext cx="10515600" cy="4351338"/>
          </a:xfrm>
        </p:spPr>
        <p:txBody>
          <a:bodyPr/>
          <a:lstStyle/>
          <a:p>
            <a:r>
              <a:rPr lang="en-US" dirty="0"/>
              <a:t>Ability to judge how skilled one is at a task depends on one’s skill level</a:t>
            </a:r>
          </a:p>
          <a:p>
            <a:endParaRPr lang="en-US" dirty="0"/>
          </a:p>
          <a:p>
            <a:r>
              <a:rPr lang="en-US" dirty="0"/>
              <a:t>Less skilled people </a:t>
            </a:r>
            <a:br>
              <a:rPr lang="en-US" dirty="0"/>
            </a:br>
            <a:r>
              <a:rPr lang="en-US" dirty="0"/>
              <a:t>overestimate their ability</a:t>
            </a:r>
          </a:p>
          <a:p>
            <a:endParaRPr lang="en-US" dirty="0"/>
          </a:p>
          <a:p>
            <a:r>
              <a:rPr lang="en-US" dirty="0"/>
              <a:t>Highest skill people </a:t>
            </a:r>
            <a:br>
              <a:rPr lang="en-US" dirty="0"/>
            </a:br>
            <a:r>
              <a:rPr lang="en-US" dirty="0"/>
              <a:t>sometimes underestimate</a:t>
            </a:r>
            <a:br>
              <a:rPr lang="en-US" dirty="0"/>
            </a:br>
            <a:r>
              <a:rPr lang="en-US" dirty="0"/>
              <a:t>their ability</a:t>
            </a:r>
          </a:p>
        </p:txBody>
      </p:sp>
      <p:pic>
        <p:nvPicPr>
          <p:cNvPr id="1026" name="Picture 2" descr="Graph showing the difference between self-perceived and actual performance">
            <a:extLst>
              <a:ext uri="{FF2B5EF4-FFF2-40B4-BE49-F238E27FC236}">
                <a16:creationId xmlns:a16="http://schemas.microsoft.com/office/drawing/2014/main" id="{A8F2857C-4D57-4D54-BB48-9AD4E47FBD1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1484"/>
          <a:stretch/>
        </p:blipFill>
        <p:spPr bwMode="auto">
          <a:xfrm>
            <a:off x="5269583" y="2972405"/>
            <a:ext cx="4534293" cy="333949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C5994F59-1E72-4BF3-AC5A-068B43EB6016}"/>
              </a:ext>
            </a:extLst>
          </p:cNvPr>
          <p:cNvPicPr>
            <a:picLocks noChangeAspect="1"/>
          </p:cNvPicPr>
          <p:nvPr/>
        </p:nvPicPr>
        <p:blipFill>
          <a:blip r:embed="rId3"/>
          <a:stretch>
            <a:fillRect/>
          </a:stretch>
        </p:blipFill>
        <p:spPr>
          <a:xfrm>
            <a:off x="6748099" y="6056257"/>
            <a:ext cx="2391109" cy="390580"/>
          </a:xfrm>
          <a:prstGeom prst="rect">
            <a:avLst/>
          </a:prstGeom>
        </p:spPr>
      </p:pic>
    </p:spTree>
    <p:extLst>
      <p:ext uri="{BB962C8B-B14F-4D97-AF65-F5344CB8AC3E}">
        <p14:creationId xmlns:p14="http://schemas.microsoft.com/office/powerpoint/2010/main" val="1778127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C554-45D3-4A61-86B8-CC791E5B4087}"/>
              </a:ext>
            </a:extLst>
          </p:cNvPr>
          <p:cNvSpPr>
            <a:spLocks noGrp="1"/>
          </p:cNvSpPr>
          <p:nvPr>
            <p:ph type="title"/>
          </p:nvPr>
        </p:nvSpPr>
        <p:spPr/>
        <p:txBody>
          <a:bodyPr/>
          <a:lstStyle/>
          <a:p>
            <a:r>
              <a:rPr lang="en-US" b="1" dirty="0"/>
              <a:t>Not </a:t>
            </a:r>
            <a:r>
              <a:rPr lang="en-US" dirty="0"/>
              <a:t>Dunning–Kruger effect</a:t>
            </a:r>
          </a:p>
        </p:txBody>
      </p:sp>
      <p:pic>
        <p:nvPicPr>
          <p:cNvPr id="2050" name="Picture 2" descr="Dunning Kruger-Effect Curve">
            <a:extLst>
              <a:ext uri="{FF2B5EF4-FFF2-40B4-BE49-F238E27FC236}">
                <a16:creationId xmlns:a16="http://schemas.microsoft.com/office/drawing/2014/main" id="{FEAD1295-7BFA-4D46-93CF-222F6085E886}"/>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7275" t="10906" r="7992" b="11537"/>
          <a:stretch/>
        </p:blipFill>
        <p:spPr bwMode="auto">
          <a:xfrm>
            <a:off x="2394408" y="2422687"/>
            <a:ext cx="5938887" cy="3374797"/>
          </a:xfrm>
          <a:prstGeom prst="rect">
            <a:avLst/>
          </a:prstGeom>
          <a:noFill/>
          <a:extLst>
            <a:ext uri="{909E8E84-426E-40DD-AFC4-6F175D3DCCD1}">
              <a14:hiddenFill xmlns:a14="http://schemas.microsoft.com/office/drawing/2010/main">
                <a:solidFill>
                  <a:srgbClr val="FFFFFF"/>
                </a:solidFill>
              </a14:hiddenFill>
            </a:ext>
          </a:extLst>
        </p:spPr>
      </p:pic>
      <p:sp>
        <p:nvSpPr>
          <p:cNvPr id="5" name="Multiplication Sign 4">
            <a:extLst>
              <a:ext uri="{FF2B5EF4-FFF2-40B4-BE49-F238E27FC236}">
                <a16:creationId xmlns:a16="http://schemas.microsoft.com/office/drawing/2014/main" id="{E64ABE5D-2827-4EAC-A556-C1373D934816}"/>
              </a:ext>
            </a:extLst>
          </p:cNvPr>
          <p:cNvSpPr/>
          <p:nvPr/>
        </p:nvSpPr>
        <p:spPr>
          <a:xfrm>
            <a:off x="329937" y="735289"/>
            <a:ext cx="10105535" cy="7117237"/>
          </a:xfrm>
          <a:prstGeom prst="mathMultiply">
            <a:avLst>
              <a:gd name="adj1" fmla="val 678"/>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Tree>
    <p:extLst>
      <p:ext uri="{BB962C8B-B14F-4D97-AF65-F5344CB8AC3E}">
        <p14:creationId xmlns:p14="http://schemas.microsoft.com/office/powerpoint/2010/main" val="3616577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C554-45D3-4A61-86B8-CC791E5B4087}"/>
              </a:ext>
            </a:extLst>
          </p:cNvPr>
          <p:cNvSpPr>
            <a:spLocks noGrp="1"/>
          </p:cNvSpPr>
          <p:nvPr>
            <p:ph type="title"/>
          </p:nvPr>
        </p:nvSpPr>
        <p:spPr/>
        <p:txBody>
          <a:bodyPr/>
          <a:lstStyle/>
          <a:p>
            <a:r>
              <a:rPr lang="en-US" dirty="0"/>
              <a:t>Why is it hard to know when we don’t know?</a:t>
            </a:r>
          </a:p>
        </p:txBody>
      </p:sp>
      <p:sp>
        <p:nvSpPr>
          <p:cNvPr id="3" name="Content Placeholder 2">
            <a:extLst>
              <a:ext uri="{FF2B5EF4-FFF2-40B4-BE49-F238E27FC236}">
                <a16:creationId xmlns:a16="http://schemas.microsoft.com/office/drawing/2014/main" id="{7EBE8F51-D7A3-449F-909C-C1DA3D1240F2}"/>
              </a:ext>
            </a:extLst>
          </p:cNvPr>
          <p:cNvSpPr>
            <a:spLocks noGrp="1"/>
          </p:cNvSpPr>
          <p:nvPr>
            <p:ph idx="1"/>
          </p:nvPr>
        </p:nvSpPr>
        <p:spPr>
          <a:xfrm>
            <a:off x="838200" y="1825625"/>
            <a:ext cx="10515600" cy="4351338"/>
          </a:xfrm>
        </p:spPr>
        <p:txBody>
          <a:bodyPr/>
          <a:lstStyle/>
          <a:p>
            <a:endParaRPr lang="en-US" dirty="0"/>
          </a:p>
        </p:txBody>
      </p:sp>
    </p:spTree>
    <p:extLst>
      <p:ext uri="{BB962C8B-B14F-4D97-AF65-F5344CB8AC3E}">
        <p14:creationId xmlns:p14="http://schemas.microsoft.com/office/powerpoint/2010/main" val="251442531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C554-45D3-4A61-86B8-CC791E5B4087}"/>
              </a:ext>
            </a:extLst>
          </p:cNvPr>
          <p:cNvSpPr>
            <a:spLocks noGrp="1"/>
          </p:cNvSpPr>
          <p:nvPr>
            <p:ph type="title"/>
          </p:nvPr>
        </p:nvSpPr>
        <p:spPr/>
        <p:txBody>
          <a:bodyPr/>
          <a:lstStyle/>
          <a:p>
            <a:r>
              <a:rPr lang="en-US" dirty="0"/>
              <a:t>Why is it hard to know when we don’t know?</a:t>
            </a:r>
          </a:p>
        </p:txBody>
      </p:sp>
      <p:sp>
        <p:nvSpPr>
          <p:cNvPr id="3" name="Content Placeholder 2">
            <a:extLst>
              <a:ext uri="{FF2B5EF4-FFF2-40B4-BE49-F238E27FC236}">
                <a16:creationId xmlns:a16="http://schemas.microsoft.com/office/drawing/2014/main" id="{7EBE8F51-D7A3-449F-909C-C1DA3D1240F2}"/>
              </a:ext>
            </a:extLst>
          </p:cNvPr>
          <p:cNvSpPr>
            <a:spLocks noGrp="1"/>
          </p:cNvSpPr>
          <p:nvPr>
            <p:ph idx="1"/>
          </p:nvPr>
        </p:nvSpPr>
        <p:spPr>
          <a:xfrm>
            <a:off x="838200" y="1825625"/>
            <a:ext cx="10515600" cy="4351338"/>
          </a:xfrm>
        </p:spPr>
        <p:txBody>
          <a:bodyPr/>
          <a:lstStyle/>
          <a:p>
            <a:endParaRPr lang="en-US" dirty="0"/>
          </a:p>
          <a:p>
            <a:r>
              <a:rPr lang="en-US" dirty="0"/>
              <a:t>Illusion of explanatory depth</a:t>
            </a:r>
          </a:p>
        </p:txBody>
      </p:sp>
    </p:spTree>
    <p:extLst>
      <p:ext uri="{BB962C8B-B14F-4D97-AF65-F5344CB8AC3E}">
        <p14:creationId xmlns:p14="http://schemas.microsoft.com/office/powerpoint/2010/main" val="262794751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C554-45D3-4A61-86B8-CC791E5B4087}"/>
              </a:ext>
            </a:extLst>
          </p:cNvPr>
          <p:cNvSpPr>
            <a:spLocks noGrp="1"/>
          </p:cNvSpPr>
          <p:nvPr>
            <p:ph type="title"/>
          </p:nvPr>
        </p:nvSpPr>
        <p:spPr/>
        <p:txBody>
          <a:bodyPr/>
          <a:lstStyle/>
          <a:p>
            <a:r>
              <a:rPr lang="en-US" dirty="0"/>
              <a:t>Why is it hard to know when we don’t know?</a:t>
            </a:r>
          </a:p>
        </p:txBody>
      </p:sp>
      <p:sp>
        <p:nvSpPr>
          <p:cNvPr id="3" name="Content Placeholder 2">
            <a:extLst>
              <a:ext uri="{FF2B5EF4-FFF2-40B4-BE49-F238E27FC236}">
                <a16:creationId xmlns:a16="http://schemas.microsoft.com/office/drawing/2014/main" id="{7EBE8F51-D7A3-449F-909C-C1DA3D1240F2}"/>
              </a:ext>
            </a:extLst>
          </p:cNvPr>
          <p:cNvSpPr>
            <a:spLocks noGrp="1"/>
          </p:cNvSpPr>
          <p:nvPr>
            <p:ph idx="1"/>
          </p:nvPr>
        </p:nvSpPr>
        <p:spPr>
          <a:xfrm>
            <a:off x="838200" y="1825625"/>
            <a:ext cx="10515600" cy="4351338"/>
          </a:xfrm>
        </p:spPr>
        <p:txBody>
          <a:bodyPr/>
          <a:lstStyle/>
          <a:p>
            <a:endParaRPr lang="en-US" dirty="0"/>
          </a:p>
          <a:p>
            <a:r>
              <a:rPr lang="en-US" dirty="0"/>
              <a:t>Illusion of explanatory depth</a:t>
            </a:r>
          </a:p>
          <a:p>
            <a:pPr lvl="1"/>
            <a:r>
              <a:rPr lang="en-US" dirty="0"/>
              <a:t>How well do you understand zippers? </a:t>
            </a:r>
          </a:p>
          <a:p>
            <a:pPr lvl="2"/>
            <a:r>
              <a:rPr lang="en-US" dirty="0"/>
              <a:t>1 – very little to 7 – understand fully</a:t>
            </a:r>
          </a:p>
        </p:txBody>
      </p:sp>
      <p:pic>
        <p:nvPicPr>
          <p:cNvPr id="5122" name="Picture 2" descr="The History of the Zipper and How It Became Mainstream">
            <a:extLst>
              <a:ext uri="{FF2B5EF4-FFF2-40B4-BE49-F238E27FC236}">
                <a16:creationId xmlns:a16="http://schemas.microsoft.com/office/drawing/2014/main" id="{BDB5CD16-CC83-4B1B-9F8B-11760A730B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98384" y="3070790"/>
            <a:ext cx="1861007" cy="18610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9987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C554-45D3-4A61-86B8-CC791E5B4087}"/>
              </a:ext>
            </a:extLst>
          </p:cNvPr>
          <p:cNvSpPr>
            <a:spLocks noGrp="1"/>
          </p:cNvSpPr>
          <p:nvPr>
            <p:ph type="title"/>
          </p:nvPr>
        </p:nvSpPr>
        <p:spPr/>
        <p:txBody>
          <a:bodyPr/>
          <a:lstStyle/>
          <a:p>
            <a:r>
              <a:rPr lang="en-US" dirty="0"/>
              <a:t>Why is it hard to know when we don’t know?</a:t>
            </a:r>
          </a:p>
        </p:txBody>
      </p:sp>
      <p:sp>
        <p:nvSpPr>
          <p:cNvPr id="3" name="Content Placeholder 2">
            <a:extLst>
              <a:ext uri="{FF2B5EF4-FFF2-40B4-BE49-F238E27FC236}">
                <a16:creationId xmlns:a16="http://schemas.microsoft.com/office/drawing/2014/main" id="{7EBE8F51-D7A3-449F-909C-C1DA3D1240F2}"/>
              </a:ext>
            </a:extLst>
          </p:cNvPr>
          <p:cNvSpPr>
            <a:spLocks noGrp="1"/>
          </p:cNvSpPr>
          <p:nvPr>
            <p:ph idx="1"/>
          </p:nvPr>
        </p:nvSpPr>
        <p:spPr>
          <a:xfrm>
            <a:off x="838200" y="1825625"/>
            <a:ext cx="10515600" cy="4351338"/>
          </a:xfrm>
        </p:spPr>
        <p:txBody>
          <a:bodyPr/>
          <a:lstStyle/>
          <a:p>
            <a:endParaRPr lang="en-US" dirty="0"/>
          </a:p>
          <a:p>
            <a:r>
              <a:rPr lang="en-US" dirty="0"/>
              <a:t>Illusion of explanatory depth</a:t>
            </a:r>
          </a:p>
          <a:p>
            <a:pPr lvl="1"/>
            <a:r>
              <a:rPr lang="en-US" dirty="0"/>
              <a:t>How well do you understand zippers? </a:t>
            </a:r>
          </a:p>
          <a:p>
            <a:pPr lvl="2"/>
            <a:r>
              <a:rPr lang="en-US" dirty="0"/>
              <a:t>1 – very little to 7 – understand fully</a:t>
            </a:r>
          </a:p>
          <a:p>
            <a:pPr lvl="1"/>
            <a:endParaRPr lang="en-US" dirty="0"/>
          </a:p>
          <a:p>
            <a:pPr lvl="1"/>
            <a:r>
              <a:rPr lang="en-US" dirty="0"/>
              <a:t>Try to write down an explanation of</a:t>
            </a:r>
            <a:br>
              <a:rPr lang="en-US" dirty="0"/>
            </a:br>
            <a:r>
              <a:rPr lang="en-US" dirty="0"/>
              <a:t>how a zipper works exactly</a:t>
            </a:r>
          </a:p>
        </p:txBody>
      </p:sp>
      <p:pic>
        <p:nvPicPr>
          <p:cNvPr id="5122" name="Picture 2" descr="The History of the Zipper and How It Became Mainstream">
            <a:extLst>
              <a:ext uri="{FF2B5EF4-FFF2-40B4-BE49-F238E27FC236}">
                <a16:creationId xmlns:a16="http://schemas.microsoft.com/office/drawing/2014/main" id="{BDB5CD16-CC83-4B1B-9F8B-11760A730B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98384" y="3070790"/>
            <a:ext cx="1861007" cy="18610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92966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C554-45D3-4A61-86B8-CC791E5B4087}"/>
              </a:ext>
            </a:extLst>
          </p:cNvPr>
          <p:cNvSpPr>
            <a:spLocks noGrp="1"/>
          </p:cNvSpPr>
          <p:nvPr>
            <p:ph type="title"/>
          </p:nvPr>
        </p:nvSpPr>
        <p:spPr/>
        <p:txBody>
          <a:bodyPr/>
          <a:lstStyle/>
          <a:p>
            <a:r>
              <a:rPr lang="en-US" dirty="0"/>
              <a:t>Why is it hard to know when we don’t know?</a:t>
            </a:r>
          </a:p>
        </p:txBody>
      </p:sp>
      <p:sp>
        <p:nvSpPr>
          <p:cNvPr id="3" name="Content Placeholder 2">
            <a:extLst>
              <a:ext uri="{FF2B5EF4-FFF2-40B4-BE49-F238E27FC236}">
                <a16:creationId xmlns:a16="http://schemas.microsoft.com/office/drawing/2014/main" id="{7EBE8F51-D7A3-449F-909C-C1DA3D1240F2}"/>
              </a:ext>
            </a:extLst>
          </p:cNvPr>
          <p:cNvSpPr>
            <a:spLocks noGrp="1"/>
          </p:cNvSpPr>
          <p:nvPr>
            <p:ph idx="1"/>
          </p:nvPr>
        </p:nvSpPr>
        <p:spPr>
          <a:xfrm>
            <a:off x="838200" y="1825625"/>
            <a:ext cx="10515600" cy="4351338"/>
          </a:xfrm>
        </p:spPr>
        <p:txBody>
          <a:bodyPr/>
          <a:lstStyle/>
          <a:p>
            <a:endParaRPr lang="en-US" dirty="0"/>
          </a:p>
          <a:p>
            <a:r>
              <a:rPr lang="en-US" dirty="0"/>
              <a:t>Illusion of explanatory depth</a:t>
            </a:r>
          </a:p>
          <a:p>
            <a:pPr lvl="1"/>
            <a:r>
              <a:rPr lang="en-US" dirty="0"/>
              <a:t>How well do you understand zippers? </a:t>
            </a:r>
          </a:p>
          <a:p>
            <a:pPr lvl="2"/>
            <a:r>
              <a:rPr lang="en-US" dirty="0"/>
              <a:t>1 – very little to 7 – understand fully</a:t>
            </a:r>
          </a:p>
          <a:p>
            <a:pPr lvl="1"/>
            <a:endParaRPr lang="en-US" dirty="0"/>
          </a:p>
          <a:p>
            <a:pPr lvl="1"/>
            <a:r>
              <a:rPr lang="en-US" dirty="0"/>
              <a:t>Try to write down an explanation of</a:t>
            </a:r>
            <a:br>
              <a:rPr lang="en-US" dirty="0"/>
            </a:br>
            <a:r>
              <a:rPr lang="en-US" dirty="0"/>
              <a:t>how a zipper works exactly</a:t>
            </a:r>
          </a:p>
          <a:p>
            <a:pPr lvl="1"/>
            <a:endParaRPr lang="en-US" dirty="0"/>
          </a:p>
          <a:p>
            <a:pPr lvl="1"/>
            <a:r>
              <a:rPr lang="en-US" dirty="0"/>
              <a:t>Rate again, how well do you understand </a:t>
            </a:r>
            <a:br>
              <a:rPr lang="en-US" dirty="0"/>
            </a:br>
            <a:r>
              <a:rPr lang="en-US" dirty="0"/>
              <a:t>zippers? </a:t>
            </a:r>
          </a:p>
          <a:p>
            <a:pPr lvl="2"/>
            <a:r>
              <a:rPr lang="en-US" dirty="0"/>
              <a:t>1 – very little to 7 – understand fully</a:t>
            </a:r>
          </a:p>
          <a:p>
            <a:pPr lvl="1"/>
            <a:endParaRPr lang="en-US" dirty="0"/>
          </a:p>
        </p:txBody>
      </p:sp>
      <p:pic>
        <p:nvPicPr>
          <p:cNvPr id="5122" name="Picture 2" descr="The History of the Zipper and How It Became Mainstream">
            <a:extLst>
              <a:ext uri="{FF2B5EF4-FFF2-40B4-BE49-F238E27FC236}">
                <a16:creationId xmlns:a16="http://schemas.microsoft.com/office/drawing/2014/main" id="{BDB5CD16-CC83-4B1B-9F8B-11760A730B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98384" y="3070790"/>
            <a:ext cx="1861007" cy="18610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519630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C554-45D3-4A61-86B8-CC791E5B4087}"/>
              </a:ext>
            </a:extLst>
          </p:cNvPr>
          <p:cNvSpPr>
            <a:spLocks noGrp="1"/>
          </p:cNvSpPr>
          <p:nvPr>
            <p:ph type="title"/>
          </p:nvPr>
        </p:nvSpPr>
        <p:spPr/>
        <p:txBody>
          <a:bodyPr/>
          <a:lstStyle/>
          <a:p>
            <a:r>
              <a:rPr lang="en-US" dirty="0"/>
              <a:t>Why is it hard to know when we don’t know?</a:t>
            </a:r>
          </a:p>
        </p:txBody>
      </p:sp>
      <p:sp>
        <p:nvSpPr>
          <p:cNvPr id="3" name="Content Placeholder 2">
            <a:extLst>
              <a:ext uri="{FF2B5EF4-FFF2-40B4-BE49-F238E27FC236}">
                <a16:creationId xmlns:a16="http://schemas.microsoft.com/office/drawing/2014/main" id="{7EBE8F51-D7A3-449F-909C-C1DA3D1240F2}"/>
              </a:ext>
            </a:extLst>
          </p:cNvPr>
          <p:cNvSpPr>
            <a:spLocks noGrp="1"/>
          </p:cNvSpPr>
          <p:nvPr>
            <p:ph idx="1"/>
          </p:nvPr>
        </p:nvSpPr>
        <p:spPr>
          <a:xfrm>
            <a:off x="838200" y="1825625"/>
            <a:ext cx="10515600" cy="4351338"/>
          </a:xfrm>
        </p:spPr>
        <p:txBody>
          <a:bodyPr>
            <a:normAutofit lnSpcReduction="10000"/>
          </a:bodyPr>
          <a:lstStyle/>
          <a:p>
            <a:pPr marL="0" indent="0">
              <a:buNone/>
            </a:pPr>
            <a:r>
              <a:rPr lang="en-US" sz="2200" dirty="0"/>
              <a:t>A zipper track is made up of dozens of teeth, each of which combines a </a:t>
            </a:r>
            <a:r>
              <a:rPr lang="en-US" sz="2200" b="1" dirty="0"/>
              <a:t>hook</a:t>
            </a:r>
            <a:r>
              <a:rPr lang="en-US" sz="2200" dirty="0"/>
              <a:t> and a </a:t>
            </a:r>
            <a:r>
              <a:rPr lang="en-US" sz="2200" b="1" dirty="0"/>
              <a:t>hollow</a:t>
            </a:r>
            <a:r>
              <a:rPr lang="en-US" sz="2200" dirty="0"/>
              <a:t>. The idea is to latch every hook on each of the two tracks into a hollow on the opposite track. The latching mechanism, called the </a:t>
            </a:r>
            <a:r>
              <a:rPr lang="en-US" sz="2200" b="1" dirty="0"/>
              <a:t>slide</a:t>
            </a:r>
            <a:r>
              <a:rPr lang="en-US" sz="2200" dirty="0"/>
              <a:t>, is just a collection of wedges.</a:t>
            </a:r>
          </a:p>
          <a:p>
            <a:pPr marL="0" indent="0">
              <a:buNone/>
            </a:pPr>
            <a:r>
              <a:rPr lang="en-US" sz="2200" dirty="0"/>
              <a:t>As the slide moves up the zipper, the two teeth strips must enter at a specific angle. As the strips move through the slide, the slide's inclined edges push the teeth toward each other. The strips are </a:t>
            </a:r>
            <a:r>
              <a:rPr lang="en-US" sz="2200" b="1" dirty="0"/>
              <a:t>offset</a:t>
            </a:r>
            <a:r>
              <a:rPr lang="en-US" sz="2200" dirty="0"/>
              <a:t> from each other, so each hollow settles onto a hook in sequence. For this to work properly, each tooth must be exactly the same size and shape, and they all must be perfectly positioned on the track. This would be all but impossible without modern manufacturing technology.</a:t>
            </a:r>
          </a:p>
          <a:p>
            <a:pPr lvl="1"/>
            <a:endParaRPr lang="en-US" dirty="0"/>
          </a:p>
          <a:p>
            <a:pPr lvl="1"/>
            <a:r>
              <a:rPr lang="en-US" dirty="0"/>
              <a:t>Rate again, how well did you understand </a:t>
            </a:r>
            <a:br>
              <a:rPr lang="en-US" dirty="0"/>
            </a:br>
            <a:r>
              <a:rPr lang="en-US" dirty="0"/>
              <a:t>zippers before? </a:t>
            </a:r>
          </a:p>
          <a:p>
            <a:pPr lvl="2"/>
            <a:r>
              <a:rPr lang="en-US" dirty="0"/>
              <a:t>1 – very little to 7 – understand fully</a:t>
            </a:r>
          </a:p>
          <a:p>
            <a:pPr lvl="1"/>
            <a:endParaRPr lang="en-US" dirty="0"/>
          </a:p>
        </p:txBody>
      </p:sp>
      <p:pic>
        <p:nvPicPr>
          <p:cNvPr id="5" name="Picture 4">
            <a:extLst>
              <a:ext uri="{FF2B5EF4-FFF2-40B4-BE49-F238E27FC236}">
                <a16:creationId xmlns:a16="http://schemas.microsoft.com/office/drawing/2014/main" id="{EBA52DB7-26A4-48B5-B1D0-9685882C99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06153" y="4317475"/>
            <a:ext cx="2273047" cy="2273047"/>
          </a:xfrm>
          <a:prstGeom prst="rect">
            <a:avLst/>
          </a:prstGeom>
        </p:spPr>
      </p:pic>
    </p:spTree>
    <p:extLst>
      <p:ext uri="{BB962C8B-B14F-4D97-AF65-F5344CB8AC3E}">
        <p14:creationId xmlns:p14="http://schemas.microsoft.com/office/powerpoint/2010/main" val="2536108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C554-45D3-4A61-86B8-CC791E5B4087}"/>
              </a:ext>
            </a:extLst>
          </p:cNvPr>
          <p:cNvSpPr>
            <a:spLocks noGrp="1"/>
          </p:cNvSpPr>
          <p:nvPr>
            <p:ph type="title"/>
          </p:nvPr>
        </p:nvSpPr>
        <p:spPr/>
        <p:txBody>
          <a:bodyPr/>
          <a:lstStyle/>
          <a:p>
            <a:r>
              <a:rPr lang="en-US" dirty="0"/>
              <a:t>Why is it hard to know when we don’t know?</a:t>
            </a:r>
          </a:p>
        </p:txBody>
      </p:sp>
      <p:sp>
        <p:nvSpPr>
          <p:cNvPr id="3" name="Content Placeholder 2">
            <a:extLst>
              <a:ext uri="{FF2B5EF4-FFF2-40B4-BE49-F238E27FC236}">
                <a16:creationId xmlns:a16="http://schemas.microsoft.com/office/drawing/2014/main" id="{7EBE8F51-D7A3-449F-909C-C1DA3D1240F2}"/>
              </a:ext>
            </a:extLst>
          </p:cNvPr>
          <p:cNvSpPr>
            <a:spLocks noGrp="1"/>
          </p:cNvSpPr>
          <p:nvPr>
            <p:ph idx="1"/>
          </p:nvPr>
        </p:nvSpPr>
        <p:spPr>
          <a:xfrm>
            <a:off x="838200" y="1825625"/>
            <a:ext cx="10515600" cy="4351338"/>
          </a:xfrm>
        </p:spPr>
        <p:txBody>
          <a:bodyPr/>
          <a:lstStyle/>
          <a:p>
            <a:endParaRPr lang="en-US" dirty="0"/>
          </a:p>
          <a:p>
            <a:r>
              <a:rPr lang="en-US" dirty="0"/>
              <a:t>Illusion of explanatory depth:</a:t>
            </a:r>
          </a:p>
          <a:p>
            <a:pPr marL="0" indent="0">
              <a:buNone/>
            </a:pPr>
            <a:endParaRPr lang="en-US" dirty="0"/>
          </a:p>
          <a:p>
            <a:pPr lvl="1"/>
            <a:r>
              <a:rPr lang="en-US" dirty="0"/>
              <a:t>People overestimate their own level of understanding of a subject if they do not put it to a test</a:t>
            </a:r>
          </a:p>
          <a:p>
            <a:pPr lvl="1"/>
            <a:endParaRPr lang="en-US" dirty="0"/>
          </a:p>
          <a:p>
            <a:pPr lvl="1"/>
            <a:r>
              <a:rPr lang="en-US" dirty="0"/>
              <a:t>One test: try to “unpack” (explain) your understanding</a:t>
            </a:r>
          </a:p>
          <a:p>
            <a:pPr marL="0" indent="0">
              <a:buNone/>
            </a:pPr>
            <a:endParaRPr lang="en-US" dirty="0"/>
          </a:p>
        </p:txBody>
      </p:sp>
    </p:spTree>
    <p:extLst>
      <p:ext uri="{BB962C8B-B14F-4D97-AF65-F5344CB8AC3E}">
        <p14:creationId xmlns:p14="http://schemas.microsoft.com/office/powerpoint/2010/main" val="3040701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C554-45D3-4A61-86B8-CC791E5B4087}"/>
              </a:ext>
            </a:extLst>
          </p:cNvPr>
          <p:cNvSpPr>
            <a:spLocks noGrp="1"/>
          </p:cNvSpPr>
          <p:nvPr>
            <p:ph type="title"/>
          </p:nvPr>
        </p:nvSpPr>
        <p:spPr/>
        <p:txBody>
          <a:bodyPr/>
          <a:lstStyle/>
          <a:p>
            <a:r>
              <a:rPr lang="en-US" dirty="0"/>
              <a:t>Why is it hard to know when we don’t know?</a:t>
            </a:r>
          </a:p>
        </p:txBody>
      </p:sp>
      <p:sp>
        <p:nvSpPr>
          <p:cNvPr id="3" name="Content Placeholder 2">
            <a:extLst>
              <a:ext uri="{FF2B5EF4-FFF2-40B4-BE49-F238E27FC236}">
                <a16:creationId xmlns:a16="http://schemas.microsoft.com/office/drawing/2014/main" id="{7EBE8F51-D7A3-449F-909C-C1DA3D1240F2}"/>
              </a:ext>
            </a:extLst>
          </p:cNvPr>
          <p:cNvSpPr>
            <a:spLocks noGrp="1"/>
          </p:cNvSpPr>
          <p:nvPr>
            <p:ph idx="1"/>
          </p:nvPr>
        </p:nvSpPr>
        <p:spPr>
          <a:xfrm>
            <a:off x="838200" y="1825625"/>
            <a:ext cx="10515600" cy="4351338"/>
          </a:xfrm>
        </p:spPr>
        <p:txBody>
          <a:bodyPr/>
          <a:lstStyle/>
          <a:p>
            <a:endParaRPr lang="en-US" dirty="0"/>
          </a:p>
          <a:p>
            <a:r>
              <a:rPr lang="en-US" dirty="0"/>
              <a:t>Another test: make predictions / estimations</a:t>
            </a:r>
          </a:p>
          <a:p>
            <a:pPr marL="0" indent="0">
              <a:buNone/>
            </a:pPr>
            <a:endParaRPr lang="en-US" dirty="0"/>
          </a:p>
        </p:txBody>
      </p:sp>
    </p:spTree>
    <p:extLst>
      <p:ext uri="{BB962C8B-B14F-4D97-AF65-F5344CB8AC3E}">
        <p14:creationId xmlns:p14="http://schemas.microsoft.com/office/powerpoint/2010/main" val="192748337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C554-45D3-4A61-86B8-CC791E5B4087}"/>
              </a:ext>
            </a:extLst>
          </p:cNvPr>
          <p:cNvSpPr>
            <a:spLocks noGrp="1"/>
          </p:cNvSpPr>
          <p:nvPr>
            <p:ph type="title"/>
          </p:nvPr>
        </p:nvSpPr>
        <p:spPr/>
        <p:txBody>
          <a:bodyPr/>
          <a:lstStyle/>
          <a:p>
            <a:r>
              <a:rPr lang="en-US" dirty="0"/>
              <a:t>Why is it hard to know when we don’t know?</a:t>
            </a:r>
          </a:p>
        </p:txBody>
      </p:sp>
      <p:sp>
        <p:nvSpPr>
          <p:cNvPr id="3" name="Content Placeholder 2">
            <a:extLst>
              <a:ext uri="{FF2B5EF4-FFF2-40B4-BE49-F238E27FC236}">
                <a16:creationId xmlns:a16="http://schemas.microsoft.com/office/drawing/2014/main" id="{7EBE8F51-D7A3-449F-909C-C1DA3D1240F2}"/>
              </a:ext>
            </a:extLst>
          </p:cNvPr>
          <p:cNvSpPr>
            <a:spLocks noGrp="1"/>
          </p:cNvSpPr>
          <p:nvPr>
            <p:ph idx="1"/>
          </p:nvPr>
        </p:nvSpPr>
        <p:spPr>
          <a:xfrm>
            <a:off x="838200" y="1825625"/>
            <a:ext cx="10515600" cy="4351338"/>
          </a:xfrm>
        </p:spPr>
        <p:txBody>
          <a:bodyPr/>
          <a:lstStyle/>
          <a:p>
            <a:endParaRPr lang="en-US" dirty="0"/>
          </a:p>
          <a:p>
            <a:r>
              <a:rPr lang="en-US" dirty="0"/>
              <a:t>Another test: make predictions / estimations</a:t>
            </a:r>
          </a:p>
          <a:p>
            <a:pPr marL="0" indent="0">
              <a:buNone/>
            </a:pPr>
            <a:endParaRPr lang="en-US" dirty="0"/>
          </a:p>
          <a:p>
            <a:pPr marL="0" indent="0">
              <a:buNone/>
            </a:pPr>
            <a:r>
              <a:rPr lang="en-US" b="1" dirty="0"/>
              <a:t>1. Distance from earth to nearest star (excluding sun), in light-years</a:t>
            </a:r>
            <a:endParaRPr lang="en-US" dirty="0"/>
          </a:p>
          <a:p>
            <a:pPr marL="0" indent="0">
              <a:buNone/>
            </a:pPr>
            <a:r>
              <a:rPr lang="en-US" dirty="0"/>
              <a:t>90% confidence interval: [ _________ , _________ ]</a:t>
            </a:r>
          </a:p>
          <a:p>
            <a:pPr marL="0" indent="0">
              <a:buNone/>
            </a:pPr>
            <a:endParaRPr lang="en-US" dirty="0"/>
          </a:p>
          <a:p>
            <a:pPr marL="0" indent="0">
              <a:buNone/>
            </a:pPr>
            <a:r>
              <a:rPr lang="en-US" dirty="0"/>
              <a:t>Write down your answers (with question numbers)</a:t>
            </a:r>
          </a:p>
        </p:txBody>
      </p:sp>
    </p:spTree>
    <p:extLst>
      <p:ext uri="{BB962C8B-B14F-4D97-AF65-F5344CB8AC3E}">
        <p14:creationId xmlns:p14="http://schemas.microsoft.com/office/powerpoint/2010/main" val="184681577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C554-45D3-4A61-86B8-CC791E5B4087}"/>
              </a:ext>
            </a:extLst>
          </p:cNvPr>
          <p:cNvSpPr>
            <a:spLocks noGrp="1"/>
          </p:cNvSpPr>
          <p:nvPr>
            <p:ph type="title"/>
          </p:nvPr>
        </p:nvSpPr>
        <p:spPr/>
        <p:txBody>
          <a:bodyPr/>
          <a:lstStyle/>
          <a:p>
            <a:r>
              <a:rPr lang="en-US" dirty="0"/>
              <a:t>Why is it hard to know when we don’t know?</a:t>
            </a:r>
          </a:p>
        </p:txBody>
      </p:sp>
      <p:sp>
        <p:nvSpPr>
          <p:cNvPr id="3" name="Content Placeholder 2">
            <a:extLst>
              <a:ext uri="{FF2B5EF4-FFF2-40B4-BE49-F238E27FC236}">
                <a16:creationId xmlns:a16="http://schemas.microsoft.com/office/drawing/2014/main" id="{7EBE8F51-D7A3-449F-909C-C1DA3D1240F2}"/>
              </a:ext>
            </a:extLst>
          </p:cNvPr>
          <p:cNvSpPr>
            <a:spLocks noGrp="1"/>
          </p:cNvSpPr>
          <p:nvPr>
            <p:ph idx="1"/>
          </p:nvPr>
        </p:nvSpPr>
        <p:spPr>
          <a:xfrm>
            <a:off x="838200" y="1825625"/>
            <a:ext cx="10515600" cy="4351338"/>
          </a:xfrm>
        </p:spPr>
        <p:txBody>
          <a:bodyPr/>
          <a:lstStyle/>
          <a:p>
            <a:endParaRPr lang="en-US" dirty="0"/>
          </a:p>
          <a:p>
            <a:r>
              <a:rPr lang="en-US" dirty="0"/>
              <a:t>Another test: make predictions / estimations</a:t>
            </a:r>
          </a:p>
          <a:p>
            <a:pPr marL="0" indent="0">
              <a:buNone/>
            </a:pPr>
            <a:endParaRPr lang="en-US" dirty="0"/>
          </a:p>
          <a:p>
            <a:pPr marL="0" indent="0">
              <a:buNone/>
            </a:pPr>
            <a:r>
              <a:rPr lang="en-US" b="1" dirty="0"/>
              <a:t>1. Distance from earth to nearest star (excluding sun), in light-years</a:t>
            </a:r>
            <a:endParaRPr lang="en-US" dirty="0"/>
          </a:p>
          <a:p>
            <a:pPr marL="0" indent="0">
              <a:buNone/>
            </a:pPr>
            <a:r>
              <a:rPr lang="en-US" dirty="0"/>
              <a:t>e.g., my 90% confidence interval: [ ___</a:t>
            </a:r>
            <a:r>
              <a:rPr lang="en-US" u="sng" dirty="0"/>
              <a:t>2</a:t>
            </a:r>
            <a:r>
              <a:rPr lang="en-US" dirty="0"/>
              <a:t>__ , ___</a:t>
            </a:r>
            <a:r>
              <a:rPr lang="en-US" u="sng" dirty="0"/>
              <a:t>_7_</a:t>
            </a:r>
            <a:r>
              <a:rPr lang="en-US" dirty="0"/>
              <a:t>_ ]</a:t>
            </a:r>
          </a:p>
          <a:p>
            <a:pPr marL="0" indent="0">
              <a:buNone/>
            </a:pPr>
            <a:endParaRPr lang="en-US" dirty="0"/>
          </a:p>
        </p:txBody>
      </p:sp>
    </p:spTree>
    <p:extLst>
      <p:ext uri="{BB962C8B-B14F-4D97-AF65-F5344CB8AC3E}">
        <p14:creationId xmlns:p14="http://schemas.microsoft.com/office/powerpoint/2010/main" val="374945057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C554-45D3-4A61-86B8-CC791E5B4087}"/>
              </a:ext>
            </a:extLst>
          </p:cNvPr>
          <p:cNvSpPr>
            <a:spLocks noGrp="1"/>
          </p:cNvSpPr>
          <p:nvPr>
            <p:ph type="title"/>
          </p:nvPr>
        </p:nvSpPr>
        <p:spPr/>
        <p:txBody>
          <a:bodyPr/>
          <a:lstStyle/>
          <a:p>
            <a:r>
              <a:rPr lang="en-US" dirty="0"/>
              <a:t>Why is it hard to know when we don’t know?</a:t>
            </a:r>
          </a:p>
        </p:txBody>
      </p:sp>
      <p:sp>
        <p:nvSpPr>
          <p:cNvPr id="3" name="Content Placeholder 2">
            <a:extLst>
              <a:ext uri="{FF2B5EF4-FFF2-40B4-BE49-F238E27FC236}">
                <a16:creationId xmlns:a16="http://schemas.microsoft.com/office/drawing/2014/main" id="{7EBE8F51-D7A3-449F-909C-C1DA3D1240F2}"/>
              </a:ext>
            </a:extLst>
          </p:cNvPr>
          <p:cNvSpPr>
            <a:spLocks noGrp="1"/>
          </p:cNvSpPr>
          <p:nvPr>
            <p:ph idx="1"/>
          </p:nvPr>
        </p:nvSpPr>
        <p:spPr>
          <a:xfrm>
            <a:off x="838200" y="1825625"/>
            <a:ext cx="10515600" cy="4351338"/>
          </a:xfrm>
        </p:spPr>
        <p:txBody>
          <a:bodyPr/>
          <a:lstStyle/>
          <a:p>
            <a:endParaRPr lang="en-US" dirty="0"/>
          </a:p>
          <a:p>
            <a:r>
              <a:rPr lang="en-US" dirty="0"/>
              <a:t>Another test: make predictions / estimations</a:t>
            </a:r>
          </a:p>
          <a:p>
            <a:pPr marL="0" indent="0">
              <a:buNone/>
            </a:pPr>
            <a:endParaRPr lang="en-US" dirty="0"/>
          </a:p>
          <a:p>
            <a:pPr marL="0" indent="0">
              <a:buNone/>
            </a:pPr>
            <a:r>
              <a:rPr lang="en-US" b="1" dirty="0"/>
              <a:t>1. Distance from earth to nearest star (excluding sun), in light-years</a:t>
            </a:r>
            <a:endParaRPr lang="en-US" dirty="0"/>
          </a:p>
          <a:p>
            <a:pPr marL="0" indent="0">
              <a:buNone/>
            </a:pPr>
            <a:r>
              <a:rPr lang="en-US" dirty="0"/>
              <a:t>e.g., my 90% confidence interval: [ ___</a:t>
            </a:r>
            <a:r>
              <a:rPr lang="en-US" u="sng" dirty="0"/>
              <a:t>2</a:t>
            </a:r>
            <a:r>
              <a:rPr lang="en-US" dirty="0"/>
              <a:t>__ , ___</a:t>
            </a:r>
            <a:r>
              <a:rPr lang="en-US" u="sng" dirty="0"/>
              <a:t>_7_</a:t>
            </a:r>
            <a:r>
              <a:rPr lang="en-US" dirty="0"/>
              <a:t>_ ]</a:t>
            </a:r>
          </a:p>
          <a:p>
            <a:pPr marL="0" indent="0">
              <a:buNone/>
            </a:pPr>
            <a:endParaRPr lang="en-US" dirty="0"/>
          </a:p>
          <a:p>
            <a:pPr marL="0" indent="0">
              <a:buNone/>
            </a:pPr>
            <a:r>
              <a:rPr lang="en-US" dirty="0"/>
              <a:t>Goal: be 90% correct (not 100%)</a:t>
            </a:r>
          </a:p>
        </p:txBody>
      </p:sp>
    </p:spTree>
    <p:extLst>
      <p:ext uri="{BB962C8B-B14F-4D97-AF65-F5344CB8AC3E}">
        <p14:creationId xmlns:p14="http://schemas.microsoft.com/office/powerpoint/2010/main" val="136421234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C554-45D3-4A61-86B8-CC791E5B4087}"/>
              </a:ext>
            </a:extLst>
          </p:cNvPr>
          <p:cNvSpPr>
            <a:spLocks noGrp="1"/>
          </p:cNvSpPr>
          <p:nvPr>
            <p:ph type="title"/>
          </p:nvPr>
        </p:nvSpPr>
        <p:spPr/>
        <p:txBody>
          <a:bodyPr/>
          <a:lstStyle/>
          <a:p>
            <a:r>
              <a:rPr lang="en-US" dirty="0"/>
              <a:t>Why is it hard to know when we don’t know?</a:t>
            </a:r>
          </a:p>
        </p:txBody>
      </p:sp>
      <p:sp>
        <p:nvSpPr>
          <p:cNvPr id="3" name="Content Placeholder 2">
            <a:extLst>
              <a:ext uri="{FF2B5EF4-FFF2-40B4-BE49-F238E27FC236}">
                <a16:creationId xmlns:a16="http://schemas.microsoft.com/office/drawing/2014/main" id="{7EBE8F51-D7A3-449F-909C-C1DA3D1240F2}"/>
              </a:ext>
            </a:extLst>
          </p:cNvPr>
          <p:cNvSpPr>
            <a:spLocks noGrp="1"/>
          </p:cNvSpPr>
          <p:nvPr>
            <p:ph idx="1"/>
          </p:nvPr>
        </p:nvSpPr>
        <p:spPr>
          <a:xfrm>
            <a:off x="838200" y="1825625"/>
            <a:ext cx="10515600" cy="4351338"/>
          </a:xfrm>
        </p:spPr>
        <p:txBody>
          <a:bodyPr/>
          <a:lstStyle/>
          <a:p>
            <a:endParaRPr lang="en-US" dirty="0"/>
          </a:p>
          <a:p>
            <a:r>
              <a:rPr lang="en-US" dirty="0"/>
              <a:t>Another test: make predictions / estimations</a:t>
            </a:r>
          </a:p>
          <a:p>
            <a:pPr marL="0" indent="0">
              <a:buNone/>
            </a:pPr>
            <a:endParaRPr lang="en-US" dirty="0"/>
          </a:p>
          <a:p>
            <a:pPr marL="0" indent="0">
              <a:buNone/>
            </a:pPr>
            <a:r>
              <a:rPr lang="en-US" b="1" dirty="0"/>
              <a:t>1. Distance from earth to nearest star (excluding sun), in light-years</a:t>
            </a:r>
            <a:endParaRPr lang="en-US" dirty="0"/>
          </a:p>
          <a:p>
            <a:pPr marL="0" indent="0">
              <a:buNone/>
            </a:pPr>
            <a:r>
              <a:rPr lang="en-US" dirty="0"/>
              <a:t>e.g., my 90% confidence interval: [ ___</a:t>
            </a:r>
            <a:r>
              <a:rPr lang="en-US" u="sng" dirty="0"/>
              <a:t>2</a:t>
            </a:r>
            <a:r>
              <a:rPr lang="en-US" dirty="0"/>
              <a:t>__ , ___</a:t>
            </a:r>
            <a:r>
              <a:rPr lang="en-US" u="sng" dirty="0"/>
              <a:t>_7_</a:t>
            </a:r>
            <a:r>
              <a:rPr lang="en-US" dirty="0"/>
              <a:t>_ ]</a:t>
            </a:r>
          </a:p>
          <a:p>
            <a:pPr marL="0" indent="0">
              <a:buNone/>
            </a:pPr>
            <a:endParaRPr lang="en-US" dirty="0"/>
          </a:p>
          <a:p>
            <a:pPr marL="0" indent="0">
              <a:buNone/>
            </a:pPr>
            <a:r>
              <a:rPr lang="en-US" dirty="0"/>
              <a:t>Goal: be 90% correct (not 100%) -&gt; correct but narrow</a:t>
            </a:r>
          </a:p>
          <a:p>
            <a:pPr marL="0" indent="0">
              <a:buNone/>
            </a:pPr>
            <a:endParaRPr lang="en-US" dirty="0"/>
          </a:p>
        </p:txBody>
      </p:sp>
    </p:spTree>
    <p:extLst>
      <p:ext uri="{BB962C8B-B14F-4D97-AF65-F5344CB8AC3E}">
        <p14:creationId xmlns:p14="http://schemas.microsoft.com/office/powerpoint/2010/main" val="95316539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C554-45D3-4A61-86B8-CC791E5B4087}"/>
              </a:ext>
            </a:extLst>
          </p:cNvPr>
          <p:cNvSpPr>
            <a:spLocks noGrp="1"/>
          </p:cNvSpPr>
          <p:nvPr>
            <p:ph type="title"/>
          </p:nvPr>
        </p:nvSpPr>
        <p:spPr/>
        <p:txBody>
          <a:bodyPr/>
          <a:lstStyle/>
          <a:p>
            <a:r>
              <a:rPr lang="en-US" dirty="0"/>
              <a:t>Why is it hard to know when we don’t know?</a:t>
            </a:r>
          </a:p>
        </p:txBody>
      </p:sp>
      <p:sp>
        <p:nvSpPr>
          <p:cNvPr id="3" name="Content Placeholder 2">
            <a:extLst>
              <a:ext uri="{FF2B5EF4-FFF2-40B4-BE49-F238E27FC236}">
                <a16:creationId xmlns:a16="http://schemas.microsoft.com/office/drawing/2014/main" id="{7EBE8F51-D7A3-449F-909C-C1DA3D1240F2}"/>
              </a:ext>
            </a:extLst>
          </p:cNvPr>
          <p:cNvSpPr>
            <a:spLocks noGrp="1"/>
          </p:cNvSpPr>
          <p:nvPr>
            <p:ph idx="1"/>
          </p:nvPr>
        </p:nvSpPr>
        <p:spPr>
          <a:xfrm>
            <a:off x="838200" y="1825625"/>
            <a:ext cx="10515600" cy="4351338"/>
          </a:xfrm>
        </p:spPr>
        <p:txBody>
          <a:bodyPr>
            <a:normAutofit fontScale="92500" lnSpcReduction="20000"/>
          </a:bodyPr>
          <a:lstStyle/>
          <a:p>
            <a:pPr marL="0" indent="0">
              <a:buNone/>
            </a:pPr>
            <a:r>
              <a:rPr lang="en-US" b="1" dirty="0"/>
              <a:t>2. GDP of Mongolia, in USD</a:t>
            </a:r>
            <a:endParaRPr lang="en-US" dirty="0"/>
          </a:p>
          <a:p>
            <a:pPr marL="0" indent="0">
              <a:buNone/>
            </a:pPr>
            <a:r>
              <a:rPr lang="en-US" dirty="0"/>
              <a:t>90% confidence interval: [ _________ , _________ ]</a:t>
            </a:r>
          </a:p>
          <a:p>
            <a:pPr marL="0" indent="0">
              <a:buNone/>
            </a:pPr>
            <a:r>
              <a:rPr lang="en-US" b="1" dirty="0"/>
              <a:t>3. Height of tallest man in recorded history, in inches</a:t>
            </a:r>
            <a:endParaRPr lang="en-US" dirty="0"/>
          </a:p>
          <a:p>
            <a:pPr marL="0" indent="0">
              <a:buNone/>
            </a:pPr>
            <a:r>
              <a:rPr lang="en-US" dirty="0"/>
              <a:t>90% confidence interval: [ _________ , _________ ]</a:t>
            </a:r>
          </a:p>
          <a:p>
            <a:pPr marL="0" indent="0">
              <a:buNone/>
            </a:pPr>
            <a:r>
              <a:rPr lang="en-US" b="1" dirty="0"/>
              <a:t>4. Depth of deepest part of Pacific Ocean, in meters</a:t>
            </a:r>
            <a:endParaRPr lang="en-US" dirty="0"/>
          </a:p>
          <a:p>
            <a:pPr marL="0" indent="0">
              <a:buNone/>
            </a:pPr>
            <a:r>
              <a:rPr lang="en-US" dirty="0"/>
              <a:t>90% confidence interval: [ _________ , _________ ]</a:t>
            </a:r>
          </a:p>
          <a:p>
            <a:pPr marL="0" indent="0">
              <a:buNone/>
            </a:pPr>
            <a:r>
              <a:rPr lang="en-US" b="1" dirty="0"/>
              <a:t>5. Average distance from earth to moon, in miles</a:t>
            </a:r>
            <a:endParaRPr lang="en-US" dirty="0"/>
          </a:p>
          <a:p>
            <a:pPr marL="0" indent="0">
              <a:buNone/>
            </a:pPr>
            <a:r>
              <a:rPr lang="en-US" dirty="0"/>
              <a:t>90% confidence interval: [ _________ , _________ ]</a:t>
            </a:r>
          </a:p>
          <a:p>
            <a:pPr marL="0" indent="0">
              <a:buNone/>
            </a:pPr>
            <a:r>
              <a:rPr lang="en-US" b="1" dirty="0"/>
              <a:t>6. Population of Russia in 2019</a:t>
            </a:r>
            <a:endParaRPr lang="en-US" dirty="0"/>
          </a:p>
          <a:p>
            <a:pPr marL="0" indent="0">
              <a:buNone/>
            </a:pPr>
            <a:r>
              <a:rPr lang="en-US" dirty="0"/>
              <a:t>90% confidence interval: [ _________ , _________ ]</a:t>
            </a:r>
          </a:p>
        </p:txBody>
      </p:sp>
      <p:sp>
        <p:nvSpPr>
          <p:cNvPr id="4" name="TextBox 3">
            <a:extLst>
              <a:ext uri="{FF2B5EF4-FFF2-40B4-BE49-F238E27FC236}">
                <a16:creationId xmlns:a16="http://schemas.microsoft.com/office/drawing/2014/main" id="{584C6850-7BFC-2116-8231-0FC4DB6E108D}"/>
              </a:ext>
            </a:extLst>
          </p:cNvPr>
          <p:cNvSpPr txBox="1"/>
          <p:nvPr/>
        </p:nvSpPr>
        <p:spPr>
          <a:xfrm>
            <a:off x="3363685" y="1388825"/>
            <a:ext cx="5882251" cy="400110"/>
          </a:xfrm>
          <a:prstGeom prst="rect">
            <a:avLst/>
          </a:prstGeom>
          <a:noFill/>
        </p:spPr>
        <p:txBody>
          <a:bodyPr wrap="none" rtlCol="0">
            <a:spAutoFit/>
          </a:bodyPr>
          <a:lstStyle/>
          <a:p>
            <a:r>
              <a:rPr lang="en-US" sz="2000" b="1" dirty="0"/>
              <a:t>Write the question number and your interval for each</a:t>
            </a:r>
          </a:p>
        </p:txBody>
      </p:sp>
    </p:spTree>
    <p:extLst>
      <p:ext uri="{BB962C8B-B14F-4D97-AF65-F5344CB8AC3E}">
        <p14:creationId xmlns:p14="http://schemas.microsoft.com/office/powerpoint/2010/main" val="3226992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C554-45D3-4A61-86B8-CC791E5B4087}"/>
              </a:ext>
            </a:extLst>
          </p:cNvPr>
          <p:cNvSpPr>
            <a:spLocks noGrp="1"/>
          </p:cNvSpPr>
          <p:nvPr>
            <p:ph type="title"/>
          </p:nvPr>
        </p:nvSpPr>
        <p:spPr/>
        <p:txBody>
          <a:bodyPr/>
          <a:lstStyle/>
          <a:p>
            <a:r>
              <a:rPr lang="en-US" dirty="0"/>
              <a:t>Why is it hard to know when we don’t know?</a:t>
            </a:r>
          </a:p>
        </p:txBody>
      </p:sp>
      <p:sp>
        <p:nvSpPr>
          <p:cNvPr id="3" name="Content Placeholder 2">
            <a:extLst>
              <a:ext uri="{FF2B5EF4-FFF2-40B4-BE49-F238E27FC236}">
                <a16:creationId xmlns:a16="http://schemas.microsoft.com/office/drawing/2014/main" id="{7EBE8F51-D7A3-449F-909C-C1DA3D1240F2}"/>
              </a:ext>
            </a:extLst>
          </p:cNvPr>
          <p:cNvSpPr>
            <a:spLocks noGrp="1"/>
          </p:cNvSpPr>
          <p:nvPr>
            <p:ph idx="1"/>
          </p:nvPr>
        </p:nvSpPr>
        <p:spPr>
          <a:xfrm>
            <a:off x="838200" y="1825625"/>
            <a:ext cx="10515600" cy="4351338"/>
          </a:xfrm>
        </p:spPr>
        <p:txBody>
          <a:bodyPr>
            <a:normAutofit fontScale="85000" lnSpcReduction="20000"/>
          </a:bodyPr>
          <a:lstStyle/>
          <a:p>
            <a:pPr marL="0" indent="0">
              <a:buNone/>
            </a:pPr>
            <a:r>
              <a:rPr lang="en-US" b="1" dirty="0"/>
              <a:t>7. Maximum number of passengers carried on Emirates A380 aircraft (two-class layout)</a:t>
            </a:r>
            <a:endParaRPr lang="en-US" dirty="0"/>
          </a:p>
          <a:p>
            <a:r>
              <a:rPr lang="en-US" dirty="0"/>
              <a:t>90% confidence interval: [ _________ , _________ ]</a:t>
            </a:r>
          </a:p>
          <a:p>
            <a:pPr marL="0" indent="0">
              <a:buNone/>
            </a:pPr>
            <a:r>
              <a:rPr lang="en-US" b="1" dirty="0"/>
              <a:t>8. Number of passengers who died on the Titanic</a:t>
            </a:r>
            <a:endParaRPr lang="en-US" dirty="0"/>
          </a:p>
          <a:p>
            <a:r>
              <a:rPr lang="en-US" dirty="0"/>
              <a:t>90% confidence interval: [ _________ , _________ ]</a:t>
            </a:r>
          </a:p>
          <a:p>
            <a:pPr marL="0" indent="0">
              <a:buNone/>
            </a:pPr>
            <a:r>
              <a:rPr lang="en-US" b="1" dirty="0"/>
              <a:t>9. Market capitalization of Apple on the day Steve Jobs died, in USD</a:t>
            </a:r>
            <a:endParaRPr lang="en-US" dirty="0"/>
          </a:p>
          <a:p>
            <a:r>
              <a:rPr lang="en-US" dirty="0"/>
              <a:t>90% confidence interval: [ _________ , _________ ]</a:t>
            </a:r>
          </a:p>
          <a:p>
            <a:pPr marL="0" indent="0">
              <a:buNone/>
            </a:pPr>
            <a:r>
              <a:rPr lang="en-US" b="1" dirty="0"/>
              <a:t>10. Fastest lap time in an F1 car around the Monaco circuit, in </a:t>
            </a:r>
            <a:r>
              <a:rPr lang="en-US" b="1" dirty="0" err="1"/>
              <a:t>min:sec</a:t>
            </a:r>
            <a:endParaRPr lang="en-US" dirty="0"/>
          </a:p>
          <a:p>
            <a:r>
              <a:rPr lang="en-US" dirty="0"/>
              <a:t>90% confidence interval: [ _________ , _________ ]</a:t>
            </a:r>
          </a:p>
          <a:p>
            <a:pPr marL="0" indent="0">
              <a:buNone/>
            </a:pPr>
            <a:r>
              <a:rPr lang="en-US" b="1" dirty="0"/>
              <a:t>11. Number of regular season goals scored by Wayne Gretzky in his NHL career</a:t>
            </a:r>
            <a:endParaRPr lang="en-US" dirty="0"/>
          </a:p>
          <a:p>
            <a:r>
              <a:rPr lang="en-US" dirty="0"/>
              <a:t>90% confidence interval: [ _________ , _________ ]</a:t>
            </a:r>
          </a:p>
        </p:txBody>
      </p:sp>
    </p:spTree>
    <p:extLst>
      <p:ext uri="{BB962C8B-B14F-4D97-AF65-F5344CB8AC3E}">
        <p14:creationId xmlns:p14="http://schemas.microsoft.com/office/powerpoint/2010/main" val="1908797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C554-45D3-4A61-86B8-CC791E5B4087}"/>
              </a:ext>
            </a:extLst>
          </p:cNvPr>
          <p:cNvSpPr>
            <a:spLocks noGrp="1"/>
          </p:cNvSpPr>
          <p:nvPr>
            <p:ph type="title"/>
          </p:nvPr>
        </p:nvSpPr>
        <p:spPr/>
        <p:txBody>
          <a:bodyPr/>
          <a:lstStyle/>
          <a:p>
            <a:r>
              <a:rPr lang="en-US" dirty="0"/>
              <a:t>Why is it hard to know when we don’t know?</a:t>
            </a:r>
          </a:p>
        </p:txBody>
      </p:sp>
      <p:sp>
        <p:nvSpPr>
          <p:cNvPr id="3" name="Content Placeholder 2">
            <a:extLst>
              <a:ext uri="{FF2B5EF4-FFF2-40B4-BE49-F238E27FC236}">
                <a16:creationId xmlns:a16="http://schemas.microsoft.com/office/drawing/2014/main" id="{7EBE8F51-D7A3-449F-909C-C1DA3D1240F2}"/>
              </a:ext>
            </a:extLst>
          </p:cNvPr>
          <p:cNvSpPr>
            <a:spLocks noGrp="1"/>
          </p:cNvSpPr>
          <p:nvPr>
            <p:ph idx="1"/>
          </p:nvPr>
        </p:nvSpPr>
        <p:spPr>
          <a:xfrm>
            <a:off x="838200" y="1825625"/>
            <a:ext cx="10515600" cy="4351338"/>
          </a:xfrm>
        </p:spPr>
        <p:txBody>
          <a:bodyPr>
            <a:normAutofit fontScale="85000" lnSpcReduction="20000"/>
          </a:bodyPr>
          <a:lstStyle/>
          <a:p>
            <a:pPr marL="0" indent="0">
              <a:buNone/>
            </a:pPr>
            <a:r>
              <a:rPr lang="en-US" b="1" dirty="0"/>
              <a:t>12. NASAs budget for the year 2019, in USD</a:t>
            </a:r>
            <a:endParaRPr lang="en-US" dirty="0"/>
          </a:p>
          <a:p>
            <a:r>
              <a:rPr lang="en-US" dirty="0"/>
              <a:t>90% confidence interval: [ _________ , _________ ]</a:t>
            </a:r>
          </a:p>
          <a:p>
            <a:pPr marL="0" indent="0">
              <a:buNone/>
            </a:pPr>
            <a:r>
              <a:rPr lang="en-US" b="1" dirty="0"/>
              <a:t>13. Number of Big Macs sold globally in a year (on average) by McDonalds</a:t>
            </a:r>
            <a:endParaRPr lang="en-US" dirty="0"/>
          </a:p>
          <a:p>
            <a:r>
              <a:rPr lang="en-US" dirty="0"/>
              <a:t>90% confidence interval: [ _________ , _________ ]</a:t>
            </a:r>
          </a:p>
          <a:p>
            <a:pPr marL="0" indent="0">
              <a:buNone/>
            </a:pPr>
            <a:r>
              <a:rPr lang="en-US" b="1" dirty="0"/>
              <a:t>14. Number of students from China attending U.S. colleges in the 2018-2019 academic year</a:t>
            </a:r>
            <a:endParaRPr lang="en-US" dirty="0"/>
          </a:p>
          <a:p>
            <a:r>
              <a:rPr lang="en-US" dirty="0"/>
              <a:t>90% confidence interval: [ _________ , _________ ]</a:t>
            </a:r>
          </a:p>
          <a:p>
            <a:pPr marL="0" indent="0">
              <a:buNone/>
            </a:pPr>
            <a:r>
              <a:rPr lang="en-US" b="1" dirty="0"/>
              <a:t>15. Total number of passengers flying domestically on U.S. airlines in 2019</a:t>
            </a:r>
            <a:endParaRPr lang="en-US" dirty="0"/>
          </a:p>
          <a:p>
            <a:r>
              <a:rPr lang="en-US" dirty="0"/>
              <a:t>90% confidence interval: [ _________ , _________ ]</a:t>
            </a:r>
          </a:p>
          <a:p>
            <a:pPr marL="0" indent="0">
              <a:buNone/>
            </a:pPr>
            <a:r>
              <a:rPr lang="en-US" b="1" dirty="0"/>
              <a:t>16. Amount of coal produced by U.S. mines in 2019, in pounds</a:t>
            </a:r>
            <a:endParaRPr lang="en-US" dirty="0"/>
          </a:p>
          <a:p>
            <a:r>
              <a:rPr lang="en-US" dirty="0"/>
              <a:t>90% confidence interval: [ _________ , _________ ]</a:t>
            </a:r>
          </a:p>
        </p:txBody>
      </p:sp>
    </p:spTree>
    <p:extLst>
      <p:ext uri="{BB962C8B-B14F-4D97-AF65-F5344CB8AC3E}">
        <p14:creationId xmlns:p14="http://schemas.microsoft.com/office/powerpoint/2010/main" val="3328549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C554-45D3-4A61-86B8-CC791E5B4087}"/>
              </a:ext>
            </a:extLst>
          </p:cNvPr>
          <p:cNvSpPr>
            <a:spLocks noGrp="1"/>
          </p:cNvSpPr>
          <p:nvPr>
            <p:ph type="title"/>
          </p:nvPr>
        </p:nvSpPr>
        <p:spPr/>
        <p:txBody>
          <a:bodyPr/>
          <a:lstStyle/>
          <a:p>
            <a:r>
              <a:rPr lang="en-US" dirty="0"/>
              <a:t>Why is it hard to know when we don’t know?</a:t>
            </a:r>
          </a:p>
        </p:txBody>
      </p:sp>
      <p:sp>
        <p:nvSpPr>
          <p:cNvPr id="3" name="Content Placeholder 2">
            <a:extLst>
              <a:ext uri="{FF2B5EF4-FFF2-40B4-BE49-F238E27FC236}">
                <a16:creationId xmlns:a16="http://schemas.microsoft.com/office/drawing/2014/main" id="{7EBE8F51-D7A3-449F-909C-C1DA3D1240F2}"/>
              </a:ext>
            </a:extLst>
          </p:cNvPr>
          <p:cNvSpPr>
            <a:spLocks noGrp="1"/>
          </p:cNvSpPr>
          <p:nvPr>
            <p:ph idx="1"/>
          </p:nvPr>
        </p:nvSpPr>
        <p:spPr>
          <a:xfrm>
            <a:off x="838200" y="1825625"/>
            <a:ext cx="10515600" cy="4351338"/>
          </a:xfrm>
        </p:spPr>
        <p:txBody>
          <a:bodyPr>
            <a:normAutofit fontScale="92500"/>
          </a:bodyPr>
          <a:lstStyle/>
          <a:p>
            <a:pPr marL="0" indent="0">
              <a:buNone/>
            </a:pPr>
            <a:r>
              <a:rPr lang="en-US" b="1" dirty="0"/>
              <a:t>17. Breeds eligible to compete at the 144</a:t>
            </a:r>
            <a:r>
              <a:rPr lang="en-US" b="1" baseline="30000" dirty="0"/>
              <a:t>th</a:t>
            </a:r>
            <a:r>
              <a:rPr lang="en-US" b="1" dirty="0"/>
              <a:t> Westminster Kennel Dog Show</a:t>
            </a:r>
            <a:endParaRPr lang="en-US" dirty="0"/>
          </a:p>
          <a:p>
            <a:r>
              <a:rPr lang="en-US" dirty="0"/>
              <a:t>90% confidence interval: [ _________ , _________ ]</a:t>
            </a:r>
          </a:p>
          <a:p>
            <a:pPr marL="0" indent="0">
              <a:buNone/>
            </a:pPr>
            <a:r>
              <a:rPr lang="en-US" b="1" dirty="0"/>
              <a:t>18. Number of total worldwide searches processed by Google each day</a:t>
            </a:r>
            <a:endParaRPr lang="en-US" dirty="0"/>
          </a:p>
          <a:p>
            <a:r>
              <a:rPr lang="en-US" dirty="0"/>
              <a:t>90% confidence interval: [ _________ , _________ ]</a:t>
            </a:r>
          </a:p>
          <a:p>
            <a:pPr marL="0" indent="0">
              <a:buNone/>
            </a:pPr>
            <a:r>
              <a:rPr lang="en-US" b="1" dirty="0"/>
              <a:t>19. Full weight (including planes, ammunition, people) of a Nimitz-class aircraft carrier, in pounds</a:t>
            </a:r>
            <a:endParaRPr lang="en-US" dirty="0"/>
          </a:p>
          <a:p>
            <a:r>
              <a:rPr lang="en-US" dirty="0"/>
              <a:t>90% confidence interval: [ _________ , _________ ]</a:t>
            </a:r>
          </a:p>
          <a:p>
            <a:pPr marL="0" indent="0">
              <a:buNone/>
            </a:pPr>
            <a:r>
              <a:rPr lang="en-US" b="1" dirty="0"/>
              <a:t>20. Number of times that the name “Jesus” appears in the King James bible</a:t>
            </a:r>
            <a:endParaRPr lang="en-US" dirty="0"/>
          </a:p>
          <a:p>
            <a:r>
              <a:rPr lang="en-US" dirty="0"/>
              <a:t>90% confidence interval: [ _________ , _________ ]</a:t>
            </a:r>
          </a:p>
        </p:txBody>
      </p:sp>
    </p:spTree>
    <p:extLst>
      <p:ext uri="{BB962C8B-B14F-4D97-AF65-F5344CB8AC3E}">
        <p14:creationId xmlns:p14="http://schemas.microsoft.com/office/powerpoint/2010/main" val="1702526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C554-45D3-4A61-86B8-CC791E5B4087}"/>
              </a:ext>
            </a:extLst>
          </p:cNvPr>
          <p:cNvSpPr>
            <a:spLocks noGrp="1"/>
          </p:cNvSpPr>
          <p:nvPr>
            <p:ph type="title"/>
          </p:nvPr>
        </p:nvSpPr>
        <p:spPr/>
        <p:txBody>
          <a:bodyPr/>
          <a:lstStyle/>
          <a:p>
            <a:r>
              <a:rPr lang="en-US" dirty="0"/>
              <a:t>Why is it hard to know when we don’t know?</a:t>
            </a:r>
          </a:p>
        </p:txBody>
      </p:sp>
      <p:sp>
        <p:nvSpPr>
          <p:cNvPr id="3" name="Content Placeholder 2">
            <a:extLst>
              <a:ext uri="{FF2B5EF4-FFF2-40B4-BE49-F238E27FC236}">
                <a16:creationId xmlns:a16="http://schemas.microsoft.com/office/drawing/2014/main" id="{7EBE8F51-D7A3-449F-909C-C1DA3D1240F2}"/>
              </a:ext>
            </a:extLst>
          </p:cNvPr>
          <p:cNvSpPr>
            <a:spLocks noGrp="1"/>
          </p:cNvSpPr>
          <p:nvPr>
            <p:ph idx="1"/>
          </p:nvPr>
        </p:nvSpPr>
        <p:spPr>
          <a:xfrm>
            <a:off x="838198" y="1825625"/>
            <a:ext cx="3328449" cy="4351338"/>
          </a:xfrm>
        </p:spPr>
        <p:txBody>
          <a:bodyPr>
            <a:normAutofit fontScale="85000" lnSpcReduction="20000"/>
          </a:bodyPr>
          <a:lstStyle/>
          <a:p>
            <a:pPr marL="0" indent="0">
              <a:buNone/>
            </a:pPr>
            <a:r>
              <a:rPr lang="en-US" dirty="0"/>
              <a:t>Answers:</a:t>
            </a:r>
          </a:p>
          <a:p>
            <a:pPr marL="0" indent="0">
              <a:buNone/>
            </a:pPr>
            <a:r>
              <a:rPr lang="en-US" dirty="0"/>
              <a:t>A1: 4.2441 </a:t>
            </a:r>
          </a:p>
          <a:p>
            <a:pPr marL="0" indent="0">
              <a:buNone/>
            </a:pPr>
            <a:r>
              <a:rPr lang="en-US" dirty="0"/>
              <a:t>A2: $13,637,000,000 </a:t>
            </a:r>
          </a:p>
          <a:p>
            <a:pPr marL="0" indent="0">
              <a:buNone/>
            </a:pPr>
            <a:r>
              <a:rPr lang="en-US" dirty="0"/>
              <a:t>A3: 107 inches </a:t>
            </a:r>
          </a:p>
          <a:p>
            <a:pPr marL="0" indent="0">
              <a:buNone/>
            </a:pPr>
            <a:r>
              <a:rPr lang="en-US" dirty="0"/>
              <a:t>A4: 10,984 meters </a:t>
            </a:r>
          </a:p>
          <a:p>
            <a:pPr marL="0" indent="0">
              <a:buNone/>
            </a:pPr>
            <a:r>
              <a:rPr lang="en-US" dirty="0"/>
              <a:t>A5: 237,674.5 miles away </a:t>
            </a:r>
          </a:p>
          <a:p>
            <a:pPr marL="0" indent="0">
              <a:buNone/>
            </a:pPr>
            <a:r>
              <a:rPr lang="en-US" dirty="0"/>
              <a:t>A6: 145,872,256 people </a:t>
            </a:r>
          </a:p>
          <a:p>
            <a:pPr marL="0" indent="0">
              <a:buNone/>
            </a:pPr>
            <a:r>
              <a:rPr lang="en-US" dirty="0"/>
              <a:t>A7: 615 seats </a:t>
            </a:r>
          </a:p>
          <a:p>
            <a:pPr marL="0" indent="0">
              <a:buNone/>
            </a:pPr>
            <a:r>
              <a:rPr lang="en-US" dirty="0"/>
              <a:t>A8: 1,517 people </a:t>
            </a:r>
          </a:p>
          <a:p>
            <a:pPr marL="0" indent="0">
              <a:buNone/>
            </a:pPr>
            <a:r>
              <a:rPr lang="en-US" dirty="0"/>
              <a:t>A9: $351.5 billion </a:t>
            </a:r>
          </a:p>
          <a:p>
            <a:pPr marL="0" indent="0">
              <a:buNone/>
            </a:pPr>
            <a:r>
              <a:rPr lang="en-US" dirty="0"/>
              <a:t>A10: 1:14.260 </a:t>
            </a:r>
            <a:r>
              <a:rPr lang="en-US" dirty="0" err="1"/>
              <a:t>min:sec</a:t>
            </a:r>
            <a:r>
              <a:rPr lang="en-US" dirty="0"/>
              <a:t> </a:t>
            </a:r>
          </a:p>
        </p:txBody>
      </p:sp>
      <p:sp>
        <p:nvSpPr>
          <p:cNvPr id="4" name="Content Placeholder 2">
            <a:extLst>
              <a:ext uri="{FF2B5EF4-FFF2-40B4-BE49-F238E27FC236}">
                <a16:creationId xmlns:a16="http://schemas.microsoft.com/office/drawing/2014/main" id="{A04A1991-6E34-426B-B6E8-0A7EBED5595F}"/>
              </a:ext>
            </a:extLst>
          </p:cNvPr>
          <p:cNvSpPr txBox="1">
            <a:spLocks/>
          </p:cNvSpPr>
          <p:nvPr/>
        </p:nvSpPr>
        <p:spPr>
          <a:xfrm>
            <a:off x="4835950" y="1825625"/>
            <a:ext cx="5354425" cy="435133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t>A11: 894 goals </a:t>
            </a:r>
          </a:p>
          <a:p>
            <a:pPr marL="0" indent="0">
              <a:buNone/>
            </a:pPr>
            <a:r>
              <a:rPr lang="en-US" sz="2400" dirty="0"/>
              <a:t>A12: $19,653,000,000 </a:t>
            </a:r>
          </a:p>
          <a:p>
            <a:pPr marL="0" indent="0">
              <a:buNone/>
            </a:pPr>
            <a:r>
              <a:rPr lang="en-US" sz="2400" dirty="0"/>
              <a:t>A13: 550,000,000 Big Macs </a:t>
            </a:r>
          </a:p>
          <a:p>
            <a:pPr marL="0" indent="0">
              <a:buNone/>
            </a:pPr>
            <a:r>
              <a:rPr lang="en-US" sz="2400" dirty="0"/>
              <a:t>A14: 369,548 students</a:t>
            </a:r>
          </a:p>
          <a:p>
            <a:pPr marL="0" indent="0">
              <a:buFont typeface="Arial" panose="020B0604020202020204" pitchFamily="34" charset="0"/>
              <a:buNone/>
            </a:pPr>
            <a:r>
              <a:rPr lang="en-US" sz="2400" dirty="0"/>
              <a:t>A15: 811,400,000 passengers </a:t>
            </a:r>
          </a:p>
          <a:p>
            <a:pPr marL="0" indent="0">
              <a:buFont typeface="Arial" panose="020B0604020202020204" pitchFamily="34" charset="0"/>
              <a:buNone/>
            </a:pPr>
            <a:r>
              <a:rPr lang="en-US" sz="2400" dirty="0"/>
              <a:t>A16: 1,410,518,000,000 pounds </a:t>
            </a:r>
          </a:p>
          <a:p>
            <a:pPr marL="0" indent="0">
              <a:buFont typeface="Arial" panose="020B0604020202020204" pitchFamily="34" charset="0"/>
              <a:buNone/>
            </a:pPr>
            <a:r>
              <a:rPr lang="en-US" sz="2400" dirty="0"/>
              <a:t>A17: 205 breeds and varieties </a:t>
            </a:r>
          </a:p>
          <a:p>
            <a:pPr marL="0" indent="0">
              <a:buFont typeface="Arial" panose="020B0604020202020204" pitchFamily="34" charset="0"/>
              <a:buNone/>
            </a:pPr>
            <a:r>
              <a:rPr lang="en-US" sz="2400" dirty="0"/>
              <a:t>A18: 3,500,000,000 searches per day </a:t>
            </a:r>
          </a:p>
          <a:p>
            <a:pPr marL="0" indent="0">
              <a:buFont typeface="Arial" panose="020B0604020202020204" pitchFamily="34" charset="0"/>
              <a:buNone/>
            </a:pPr>
            <a:r>
              <a:rPr lang="en-US" sz="2400" dirty="0"/>
              <a:t>A19: 226,679,700 pounds </a:t>
            </a:r>
          </a:p>
          <a:p>
            <a:pPr marL="0" indent="0">
              <a:buFont typeface="Arial" panose="020B0604020202020204" pitchFamily="34" charset="0"/>
              <a:buNone/>
            </a:pPr>
            <a:r>
              <a:rPr lang="en-US" sz="2400" dirty="0"/>
              <a:t>A20: 942 times</a:t>
            </a:r>
          </a:p>
        </p:txBody>
      </p:sp>
    </p:spTree>
    <p:extLst>
      <p:ext uri="{BB962C8B-B14F-4D97-AF65-F5344CB8AC3E}">
        <p14:creationId xmlns:p14="http://schemas.microsoft.com/office/powerpoint/2010/main" val="94083667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C554-45D3-4A61-86B8-CC791E5B4087}"/>
              </a:ext>
            </a:extLst>
          </p:cNvPr>
          <p:cNvSpPr>
            <a:spLocks noGrp="1"/>
          </p:cNvSpPr>
          <p:nvPr>
            <p:ph type="title"/>
          </p:nvPr>
        </p:nvSpPr>
        <p:spPr/>
        <p:txBody>
          <a:bodyPr/>
          <a:lstStyle/>
          <a:p>
            <a:r>
              <a:rPr lang="en-US" dirty="0"/>
              <a:t>Why is it hard to know when we don’t know?</a:t>
            </a:r>
          </a:p>
        </p:txBody>
      </p:sp>
      <p:sp>
        <p:nvSpPr>
          <p:cNvPr id="3" name="Content Placeholder 2">
            <a:extLst>
              <a:ext uri="{FF2B5EF4-FFF2-40B4-BE49-F238E27FC236}">
                <a16:creationId xmlns:a16="http://schemas.microsoft.com/office/drawing/2014/main" id="{7EBE8F51-D7A3-449F-909C-C1DA3D1240F2}"/>
              </a:ext>
            </a:extLst>
          </p:cNvPr>
          <p:cNvSpPr>
            <a:spLocks noGrp="1"/>
          </p:cNvSpPr>
          <p:nvPr>
            <p:ph idx="1"/>
          </p:nvPr>
        </p:nvSpPr>
        <p:spPr>
          <a:xfrm>
            <a:off x="838198" y="1825625"/>
            <a:ext cx="3328449" cy="3236569"/>
          </a:xfrm>
        </p:spPr>
        <p:txBody>
          <a:bodyPr>
            <a:normAutofit fontScale="55000" lnSpcReduction="20000"/>
          </a:bodyPr>
          <a:lstStyle/>
          <a:p>
            <a:pPr marL="0" indent="0">
              <a:buNone/>
            </a:pPr>
            <a:r>
              <a:rPr lang="en-US" dirty="0"/>
              <a:t>Answers:</a:t>
            </a:r>
          </a:p>
          <a:p>
            <a:pPr marL="0" indent="0">
              <a:buNone/>
            </a:pPr>
            <a:r>
              <a:rPr lang="en-US" dirty="0"/>
              <a:t>A1: 4.2441 </a:t>
            </a:r>
          </a:p>
          <a:p>
            <a:pPr marL="0" indent="0">
              <a:buNone/>
            </a:pPr>
            <a:r>
              <a:rPr lang="en-US" dirty="0"/>
              <a:t>A2: $13,637,000,000 </a:t>
            </a:r>
          </a:p>
          <a:p>
            <a:pPr marL="0" indent="0">
              <a:buNone/>
            </a:pPr>
            <a:r>
              <a:rPr lang="en-US" dirty="0"/>
              <a:t>A3: 107 inches </a:t>
            </a:r>
          </a:p>
          <a:p>
            <a:pPr marL="0" indent="0">
              <a:buNone/>
            </a:pPr>
            <a:r>
              <a:rPr lang="en-US" dirty="0"/>
              <a:t>A4: 10,984 meters </a:t>
            </a:r>
          </a:p>
          <a:p>
            <a:pPr marL="0" indent="0">
              <a:buNone/>
            </a:pPr>
            <a:r>
              <a:rPr lang="en-US" dirty="0"/>
              <a:t>A5: 237,674.5 miles away </a:t>
            </a:r>
          </a:p>
          <a:p>
            <a:pPr marL="0" indent="0">
              <a:buNone/>
            </a:pPr>
            <a:r>
              <a:rPr lang="en-US" dirty="0"/>
              <a:t>A6: 145,872,256 people </a:t>
            </a:r>
          </a:p>
          <a:p>
            <a:pPr marL="0" indent="0">
              <a:buNone/>
            </a:pPr>
            <a:r>
              <a:rPr lang="en-US" dirty="0"/>
              <a:t>A7: 615 seats </a:t>
            </a:r>
          </a:p>
          <a:p>
            <a:pPr marL="0" indent="0">
              <a:buNone/>
            </a:pPr>
            <a:r>
              <a:rPr lang="en-US" dirty="0"/>
              <a:t>A8: 1,517 people </a:t>
            </a:r>
          </a:p>
          <a:p>
            <a:pPr marL="0" indent="0">
              <a:buNone/>
            </a:pPr>
            <a:r>
              <a:rPr lang="en-US" dirty="0"/>
              <a:t>A9: $351.5 billion </a:t>
            </a:r>
          </a:p>
          <a:p>
            <a:pPr marL="0" indent="0">
              <a:buNone/>
            </a:pPr>
            <a:r>
              <a:rPr lang="en-US" dirty="0"/>
              <a:t>A10: 1:14.260 </a:t>
            </a:r>
            <a:r>
              <a:rPr lang="en-US" dirty="0" err="1"/>
              <a:t>min:sec</a:t>
            </a:r>
            <a:r>
              <a:rPr lang="en-US" dirty="0"/>
              <a:t> </a:t>
            </a:r>
          </a:p>
        </p:txBody>
      </p:sp>
      <p:sp>
        <p:nvSpPr>
          <p:cNvPr id="4" name="Content Placeholder 2">
            <a:extLst>
              <a:ext uri="{FF2B5EF4-FFF2-40B4-BE49-F238E27FC236}">
                <a16:creationId xmlns:a16="http://schemas.microsoft.com/office/drawing/2014/main" id="{A04A1991-6E34-426B-B6E8-0A7EBED5595F}"/>
              </a:ext>
            </a:extLst>
          </p:cNvPr>
          <p:cNvSpPr txBox="1">
            <a:spLocks/>
          </p:cNvSpPr>
          <p:nvPr/>
        </p:nvSpPr>
        <p:spPr>
          <a:xfrm>
            <a:off x="4835950" y="1825625"/>
            <a:ext cx="5354425" cy="3236569"/>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t>A11: 894 goals </a:t>
            </a:r>
          </a:p>
          <a:p>
            <a:pPr marL="0" indent="0">
              <a:buNone/>
            </a:pPr>
            <a:r>
              <a:rPr lang="en-US" sz="2400" dirty="0"/>
              <a:t>A12: $19,653,000,000 </a:t>
            </a:r>
          </a:p>
          <a:p>
            <a:pPr marL="0" indent="0">
              <a:buNone/>
            </a:pPr>
            <a:r>
              <a:rPr lang="en-US" sz="2400" dirty="0"/>
              <a:t>A13: 550,000,000 Big Macs </a:t>
            </a:r>
          </a:p>
          <a:p>
            <a:pPr marL="0" indent="0">
              <a:buNone/>
            </a:pPr>
            <a:r>
              <a:rPr lang="en-US" sz="2400" dirty="0"/>
              <a:t>A14: 369,548 students</a:t>
            </a:r>
          </a:p>
          <a:p>
            <a:pPr marL="0" indent="0">
              <a:buFont typeface="Arial" panose="020B0604020202020204" pitchFamily="34" charset="0"/>
              <a:buNone/>
            </a:pPr>
            <a:r>
              <a:rPr lang="en-US" sz="2400" dirty="0"/>
              <a:t>A15: 811,400,000 passengers </a:t>
            </a:r>
          </a:p>
          <a:p>
            <a:pPr marL="0" indent="0">
              <a:buFont typeface="Arial" panose="020B0604020202020204" pitchFamily="34" charset="0"/>
              <a:buNone/>
            </a:pPr>
            <a:r>
              <a:rPr lang="en-US" sz="2400" dirty="0"/>
              <a:t>A16: 1,410,518,000,000 pounds </a:t>
            </a:r>
          </a:p>
          <a:p>
            <a:pPr marL="0" indent="0">
              <a:buFont typeface="Arial" panose="020B0604020202020204" pitchFamily="34" charset="0"/>
              <a:buNone/>
            </a:pPr>
            <a:r>
              <a:rPr lang="en-US" sz="2400" dirty="0"/>
              <a:t>A17: 205 breeds and varieties </a:t>
            </a:r>
          </a:p>
          <a:p>
            <a:pPr marL="0" indent="0">
              <a:buFont typeface="Arial" panose="020B0604020202020204" pitchFamily="34" charset="0"/>
              <a:buNone/>
            </a:pPr>
            <a:r>
              <a:rPr lang="en-US" sz="2400" dirty="0"/>
              <a:t>A18: 3,500,000,000 searches per day </a:t>
            </a:r>
          </a:p>
          <a:p>
            <a:pPr marL="0" indent="0">
              <a:buFont typeface="Arial" panose="020B0604020202020204" pitchFamily="34" charset="0"/>
              <a:buNone/>
            </a:pPr>
            <a:r>
              <a:rPr lang="en-US" sz="2400" dirty="0"/>
              <a:t>A19: 226,679,700 pounds </a:t>
            </a:r>
          </a:p>
          <a:p>
            <a:pPr marL="0" indent="0">
              <a:buFont typeface="Arial" panose="020B0604020202020204" pitchFamily="34" charset="0"/>
              <a:buNone/>
            </a:pPr>
            <a:r>
              <a:rPr lang="en-US" sz="2400" dirty="0"/>
              <a:t>A20: 942 times</a:t>
            </a:r>
          </a:p>
        </p:txBody>
      </p:sp>
      <p:sp>
        <p:nvSpPr>
          <p:cNvPr id="5" name="TextBox 4">
            <a:extLst>
              <a:ext uri="{FF2B5EF4-FFF2-40B4-BE49-F238E27FC236}">
                <a16:creationId xmlns:a16="http://schemas.microsoft.com/office/drawing/2014/main" id="{C8915F6E-3E42-48E7-BB54-9E953AB94CFD}"/>
              </a:ext>
            </a:extLst>
          </p:cNvPr>
          <p:cNvSpPr txBox="1"/>
          <p:nvPr/>
        </p:nvSpPr>
        <p:spPr>
          <a:xfrm>
            <a:off x="899078" y="5197131"/>
            <a:ext cx="5928546" cy="400110"/>
          </a:xfrm>
          <a:prstGeom prst="rect">
            <a:avLst/>
          </a:prstGeom>
          <a:noFill/>
        </p:spPr>
        <p:txBody>
          <a:bodyPr wrap="none" rtlCol="1">
            <a:spAutoFit/>
          </a:bodyPr>
          <a:lstStyle/>
          <a:p>
            <a:r>
              <a:rPr lang="en-US" sz="2000" dirty="0"/>
              <a:t>Count how many were within your confidence interval</a:t>
            </a:r>
            <a:endParaRPr lang="he-IL" sz="2000" dirty="0"/>
          </a:p>
        </p:txBody>
      </p:sp>
    </p:spTree>
    <p:extLst>
      <p:ext uri="{BB962C8B-B14F-4D97-AF65-F5344CB8AC3E}">
        <p14:creationId xmlns:p14="http://schemas.microsoft.com/office/powerpoint/2010/main" val="203039973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C554-45D3-4A61-86B8-CC791E5B4087}"/>
              </a:ext>
            </a:extLst>
          </p:cNvPr>
          <p:cNvSpPr>
            <a:spLocks noGrp="1"/>
          </p:cNvSpPr>
          <p:nvPr>
            <p:ph type="title"/>
          </p:nvPr>
        </p:nvSpPr>
        <p:spPr/>
        <p:txBody>
          <a:bodyPr/>
          <a:lstStyle/>
          <a:p>
            <a:r>
              <a:rPr lang="en-US" dirty="0"/>
              <a:t>Why is it hard to know when we don’t know?</a:t>
            </a:r>
          </a:p>
        </p:txBody>
      </p:sp>
      <p:sp>
        <p:nvSpPr>
          <p:cNvPr id="3" name="Content Placeholder 2">
            <a:extLst>
              <a:ext uri="{FF2B5EF4-FFF2-40B4-BE49-F238E27FC236}">
                <a16:creationId xmlns:a16="http://schemas.microsoft.com/office/drawing/2014/main" id="{7EBE8F51-D7A3-449F-909C-C1DA3D1240F2}"/>
              </a:ext>
            </a:extLst>
          </p:cNvPr>
          <p:cNvSpPr>
            <a:spLocks noGrp="1"/>
          </p:cNvSpPr>
          <p:nvPr>
            <p:ph idx="1"/>
          </p:nvPr>
        </p:nvSpPr>
        <p:spPr>
          <a:xfrm>
            <a:off x="838198" y="1825625"/>
            <a:ext cx="3328449" cy="3236569"/>
          </a:xfrm>
        </p:spPr>
        <p:txBody>
          <a:bodyPr>
            <a:normAutofit fontScale="55000" lnSpcReduction="20000"/>
          </a:bodyPr>
          <a:lstStyle/>
          <a:p>
            <a:pPr marL="0" indent="0">
              <a:buNone/>
            </a:pPr>
            <a:r>
              <a:rPr lang="en-US" dirty="0"/>
              <a:t>Answers:</a:t>
            </a:r>
          </a:p>
          <a:p>
            <a:pPr marL="0" indent="0">
              <a:buNone/>
            </a:pPr>
            <a:r>
              <a:rPr lang="en-US" dirty="0"/>
              <a:t>A1: 4.2441 </a:t>
            </a:r>
          </a:p>
          <a:p>
            <a:pPr marL="0" indent="0">
              <a:buNone/>
            </a:pPr>
            <a:r>
              <a:rPr lang="en-US" dirty="0"/>
              <a:t>A2: $13,637,000,000 </a:t>
            </a:r>
          </a:p>
          <a:p>
            <a:pPr marL="0" indent="0">
              <a:buNone/>
            </a:pPr>
            <a:r>
              <a:rPr lang="en-US" dirty="0"/>
              <a:t>A3: 107 inches </a:t>
            </a:r>
          </a:p>
          <a:p>
            <a:pPr marL="0" indent="0">
              <a:buNone/>
            </a:pPr>
            <a:r>
              <a:rPr lang="en-US" dirty="0"/>
              <a:t>A4: 10,984 meters </a:t>
            </a:r>
          </a:p>
          <a:p>
            <a:pPr marL="0" indent="0">
              <a:buNone/>
            </a:pPr>
            <a:r>
              <a:rPr lang="en-US" dirty="0"/>
              <a:t>A5: 237,674.5 miles away </a:t>
            </a:r>
          </a:p>
          <a:p>
            <a:pPr marL="0" indent="0">
              <a:buNone/>
            </a:pPr>
            <a:r>
              <a:rPr lang="en-US" dirty="0"/>
              <a:t>A6: 145,872,256 people </a:t>
            </a:r>
          </a:p>
          <a:p>
            <a:pPr marL="0" indent="0">
              <a:buNone/>
            </a:pPr>
            <a:r>
              <a:rPr lang="en-US" dirty="0"/>
              <a:t>A7: 615 seats </a:t>
            </a:r>
          </a:p>
          <a:p>
            <a:pPr marL="0" indent="0">
              <a:buNone/>
            </a:pPr>
            <a:r>
              <a:rPr lang="en-US" dirty="0"/>
              <a:t>A8: 1,517 people </a:t>
            </a:r>
          </a:p>
          <a:p>
            <a:pPr marL="0" indent="0">
              <a:buNone/>
            </a:pPr>
            <a:r>
              <a:rPr lang="en-US" dirty="0"/>
              <a:t>A9: $351.5 billion </a:t>
            </a:r>
          </a:p>
          <a:p>
            <a:pPr marL="0" indent="0">
              <a:buNone/>
            </a:pPr>
            <a:r>
              <a:rPr lang="en-US" dirty="0"/>
              <a:t>A10: 1:14.260 </a:t>
            </a:r>
            <a:r>
              <a:rPr lang="en-US" dirty="0" err="1"/>
              <a:t>min:sec</a:t>
            </a:r>
            <a:r>
              <a:rPr lang="en-US" dirty="0"/>
              <a:t> </a:t>
            </a:r>
          </a:p>
        </p:txBody>
      </p:sp>
      <p:sp>
        <p:nvSpPr>
          <p:cNvPr id="4" name="Content Placeholder 2">
            <a:extLst>
              <a:ext uri="{FF2B5EF4-FFF2-40B4-BE49-F238E27FC236}">
                <a16:creationId xmlns:a16="http://schemas.microsoft.com/office/drawing/2014/main" id="{A04A1991-6E34-426B-B6E8-0A7EBED5595F}"/>
              </a:ext>
            </a:extLst>
          </p:cNvPr>
          <p:cNvSpPr txBox="1">
            <a:spLocks/>
          </p:cNvSpPr>
          <p:nvPr/>
        </p:nvSpPr>
        <p:spPr>
          <a:xfrm>
            <a:off x="4835950" y="1825625"/>
            <a:ext cx="5354425" cy="3236569"/>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dirty="0"/>
              <a:t>A11: 894 goals </a:t>
            </a:r>
          </a:p>
          <a:p>
            <a:pPr marL="0" indent="0">
              <a:buNone/>
            </a:pPr>
            <a:r>
              <a:rPr lang="en-US" sz="2400" dirty="0"/>
              <a:t>A12: $19,653,000,000 </a:t>
            </a:r>
          </a:p>
          <a:p>
            <a:pPr marL="0" indent="0">
              <a:buNone/>
            </a:pPr>
            <a:r>
              <a:rPr lang="en-US" sz="2400" dirty="0"/>
              <a:t>A13: 550,000,000 Big Macs </a:t>
            </a:r>
          </a:p>
          <a:p>
            <a:pPr marL="0" indent="0">
              <a:buNone/>
            </a:pPr>
            <a:r>
              <a:rPr lang="en-US" sz="2400" dirty="0"/>
              <a:t>A14: 369,548 students</a:t>
            </a:r>
          </a:p>
          <a:p>
            <a:pPr marL="0" indent="0">
              <a:buFont typeface="Arial" panose="020B0604020202020204" pitchFamily="34" charset="0"/>
              <a:buNone/>
            </a:pPr>
            <a:r>
              <a:rPr lang="en-US" sz="2400" dirty="0"/>
              <a:t>A15: 811,400,000 passengers </a:t>
            </a:r>
          </a:p>
          <a:p>
            <a:pPr marL="0" indent="0">
              <a:buFont typeface="Arial" panose="020B0604020202020204" pitchFamily="34" charset="0"/>
              <a:buNone/>
            </a:pPr>
            <a:r>
              <a:rPr lang="en-US" sz="2400" dirty="0"/>
              <a:t>A16: 1,410,518,000,000 pounds </a:t>
            </a:r>
          </a:p>
          <a:p>
            <a:pPr marL="0" indent="0">
              <a:buFont typeface="Arial" panose="020B0604020202020204" pitchFamily="34" charset="0"/>
              <a:buNone/>
            </a:pPr>
            <a:r>
              <a:rPr lang="en-US" sz="2400" dirty="0"/>
              <a:t>A17: 205 breeds and varieties </a:t>
            </a:r>
          </a:p>
          <a:p>
            <a:pPr marL="0" indent="0">
              <a:buFont typeface="Arial" panose="020B0604020202020204" pitchFamily="34" charset="0"/>
              <a:buNone/>
            </a:pPr>
            <a:r>
              <a:rPr lang="en-US" sz="2400" dirty="0"/>
              <a:t>A18: 3,500,000,000 searches per day </a:t>
            </a:r>
          </a:p>
          <a:p>
            <a:pPr marL="0" indent="0">
              <a:buFont typeface="Arial" panose="020B0604020202020204" pitchFamily="34" charset="0"/>
              <a:buNone/>
            </a:pPr>
            <a:r>
              <a:rPr lang="en-US" sz="2400" dirty="0"/>
              <a:t>A19: 226,679,700 pounds </a:t>
            </a:r>
          </a:p>
          <a:p>
            <a:pPr marL="0" indent="0">
              <a:buFont typeface="Arial" panose="020B0604020202020204" pitchFamily="34" charset="0"/>
              <a:buNone/>
            </a:pPr>
            <a:r>
              <a:rPr lang="en-US" sz="2400" dirty="0"/>
              <a:t>A20: 942 times</a:t>
            </a:r>
          </a:p>
        </p:txBody>
      </p:sp>
      <p:sp>
        <p:nvSpPr>
          <p:cNvPr id="5" name="TextBox 4">
            <a:extLst>
              <a:ext uri="{FF2B5EF4-FFF2-40B4-BE49-F238E27FC236}">
                <a16:creationId xmlns:a16="http://schemas.microsoft.com/office/drawing/2014/main" id="{C8915F6E-3E42-48E7-BB54-9E953AB94CFD}"/>
              </a:ext>
            </a:extLst>
          </p:cNvPr>
          <p:cNvSpPr txBox="1"/>
          <p:nvPr/>
        </p:nvSpPr>
        <p:spPr>
          <a:xfrm>
            <a:off x="899078" y="5197131"/>
            <a:ext cx="5896486" cy="1323439"/>
          </a:xfrm>
          <a:prstGeom prst="rect">
            <a:avLst/>
          </a:prstGeom>
          <a:noFill/>
        </p:spPr>
        <p:txBody>
          <a:bodyPr wrap="none" rtlCol="1">
            <a:spAutoFit/>
          </a:bodyPr>
          <a:lstStyle/>
          <a:p>
            <a:r>
              <a:rPr lang="en-US" sz="2000" dirty="0"/>
              <a:t>Count how many were within your confidence interval:</a:t>
            </a:r>
          </a:p>
          <a:p>
            <a:pPr marL="342900" indent="-342900">
              <a:buFont typeface="Arial" panose="020B0604020202020204" pitchFamily="34" charset="0"/>
              <a:buChar char="•"/>
            </a:pPr>
            <a:r>
              <a:rPr lang="en-US" sz="2000" dirty="0"/>
              <a:t>Less than 18 -&gt; overconfident</a:t>
            </a:r>
          </a:p>
          <a:p>
            <a:pPr marL="342900" indent="-342900">
              <a:buFont typeface="Arial" panose="020B0604020202020204" pitchFamily="34" charset="0"/>
              <a:buChar char="•"/>
            </a:pPr>
            <a:r>
              <a:rPr lang="en-US" sz="2000" dirty="0"/>
              <a:t>18 -&gt; accurate </a:t>
            </a:r>
          </a:p>
          <a:p>
            <a:pPr marL="342900" indent="-342900">
              <a:buFont typeface="Arial" panose="020B0604020202020204" pitchFamily="34" charset="0"/>
              <a:buChar char="•"/>
            </a:pPr>
            <a:r>
              <a:rPr lang="en-US" sz="2000" dirty="0"/>
              <a:t>More than 18 -&gt; underconfident</a:t>
            </a:r>
            <a:endParaRPr lang="he-IL" sz="2000" dirty="0"/>
          </a:p>
        </p:txBody>
      </p:sp>
    </p:spTree>
    <p:extLst>
      <p:ext uri="{BB962C8B-B14F-4D97-AF65-F5344CB8AC3E}">
        <p14:creationId xmlns:p14="http://schemas.microsoft.com/office/powerpoint/2010/main" val="322154150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C554-45D3-4A61-86B8-CC791E5B4087}"/>
              </a:ext>
            </a:extLst>
          </p:cNvPr>
          <p:cNvSpPr>
            <a:spLocks noGrp="1"/>
          </p:cNvSpPr>
          <p:nvPr>
            <p:ph type="title"/>
          </p:nvPr>
        </p:nvSpPr>
        <p:spPr/>
        <p:txBody>
          <a:bodyPr/>
          <a:lstStyle/>
          <a:p>
            <a:r>
              <a:rPr lang="en-US" dirty="0"/>
              <a:t>Why is it hard to know when we don’t know?</a:t>
            </a:r>
          </a:p>
        </p:txBody>
      </p:sp>
      <p:sp>
        <p:nvSpPr>
          <p:cNvPr id="3" name="Content Placeholder 2">
            <a:extLst>
              <a:ext uri="{FF2B5EF4-FFF2-40B4-BE49-F238E27FC236}">
                <a16:creationId xmlns:a16="http://schemas.microsoft.com/office/drawing/2014/main" id="{7EBE8F51-D7A3-449F-909C-C1DA3D1240F2}"/>
              </a:ext>
            </a:extLst>
          </p:cNvPr>
          <p:cNvSpPr>
            <a:spLocks noGrp="1"/>
          </p:cNvSpPr>
          <p:nvPr>
            <p:ph idx="1"/>
          </p:nvPr>
        </p:nvSpPr>
        <p:spPr>
          <a:xfrm>
            <a:off x="838200" y="1825625"/>
            <a:ext cx="10515600" cy="4351338"/>
          </a:xfrm>
        </p:spPr>
        <p:txBody>
          <a:bodyPr/>
          <a:lstStyle/>
          <a:p>
            <a:endParaRPr lang="en-US" dirty="0"/>
          </a:p>
          <a:p>
            <a:r>
              <a:rPr lang="en-US" dirty="0"/>
              <a:t>We do not often test ourselves on how accurately we estimate our own knowledge</a:t>
            </a:r>
          </a:p>
          <a:p>
            <a:endParaRPr lang="en-US" dirty="0"/>
          </a:p>
        </p:txBody>
      </p:sp>
    </p:spTree>
    <p:extLst>
      <p:ext uri="{BB962C8B-B14F-4D97-AF65-F5344CB8AC3E}">
        <p14:creationId xmlns:p14="http://schemas.microsoft.com/office/powerpoint/2010/main" val="157890952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C554-45D3-4A61-86B8-CC791E5B4087}"/>
              </a:ext>
            </a:extLst>
          </p:cNvPr>
          <p:cNvSpPr>
            <a:spLocks noGrp="1"/>
          </p:cNvSpPr>
          <p:nvPr>
            <p:ph type="title"/>
          </p:nvPr>
        </p:nvSpPr>
        <p:spPr/>
        <p:txBody>
          <a:bodyPr/>
          <a:lstStyle/>
          <a:p>
            <a:r>
              <a:rPr lang="en-US" dirty="0"/>
              <a:t>Learn to know what you know</a:t>
            </a:r>
          </a:p>
        </p:txBody>
      </p:sp>
      <p:sp>
        <p:nvSpPr>
          <p:cNvPr id="3" name="Content Placeholder 2">
            <a:extLst>
              <a:ext uri="{FF2B5EF4-FFF2-40B4-BE49-F238E27FC236}">
                <a16:creationId xmlns:a16="http://schemas.microsoft.com/office/drawing/2014/main" id="{7EBE8F51-D7A3-449F-909C-C1DA3D1240F2}"/>
              </a:ext>
            </a:extLst>
          </p:cNvPr>
          <p:cNvSpPr>
            <a:spLocks noGrp="1"/>
          </p:cNvSpPr>
          <p:nvPr>
            <p:ph idx="1"/>
          </p:nvPr>
        </p:nvSpPr>
        <p:spPr>
          <a:xfrm>
            <a:off x="838200" y="1825625"/>
            <a:ext cx="10515600" cy="4351338"/>
          </a:xfrm>
        </p:spPr>
        <p:txBody>
          <a:bodyPr/>
          <a:lstStyle/>
          <a:p>
            <a:endParaRPr lang="en-US" dirty="0"/>
          </a:p>
          <a:p>
            <a:r>
              <a:rPr lang="en-US" dirty="0"/>
              <a:t>We do not often test ourselves on how accurately we estimate our own knowledge</a:t>
            </a:r>
          </a:p>
          <a:p>
            <a:endParaRPr lang="en-US" dirty="0"/>
          </a:p>
          <a:p>
            <a:r>
              <a:rPr lang="en-US" dirty="0"/>
              <a:t>Training exercise: make predictions / estimations in you own life:</a:t>
            </a:r>
          </a:p>
          <a:p>
            <a:pPr marL="0" indent="0">
              <a:buNone/>
            </a:pPr>
            <a:endParaRPr lang="en-US" dirty="0"/>
          </a:p>
        </p:txBody>
      </p:sp>
    </p:spTree>
    <p:extLst>
      <p:ext uri="{BB962C8B-B14F-4D97-AF65-F5344CB8AC3E}">
        <p14:creationId xmlns:p14="http://schemas.microsoft.com/office/powerpoint/2010/main" val="163958862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C554-45D3-4A61-86B8-CC791E5B4087}"/>
              </a:ext>
            </a:extLst>
          </p:cNvPr>
          <p:cNvSpPr>
            <a:spLocks noGrp="1"/>
          </p:cNvSpPr>
          <p:nvPr>
            <p:ph type="title"/>
          </p:nvPr>
        </p:nvSpPr>
        <p:spPr/>
        <p:txBody>
          <a:bodyPr/>
          <a:lstStyle/>
          <a:p>
            <a:r>
              <a:rPr lang="en-US" dirty="0"/>
              <a:t>Learn to know what you know</a:t>
            </a:r>
          </a:p>
        </p:txBody>
      </p:sp>
      <p:sp>
        <p:nvSpPr>
          <p:cNvPr id="3" name="Content Placeholder 2">
            <a:extLst>
              <a:ext uri="{FF2B5EF4-FFF2-40B4-BE49-F238E27FC236}">
                <a16:creationId xmlns:a16="http://schemas.microsoft.com/office/drawing/2014/main" id="{7EBE8F51-D7A3-449F-909C-C1DA3D1240F2}"/>
              </a:ext>
            </a:extLst>
          </p:cNvPr>
          <p:cNvSpPr>
            <a:spLocks noGrp="1"/>
          </p:cNvSpPr>
          <p:nvPr>
            <p:ph idx="1"/>
          </p:nvPr>
        </p:nvSpPr>
        <p:spPr>
          <a:xfrm>
            <a:off x="838200" y="1825625"/>
            <a:ext cx="10515600" cy="4351338"/>
          </a:xfrm>
        </p:spPr>
        <p:txBody>
          <a:bodyPr/>
          <a:lstStyle/>
          <a:p>
            <a:endParaRPr lang="en-US" dirty="0"/>
          </a:p>
          <a:p>
            <a:r>
              <a:rPr lang="en-US" dirty="0"/>
              <a:t>We do not often test ourselves on how accurately we estimate our own knowledge</a:t>
            </a:r>
          </a:p>
          <a:p>
            <a:endParaRPr lang="en-US" dirty="0"/>
          </a:p>
          <a:p>
            <a:r>
              <a:rPr lang="en-US" dirty="0"/>
              <a:t>Training exercise: make predictions / estimations in you own life:</a:t>
            </a:r>
          </a:p>
          <a:p>
            <a:pPr lvl="1"/>
            <a:r>
              <a:rPr lang="en-US" dirty="0"/>
              <a:t>Test scores for this semester</a:t>
            </a:r>
          </a:p>
          <a:p>
            <a:pPr lvl="1"/>
            <a:r>
              <a:rPr lang="en-US" dirty="0"/>
              <a:t>Numerical job performance indicators (e.g., number of sales in a month) </a:t>
            </a:r>
          </a:p>
          <a:p>
            <a:pPr lvl="1"/>
            <a:r>
              <a:rPr lang="en-US" dirty="0"/>
              <a:t>Time to complete common tasks (e.g., get ready to go out, make dinner)</a:t>
            </a:r>
          </a:p>
          <a:p>
            <a:pPr marL="0" indent="0">
              <a:buNone/>
            </a:pPr>
            <a:endParaRPr lang="en-US" dirty="0"/>
          </a:p>
        </p:txBody>
      </p:sp>
    </p:spTree>
    <p:extLst>
      <p:ext uri="{BB962C8B-B14F-4D97-AF65-F5344CB8AC3E}">
        <p14:creationId xmlns:p14="http://schemas.microsoft.com/office/powerpoint/2010/main" val="1238040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C554-45D3-4A61-86B8-CC791E5B4087}"/>
              </a:ext>
            </a:extLst>
          </p:cNvPr>
          <p:cNvSpPr>
            <a:spLocks noGrp="1"/>
          </p:cNvSpPr>
          <p:nvPr>
            <p:ph type="title"/>
          </p:nvPr>
        </p:nvSpPr>
        <p:spPr/>
        <p:txBody>
          <a:bodyPr/>
          <a:lstStyle/>
          <a:p>
            <a:r>
              <a:rPr lang="en-US" dirty="0"/>
              <a:t>Learn to know what you know</a:t>
            </a:r>
          </a:p>
        </p:txBody>
      </p:sp>
      <p:sp>
        <p:nvSpPr>
          <p:cNvPr id="3" name="Content Placeholder 2">
            <a:extLst>
              <a:ext uri="{FF2B5EF4-FFF2-40B4-BE49-F238E27FC236}">
                <a16:creationId xmlns:a16="http://schemas.microsoft.com/office/drawing/2014/main" id="{7EBE8F51-D7A3-449F-909C-C1DA3D1240F2}"/>
              </a:ext>
            </a:extLst>
          </p:cNvPr>
          <p:cNvSpPr>
            <a:spLocks noGrp="1"/>
          </p:cNvSpPr>
          <p:nvPr>
            <p:ph idx="1"/>
          </p:nvPr>
        </p:nvSpPr>
        <p:spPr>
          <a:xfrm>
            <a:off x="838200" y="1825625"/>
            <a:ext cx="10515600" cy="4351338"/>
          </a:xfrm>
        </p:spPr>
        <p:txBody>
          <a:bodyPr>
            <a:normAutofit lnSpcReduction="10000"/>
          </a:bodyPr>
          <a:lstStyle/>
          <a:p>
            <a:endParaRPr lang="en-US" dirty="0"/>
          </a:p>
          <a:p>
            <a:r>
              <a:rPr lang="en-US" dirty="0"/>
              <a:t>We do not often test ourselves on how accurately we estimate our own knowledge</a:t>
            </a:r>
          </a:p>
          <a:p>
            <a:endParaRPr lang="en-US" dirty="0"/>
          </a:p>
          <a:p>
            <a:r>
              <a:rPr lang="en-US" dirty="0"/>
              <a:t>Training exercise: make predictions / estimations in you own life:</a:t>
            </a:r>
          </a:p>
          <a:p>
            <a:pPr lvl="1"/>
            <a:r>
              <a:rPr lang="en-US" dirty="0"/>
              <a:t>Test scores for this semester</a:t>
            </a:r>
          </a:p>
          <a:p>
            <a:pPr lvl="1"/>
            <a:r>
              <a:rPr lang="en-US" dirty="0"/>
              <a:t>Numerical job performance indicators (e.g., number of sales in a month) </a:t>
            </a:r>
          </a:p>
          <a:p>
            <a:pPr lvl="1"/>
            <a:r>
              <a:rPr lang="en-US" dirty="0"/>
              <a:t>Time to complete common tasks (e.g., get ready to go out, make dinner)</a:t>
            </a:r>
          </a:p>
          <a:p>
            <a:r>
              <a:rPr lang="en-US" dirty="0"/>
              <a:t>Make your predictions as confidence intervals, keep (written) track, adjust accordingly</a:t>
            </a:r>
          </a:p>
          <a:p>
            <a:pPr marL="0" indent="0">
              <a:buNone/>
            </a:pPr>
            <a:endParaRPr lang="en-US" dirty="0"/>
          </a:p>
        </p:txBody>
      </p:sp>
    </p:spTree>
    <p:extLst>
      <p:ext uri="{BB962C8B-B14F-4D97-AF65-F5344CB8AC3E}">
        <p14:creationId xmlns:p14="http://schemas.microsoft.com/office/powerpoint/2010/main" val="99228793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65426-B63E-415E-A9F6-E0D1B124E66C}"/>
              </a:ext>
            </a:extLst>
          </p:cNvPr>
          <p:cNvSpPr>
            <a:spLocks noGrp="1"/>
          </p:cNvSpPr>
          <p:nvPr>
            <p:ph type="title"/>
          </p:nvPr>
        </p:nvSpPr>
        <p:spPr/>
        <p:txBody>
          <a:bodyPr/>
          <a:lstStyle/>
          <a:p>
            <a:r>
              <a:rPr lang="en-US" dirty="0"/>
              <a:t>Is it good to be accurate?</a:t>
            </a:r>
            <a:endParaRPr lang="he-IL" dirty="0"/>
          </a:p>
        </p:txBody>
      </p:sp>
      <p:sp>
        <p:nvSpPr>
          <p:cNvPr id="3" name="Content Placeholder 2">
            <a:extLst>
              <a:ext uri="{FF2B5EF4-FFF2-40B4-BE49-F238E27FC236}">
                <a16:creationId xmlns:a16="http://schemas.microsoft.com/office/drawing/2014/main" id="{1AB7B763-1C76-4E71-B481-8295995B4DA7}"/>
              </a:ext>
            </a:extLst>
          </p:cNvPr>
          <p:cNvSpPr>
            <a:spLocks noGrp="1"/>
          </p:cNvSpPr>
          <p:nvPr>
            <p:ph idx="1"/>
          </p:nvPr>
        </p:nvSpPr>
        <p:spPr/>
        <p:txBody>
          <a:bodyPr/>
          <a:lstStyle/>
          <a:p>
            <a:endParaRPr lang="he-IL"/>
          </a:p>
        </p:txBody>
      </p:sp>
    </p:spTree>
    <p:extLst>
      <p:ext uri="{BB962C8B-B14F-4D97-AF65-F5344CB8AC3E}">
        <p14:creationId xmlns:p14="http://schemas.microsoft.com/office/powerpoint/2010/main" val="95759022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65426-B63E-415E-A9F6-E0D1B124E66C}"/>
              </a:ext>
            </a:extLst>
          </p:cNvPr>
          <p:cNvSpPr>
            <a:spLocks noGrp="1"/>
          </p:cNvSpPr>
          <p:nvPr>
            <p:ph type="title"/>
          </p:nvPr>
        </p:nvSpPr>
        <p:spPr/>
        <p:txBody>
          <a:bodyPr/>
          <a:lstStyle/>
          <a:p>
            <a:r>
              <a:rPr lang="en-US" dirty="0"/>
              <a:t>Is it good to be accurate?</a:t>
            </a:r>
            <a:endParaRPr lang="he-IL" dirty="0"/>
          </a:p>
        </p:txBody>
      </p:sp>
      <p:sp>
        <p:nvSpPr>
          <p:cNvPr id="3" name="Content Placeholder 2">
            <a:extLst>
              <a:ext uri="{FF2B5EF4-FFF2-40B4-BE49-F238E27FC236}">
                <a16:creationId xmlns:a16="http://schemas.microsoft.com/office/drawing/2014/main" id="{1AB7B763-1C76-4E71-B481-8295995B4DA7}"/>
              </a:ext>
            </a:extLst>
          </p:cNvPr>
          <p:cNvSpPr>
            <a:spLocks noGrp="1"/>
          </p:cNvSpPr>
          <p:nvPr>
            <p:ph idx="1"/>
          </p:nvPr>
        </p:nvSpPr>
        <p:spPr/>
        <p:txBody>
          <a:bodyPr/>
          <a:lstStyle/>
          <a:p>
            <a:endParaRPr lang="en-US" dirty="0"/>
          </a:p>
          <a:p>
            <a:r>
              <a:rPr lang="en-US" dirty="0"/>
              <a:t>Optimism bias: Most people, in most contexts, underestimate their risk exposure (how likely they are to experience negative outcomes) and overestimate their likelihood of success (how likely they are to experience good outcomes)</a:t>
            </a:r>
            <a:endParaRPr lang="he-IL" dirty="0"/>
          </a:p>
        </p:txBody>
      </p:sp>
    </p:spTree>
    <p:extLst>
      <p:ext uri="{BB962C8B-B14F-4D97-AF65-F5344CB8AC3E}">
        <p14:creationId xmlns:p14="http://schemas.microsoft.com/office/powerpoint/2010/main" val="69624187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65426-B63E-415E-A9F6-E0D1B124E66C}"/>
              </a:ext>
            </a:extLst>
          </p:cNvPr>
          <p:cNvSpPr>
            <a:spLocks noGrp="1"/>
          </p:cNvSpPr>
          <p:nvPr>
            <p:ph type="title"/>
          </p:nvPr>
        </p:nvSpPr>
        <p:spPr/>
        <p:txBody>
          <a:bodyPr/>
          <a:lstStyle/>
          <a:p>
            <a:r>
              <a:rPr lang="en-US" dirty="0"/>
              <a:t>Is it good to be accurate?</a:t>
            </a:r>
            <a:endParaRPr lang="he-IL" dirty="0"/>
          </a:p>
        </p:txBody>
      </p:sp>
      <p:sp>
        <p:nvSpPr>
          <p:cNvPr id="3" name="Content Placeholder 2">
            <a:extLst>
              <a:ext uri="{FF2B5EF4-FFF2-40B4-BE49-F238E27FC236}">
                <a16:creationId xmlns:a16="http://schemas.microsoft.com/office/drawing/2014/main" id="{1AB7B763-1C76-4E71-B481-8295995B4DA7}"/>
              </a:ext>
            </a:extLst>
          </p:cNvPr>
          <p:cNvSpPr>
            <a:spLocks noGrp="1"/>
          </p:cNvSpPr>
          <p:nvPr>
            <p:ph idx="1"/>
          </p:nvPr>
        </p:nvSpPr>
        <p:spPr/>
        <p:txBody>
          <a:bodyPr/>
          <a:lstStyle/>
          <a:p>
            <a:endParaRPr lang="en-US" dirty="0"/>
          </a:p>
          <a:p>
            <a:r>
              <a:rPr lang="en-US" dirty="0"/>
              <a:t>Optimism bias: Most people, in most contexts, underestimate their risk exposure (how likely they are to experience negative outcomes) and overestimate their likelihood of success (how likely they are to experience good outcomes)</a:t>
            </a:r>
          </a:p>
          <a:p>
            <a:endParaRPr lang="en-US" dirty="0"/>
          </a:p>
          <a:p>
            <a:r>
              <a:rPr lang="en-US" dirty="0"/>
              <a:t>E.g.,</a:t>
            </a:r>
            <a:endParaRPr lang="he-IL" dirty="0"/>
          </a:p>
        </p:txBody>
      </p:sp>
      <p:pic>
        <p:nvPicPr>
          <p:cNvPr id="4" name="Picture 3">
            <a:extLst>
              <a:ext uri="{FF2B5EF4-FFF2-40B4-BE49-F238E27FC236}">
                <a16:creationId xmlns:a16="http://schemas.microsoft.com/office/drawing/2014/main" id="{3AEE8769-9F8F-4970-AC44-E220DDF26D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28420" y="4001294"/>
            <a:ext cx="2931736" cy="2672829"/>
          </a:xfrm>
          <a:prstGeom prst="rect">
            <a:avLst/>
          </a:prstGeom>
        </p:spPr>
      </p:pic>
    </p:spTree>
    <p:extLst>
      <p:ext uri="{BB962C8B-B14F-4D97-AF65-F5344CB8AC3E}">
        <p14:creationId xmlns:p14="http://schemas.microsoft.com/office/powerpoint/2010/main" val="27511211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65426-B63E-415E-A9F6-E0D1B124E66C}"/>
              </a:ext>
            </a:extLst>
          </p:cNvPr>
          <p:cNvSpPr>
            <a:spLocks noGrp="1"/>
          </p:cNvSpPr>
          <p:nvPr>
            <p:ph type="title"/>
          </p:nvPr>
        </p:nvSpPr>
        <p:spPr/>
        <p:txBody>
          <a:bodyPr/>
          <a:lstStyle/>
          <a:p>
            <a:r>
              <a:rPr lang="en-US" dirty="0"/>
              <a:t>Is it good to be accurate?</a:t>
            </a:r>
            <a:endParaRPr lang="he-IL" dirty="0"/>
          </a:p>
        </p:txBody>
      </p:sp>
      <p:sp>
        <p:nvSpPr>
          <p:cNvPr id="3" name="Content Placeholder 2">
            <a:extLst>
              <a:ext uri="{FF2B5EF4-FFF2-40B4-BE49-F238E27FC236}">
                <a16:creationId xmlns:a16="http://schemas.microsoft.com/office/drawing/2014/main" id="{1AB7B763-1C76-4E71-B481-8295995B4DA7}"/>
              </a:ext>
            </a:extLst>
          </p:cNvPr>
          <p:cNvSpPr>
            <a:spLocks noGrp="1"/>
          </p:cNvSpPr>
          <p:nvPr>
            <p:ph idx="1"/>
          </p:nvPr>
        </p:nvSpPr>
        <p:spPr/>
        <p:txBody>
          <a:bodyPr/>
          <a:lstStyle/>
          <a:p>
            <a:endParaRPr lang="en-US" dirty="0"/>
          </a:p>
          <a:p>
            <a:r>
              <a:rPr lang="en-US" dirty="0"/>
              <a:t>Optimism bias: Most people, in most contexts, underestimate their risk exposure (how likely they are to experience negative outcomes) and overestimate their likelihood of success (how likely they are to experience good outcomes)</a:t>
            </a:r>
          </a:p>
          <a:p>
            <a:endParaRPr lang="en-US" dirty="0"/>
          </a:p>
          <a:p>
            <a:r>
              <a:rPr lang="en-US" dirty="0"/>
              <a:t>Depressed people:</a:t>
            </a:r>
            <a:endParaRPr lang="he-IL" dirty="0"/>
          </a:p>
        </p:txBody>
      </p:sp>
    </p:spTree>
    <p:extLst>
      <p:ext uri="{BB962C8B-B14F-4D97-AF65-F5344CB8AC3E}">
        <p14:creationId xmlns:p14="http://schemas.microsoft.com/office/powerpoint/2010/main" val="372233997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65426-B63E-415E-A9F6-E0D1B124E66C}"/>
              </a:ext>
            </a:extLst>
          </p:cNvPr>
          <p:cNvSpPr>
            <a:spLocks noGrp="1"/>
          </p:cNvSpPr>
          <p:nvPr>
            <p:ph type="title"/>
          </p:nvPr>
        </p:nvSpPr>
        <p:spPr/>
        <p:txBody>
          <a:bodyPr/>
          <a:lstStyle/>
          <a:p>
            <a:r>
              <a:rPr lang="en-US" dirty="0"/>
              <a:t>Is it good to be accurate?</a:t>
            </a:r>
            <a:endParaRPr lang="he-IL" dirty="0"/>
          </a:p>
        </p:txBody>
      </p:sp>
      <p:sp>
        <p:nvSpPr>
          <p:cNvPr id="3" name="Content Placeholder 2">
            <a:extLst>
              <a:ext uri="{FF2B5EF4-FFF2-40B4-BE49-F238E27FC236}">
                <a16:creationId xmlns:a16="http://schemas.microsoft.com/office/drawing/2014/main" id="{1AB7B763-1C76-4E71-B481-8295995B4DA7}"/>
              </a:ext>
            </a:extLst>
          </p:cNvPr>
          <p:cNvSpPr>
            <a:spLocks noGrp="1"/>
          </p:cNvSpPr>
          <p:nvPr>
            <p:ph idx="1"/>
          </p:nvPr>
        </p:nvSpPr>
        <p:spPr/>
        <p:txBody>
          <a:bodyPr/>
          <a:lstStyle/>
          <a:p>
            <a:endParaRPr lang="en-US" dirty="0"/>
          </a:p>
          <a:p>
            <a:r>
              <a:rPr lang="en-US" dirty="0"/>
              <a:t>Optimism bias: Most people, in most contexts, underestimate their risk exposure (how likely they are to experience negative outcomes) and overestimate their likelihood of success (how likely they are to experience good outcomes)</a:t>
            </a:r>
          </a:p>
          <a:p>
            <a:endParaRPr lang="en-US" dirty="0"/>
          </a:p>
          <a:p>
            <a:r>
              <a:rPr lang="en-US" dirty="0"/>
              <a:t>Depressed people: accurate or pessimistically biased</a:t>
            </a:r>
            <a:endParaRPr lang="he-IL" dirty="0"/>
          </a:p>
        </p:txBody>
      </p:sp>
    </p:spTree>
    <p:extLst>
      <p:ext uri="{BB962C8B-B14F-4D97-AF65-F5344CB8AC3E}">
        <p14:creationId xmlns:p14="http://schemas.microsoft.com/office/powerpoint/2010/main" val="311552883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65426-B63E-415E-A9F6-E0D1B124E66C}"/>
              </a:ext>
            </a:extLst>
          </p:cNvPr>
          <p:cNvSpPr>
            <a:spLocks noGrp="1"/>
          </p:cNvSpPr>
          <p:nvPr>
            <p:ph type="title"/>
          </p:nvPr>
        </p:nvSpPr>
        <p:spPr/>
        <p:txBody>
          <a:bodyPr/>
          <a:lstStyle/>
          <a:p>
            <a:r>
              <a:rPr lang="en-US" dirty="0"/>
              <a:t>Is it good to be accurate?</a:t>
            </a:r>
            <a:endParaRPr lang="he-IL" dirty="0"/>
          </a:p>
        </p:txBody>
      </p:sp>
      <p:sp>
        <p:nvSpPr>
          <p:cNvPr id="3" name="Content Placeholder 2">
            <a:extLst>
              <a:ext uri="{FF2B5EF4-FFF2-40B4-BE49-F238E27FC236}">
                <a16:creationId xmlns:a16="http://schemas.microsoft.com/office/drawing/2014/main" id="{1AB7B763-1C76-4E71-B481-8295995B4DA7}"/>
              </a:ext>
            </a:extLst>
          </p:cNvPr>
          <p:cNvSpPr>
            <a:spLocks noGrp="1"/>
          </p:cNvSpPr>
          <p:nvPr>
            <p:ph idx="1"/>
          </p:nvPr>
        </p:nvSpPr>
        <p:spPr/>
        <p:txBody>
          <a:bodyPr/>
          <a:lstStyle/>
          <a:p>
            <a:endParaRPr lang="en-US" dirty="0"/>
          </a:p>
          <a:p>
            <a:r>
              <a:rPr lang="en-US" dirty="0"/>
              <a:t>Planning fallacy:</a:t>
            </a:r>
            <a:endParaRPr lang="he-IL" dirty="0"/>
          </a:p>
        </p:txBody>
      </p:sp>
    </p:spTree>
    <p:extLst>
      <p:ext uri="{BB962C8B-B14F-4D97-AF65-F5344CB8AC3E}">
        <p14:creationId xmlns:p14="http://schemas.microsoft.com/office/powerpoint/2010/main" val="282850238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65426-B63E-415E-A9F6-E0D1B124E66C}"/>
              </a:ext>
            </a:extLst>
          </p:cNvPr>
          <p:cNvSpPr>
            <a:spLocks noGrp="1"/>
          </p:cNvSpPr>
          <p:nvPr>
            <p:ph type="title"/>
          </p:nvPr>
        </p:nvSpPr>
        <p:spPr/>
        <p:txBody>
          <a:bodyPr/>
          <a:lstStyle/>
          <a:p>
            <a:r>
              <a:rPr lang="en-US" dirty="0"/>
              <a:t>Is it good to be accurate?</a:t>
            </a:r>
            <a:endParaRPr lang="he-IL" dirty="0"/>
          </a:p>
        </p:txBody>
      </p:sp>
      <p:sp>
        <p:nvSpPr>
          <p:cNvPr id="3" name="Content Placeholder 2">
            <a:extLst>
              <a:ext uri="{FF2B5EF4-FFF2-40B4-BE49-F238E27FC236}">
                <a16:creationId xmlns:a16="http://schemas.microsoft.com/office/drawing/2014/main" id="{1AB7B763-1C76-4E71-B481-8295995B4DA7}"/>
              </a:ext>
            </a:extLst>
          </p:cNvPr>
          <p:cNvSpPr>
            <a:spLocks noGrp="1"/>
          </p:cNvSpPr>
          <p:nvPr>
            <p:ph idx="1"/>
          </p:nvPr>
        </p:nvSpPr>
        <p:spPr/>
        <p:txBody>
          <a:bodyPr/>
          <a:lstStyle/>
          <a:p>
            <a:endParaRPr lang="en-US" dirty="0"/>
          </a:p>
          <a:p>
            <a:r>
              <a:rPr lang="en-US" dirty="0"/>
              <a:t>Planning fallacy: people very often underestimate the time (and cost) needed to complete a future task or project</a:t>
            </a:r>
            <a:endParaRPr lang="he-IL" dirty="0"/>
          </a:p>
        </p:txBody>
      </p:sp>
    </p:spTree>
    <p:extLst>
      <p:ext uri="{BB962C8B-B14F-4D97-AF65-F5344CB8AC3E}">
        <p14:creationId xmlns:p14="http://schemas.microsoft.com/office/powerpoint/2010/main" val="165932718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65426-B63E-415E-A9F6-E0D1B124E66C}"/>
              </a:ext>
            </a:extLst>
          </p:cNvPr>
          <p:cNvSpPr>
            <a:spLocks noGrp="1"/>
          </p:cNvSpPr>
          <p:nvPr>
            <p:ph type="title"/>
          </p:nvPr>
        </p:nvSpPr>
        <p:spPr/>
        <p:txBody>
          <a:bodyPr/>
          <a:lstStyle/>
          <a:p>
            <a:r>
              <a:rPr lang="en-US" dirty="0"/>
              <a:t>Is it good to be accurate?</a:t>
            </a:r>
            <a:endParaRPr lang="he-IL" dirty="0"/>
          </a:p>
        </p:txBody>
      </p:sp>
      <p:sp>
        <p:nvSpPr>
          <p:cNvPr id="3" name="Content Placeholder 2">
            <a:extLst>
              <a:ext uri="{FF2B5EF4-FFF2-40B4-BE49-F238E27FC236}">
                <a16:creationId xmlns:a16="http://schemas.microsoft.com/office/drawing/2014/main" id="{1AB7B763-1C76-4E71-B481-8295995B4DA7}"/>
              </a:ext>
            </a:extLst>
          </p:cNvPr>
          <p:cNvSpPr>
            <a:spLocks noGrp="1"/>
          </p:cNvSpPr>
          <p:nvPr>
            <p:ph idx="1"/>
          </p:nvPr>
        </p:nvSpPr>
        <p:spPr/>
        <p:txBody>
          <a:bodyPr/>
          <a:lstStyle/>
          <a:p>
            <a:endParaRPr lang="en-US" dirty="0"/>
          </a:p>
          <a:p>
            <a:r>
              <a:rPr lang="en-US" dirty="0"/>
              <a:t>Planning fallacy: people very often underestimate the time (and cost) needed to complete a future task or project</a:t>
            </a:r>
          </a:p>
          <a:p>
            <a:endParaRPr lang="en-US" dirty="0"/>
          </a:p>
          <a:p>
            <a:pPr marL="457200" lvl="1" indent="0">
              <a:buNone/>
            </a:pPr>
            <a:r>
              <a:rPr lang="en-US" strike="sngStrike" dirty="0"/>
              <a:t>Oct. 2021</a:t>
            </a:r>
          </a:p>
          <a:p>
            <a:pPr marL="457200" lvl="1" indent="0">
              <a:buNone/>
            </a:pPr>
            <a:r>
              <a:rPr lang="en-US" strike="sngStrike" dirty="0"/>
              <a:t>Nov. 2022</a:t>
            </a:r>
          </a:p>
          <a:p>
            <a:pPr marL="457200" lvl="1" indent="0">
              <a:buNone/>
            </a:pPr>
            <a:r>
              <a:rPr lang="en-US" strike="sngStrike" dirty="0"/>
              <a:t>March 2023</a:t>
            </a:r>
          </a:p>
          <a:p>
            <a:pPr marL="457200" lvl="1" indent="0">
              <a:buNone/>
            </a:pPr>
            <a:r>
              <a:rPr lang="en-US" strike="sngStrike" dirty="0"/>
              <a:t>May 2023</a:t>
            </a:r>
          </a:p>
          <a:p>
            <a:pPr marL="457200" lvl="1" indent="0">
              <a:buNone/>
            </a:pPr>
            <a:r>
              <a:rPr lang="en-US" dirty="0"/>
              <a:t>18.8.2023</a:t>
            </a:r>
          </a:p>
        </p:txBody>
      </p:sp>
      <p:pic>
        <p:nvPicPr>
          <p:cNvPr id="1026" name="Picture 2" descr="Tel Aviv Red Line ready for November opening - International Railway Journal">
            <a:extLst>
              <a:ext uri="{FF2B5EF4-FFF2-40B4-BE49-F238E27FC236}">
                <a16:creationId xmlns:a16="http://schemas.microsoft.com/office/drawing/2014/main" id="{FB607927-2CA2-4C11-9C25-A2D80D8BFC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76725" y="3429000"/>
            <a:ext cx="3638550" cy="30718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582917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65426-B63E-415E-A9F6-E0D1B124E66C}"/>
              </a:ext>
            </a:extLst>
          </p:cNvPr>
          <p:cNvSpPr>
            <a:spLocks noGrp="1"/>
          </p:cNvSpPr>
          <p:nvPr>
            <p:ph type="title"/>
          </p:nvPr>
        </p:nvSpPr>
        <p:spPr/>
        <p:txBody>
          <a:bodyPr/>
          <a:lstStyle/>
          <a:p>
            <a:r>
              <a:rPr lang="en-US" dirty="0"/>
              <a:t>Is it good to be accurate?</a:t>
            </a:r>
            <a:endParaRPr lang="he-IL" dirty="0"/>
          </a:p>
        </p:txBody>
      </p:sp>
      <p:sp>
        <p:nvSpPr>
          <p:cNvPr id="3" name="Content Placeholder 2">
            <a:extLst>
              <a:ext uri="{FF2B5EF4-FFF2-40B4-BE49-F238E27FC236}">
                <a16:creationId xmlns:a16="http://schemas.microsoft.com/office/drawing/2014/main" id="{1AB7B763-1C76-4E71-B481-8295995B4DA7}"/>
              </a:ext>
            </a:extLst>
          </p:cNvPr>
          <p:cNvSpPr>
            <a:spLocks noGrp="1"/>
          </p:cNvSpPr>
          <p:nvPr>
            <p:ph idx="1"/>
          </p:nvPr>
        </p:nvSpPr>
        <p:spPr/>
        <p:txBody>
          <a:bodyPr>
            <a:normAutofit/>
          </a:bodyPr>
          <a:lstStyle/>
          <a:p>
            <a:endParaRPr lang="en-US" dirty="0"/>
          </a:p>
          <a:p>
            <a:r>
              <a:rPr lang="en-US" dirty="0"/>
              <a:t>Planning fallacy: people very often underestimate the time (and cost) needed to complete a future task or project</a:t>
            </a:r>
          </a:p>
          <a:p>
            <a:endParaRPr lang="en-US" dirty="0"/>
          </a:p>
          <a:p>
            <a:r>
              <a:rPr lang="en-US" dirty="0"/>
              <a:t>Think of your last class assignment:</a:t>
            </a:r>
          </a:p>
          <a:p>
            <a:pPr marL="0" indent="0">
              <a:buNone/>
            </a:pPr>
            <a:r>
              <a:rPr lang="en-US" dirty="0"/>
              <a:t>	When did you predict you will submit your assignment?</a:t>
            </a:r>
          </a:p>
          <a:p>
            <a:pPr marL="0" indent="0">
              <a:buNone/>
            </a:pPr>
            <a:r>
              <a:rPr lang="en-US" dirty="0"/>
              <a:t>	When did you actually submit?</a:t>
            </a:r>
          </a:p>
        </p:txBody>
      </p:sp>
    </p:spTree>
    <p:extLst>
      <p:ext uri="{BB962C8B-B14F-4D97-AF65-F5344CB8AC3E}">
        <p14:creationId xmlns:p14="http://schemas.microsoft.com/office/powerpoint/2010/main" val="1560677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65426-B63E-415E-A9F6-E0D1B124E66C}"/>
              </a:ext>
            </a:extLst>
          </p:cNvPr>
          <p:cNvSpPr>
            <a:spLocks noGrp="1"/>
          </p:cNvSpPr>
          <p:nvPr>
            <p:ph type="title"/>
          </p:nvPr>
        </p:nvSpPr>
        <p:spPr/>
        <p:txBody>
          <a:bodyPr/>
          <a:lstStyle/>
          <a:p>
            <a:r>
              <a:rPr lang="en-US" dirty="0"/>
              <a:t>Is it good to be accurate?</a:t>
            </a:r>
            <a:endParaRPr lang="he-IL" dirty="0"/>
          </a:p>
        </p:txBody>
      </p:sp>
      <p:sp>
        <p:nvSpPr>
          <p:cNvPr id="3" name="Content Placeholder 2">
            <a:extLst>
              <a:ext uri="{FF2B5EF4-FFF2-40B4-BE49-F238E27FC236}">
                <a16:creationId xmlns:a16="http://schemas.microsoft.com/office/drawing/2014/main" id="{1AB7B763-1C76-4E71-B481-8295995B4DA7}"/>
              </a:ext>
            </a:extLst>
          </p:cNvPr>
          <p:cNvSpPr>
            <a:spLocks noGrp="1"/>
          </p:cNvSpPr>
          <p:nvPr>
            <p:ph idx="1"/>
          </p:nvPr>
        </p:nvSpPr>
        <p:spPr/>
        <p:txBody>
          <a:bodyPr>
            <a:normAutofit/>
          </a:bodyPr>
          <a:lstStyle/>
          <a:p>
            <a:endParaRPr lang="en-US" dirty="0"/>
          </a:p>
          <a:p>
            <a:r>
              <a:rPr lang="en-US" dirty="0"/>
              <a:t>Planning fallacy: people very often underestimate the time (and cost) needed to complete a future task or project</a:t>
            </a:r>
          </a:p>
          <a:p>
            <a:endParaRPr lang="en-US" dirty="0"/>
          </a:p>
          <a:p>
            <a:r>
              <a:rPr lang="en-US" dirty="0"/>
              <a:t>Experiment: students predict how long a seminar paper will take them</a:t>
            </a:r>
          </a:p>
        </p:txBody>
      </p:sp>
    </p:spTree>
    <p:extLst>
      <p:ext uri="{BB962C8B-B14F-4D97-AF65-F5344CB8AC3E}">
        <p14:creationId xmlns:p14="http://schemas.microsoft.com/office/powerpoint/2010/main" val="399208919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65426-B63E-415E-A9F6-E0D1B124E66C}"/>
              </a:ext>
            </a:extLst>
          </p:cNvPr>
          <p:cNvSpPr>
            <a:spLocks noGrp="1"/>
          </p:cNvSpPr>
          <p:nvPr>
            <p:ph type="title"/>
          </p:nvPr>
        </p:nvSpPr>
        <p:spPr/>
        <p:txBody>
          <a:bodyPr/>
          <a:lstStyle/>
          <a:p>
            <a:r>
              <a:rPr lang="en-US" dirty="0"/>
              <a:t>Is it good to be accurate?</a:t>
            </a:r>
            <a:endParaRPr lang="he-IL" dirty="0"/>
          </a:p>
        </p:txBody>
      </p:sp>
      <p:sp>
        <p:nvSpPr>
          <p:cNvPr id="3" name="Content Placeholder 2">
            <a:extLst>
              <a:ext uri="{FF2B5EF4-FFF2-40B4-BE49-F238E27FC236}">
                <a16:creationId xmlns:a16="http://schemas.microsoft.com/office/drawing/2014/main" id="{1AB7B763-1C76-4E71-B481-8295995B4DA7}"/>
              </a:ext>
            </a:extLst>
          </p:cNvPr>
          <p:cNvSpPr>
            <a:spLocks noGrp="1"/>
          </p:cNvSpPr>
          <p:nvPr>
            <p:ph idx="1"/>
          </p:nvPr>
        </p:nvSpPr>
        <p:spPr/>
        <p:txBody>
          <a:bodyPr>
            <a:normAutofit/>
          </a:bodyPr>
          <a:lstStyle/>
          <a:p>
            <a:endParaRPr lang="en-US" dirty="0"/>
          </a:p>
          <a:p>
            <a:r>
              <a:rPr lang="en-US" dirty="0"/>
              <a:t>Planning fallacy: people very often underestimate the time (and cost) needed to complete a future task or project</a:t>
            </a:r>
          </a:p>
          <a:p>
            <a:endParaRPr lang="en-US" dirty="0"/>
          </a:p>
          <a:p>
            <a:r>
              <a:rPr lang="en-US" dirty="0"/>
              <a:t>Experiment: students predict how long a seminar paper will take them</a:t>
            </a:r>
          </a:p>
          <a:p>
            <a:pPr lvl="1"/>
            <a:r>
              <a:rPr lang="en-US" dirty="0"/>
              <a:t>Average estimate: 33.9 days. </a:t>
            </a:r>
          </a:p>
        </p:txBody>
      </p:sp>
    </p:spTree>
    <p:extLst>
      <p:ext uri="{BB962C8B-B14F-4D97-AF65-F5344CB8AC3E}">
        <p14:creationId xmlns:p14="http://schemas.microsoft.com/office/powerpoint/2010/main" val="328549414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65426-B63E-415E-A9F6-E0D1B124E66C}"/>
              </a:ext>
            </a:extLst>
          </p:cNvPr>
          <p:cNvSpPr>
            <a:spLocks noGrp="1"/>
          </p:cNvSpPr>
          <p:nvPr>
            <p:ph type="title"/>
          </p:nvPr>
        </p:nvSpPr>
        <p:spPr/>
        <p:txBody>
          <a:bodyPr/>
          <a:lstStyle/>
          <a:p>
            <a:r>
              <a:rPr lang="en-US" dirty="0"/>
              <a:t>Is it good to be accurate?</a:t>
            </a:r>
            <a:endParaRPr lang="he-IL" dirty="0"/>
          </a:p>
        </p:txBody>
      </p:sp>
      <p:sp>
        <p:nvSpPr>
          <p:cNvPr id="3" name="Content Placeholder 2">
            <a:extLst>
              <a:ext uri="{FF2B5EF4-FFF2-40B4-BE49-F238E27FC236}">
                <a16:creationId xmlns:a16="http://schemas.microsoft.com/office/drawing/2014/main" id="{1AB7B763-1C76-4E71-B481-8295995B4DA7}"/>
              </a:ext>
            </a:extLst>
          </p:cNvPr>
          <p:cNvSpPr>
            <a:spLocks noGrp="1"/>
          </p:cNvSpPr>
          <p:nvPr>
            <p:ph idx="1"/>
          </p:nvPr>
        </p:nvSpPr>
        <p:spPr/>
        <p:txBody>
          <a:bodyPr>
            <a:normAutofit/>
          </a:bodyPr>
          <a:lstStyle/>
          <a:p>
            <a:endParaRPr lang="en-US" dirty="0"/>
          </a:p>
          <a:p>
            <a:r>
              <a:rPr lang="en-US" dirty="0"/>
              <a:t>Planning fallacy: people very often underestimate the time (and cost) needed to complete a future task or project</a:t>
            </a:r>
          </a:p>
          <a:p>
            <a:endParaRPr lang="en-US" dirty="0"/>
          </a:p>
          <a:p>
            <a:r>
              <a:rPr lang="en-US" dirty="0"/>
              <a:t>Experiment: students predict how long a seminar paper will take them</a:t>
            </a:r>
          </a:p>
          <a:p>
            <a:pPr lvl="1"/>
            <a:r>
              <a:rPr lang="en-US" dirty="0"/>
              <a:t>Average estimate: 33.9 days. </a:t>
            </a:r>
          </a:p>
          <a:p>
            <a:pPr lvl="1"/>
            <a:r>
              <a:rPr lang="en-US" dirty="0"/>
              <a:t>Average estimate "if everything went as well as it possibly could“: 27.4 days</a:t>
            </a:r>
          </a:p>
          <a:p>
            <a:pPr lvl="1"/>
            <a:r>
              <a:rPr lang="en-US" dirty="0"/>
              <a:t>Average estimate "if everything went as poorly as it possibly could" 48.6 days</a:t>
            </a:r>
          </a:p>
        </p:txBody>
      </p:sp>
    </p:spTree>
    <p:extLst>
      <p:ext uri="{BB962C8B-B14F-4D97-AF65-F5344CB8AC3E}">
        <p14:creationId xmlns:p14="http://schemas.microsoft.com/office/powerpoint/2010/main" val="3764033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65426-B63E-415E-A9F6-E0D1B124E66C}"/>
              </a:ext>
            </a:extLst>
          </p:cNvPr>
          <p:cNvSpPr>
            <a:spLocks noGrp="1"/>
          </p:cNvSpPr>
          <p:nvPr>
            <p:ph type="title"/>
          </p:nvPr>
        </p:nvSpPr>
        <p:spPr/>
        <p:txBody>
          <a:bodyPr/>
          <a:lstStyle/>
          <a:p>
            <a:r>
              <a:rPr lang="en-US" dirty="0"/>
              <a:t>Is it good to be accurate?</a:t>
            </a:r>
            <a:endParaRPr lang="he-IL" dirty="0"/>
          </a:p>
        </p:txBody>
      </p:sp>
      <p:sp>
        <p:nvSpPr>
          <p:cNvPr id="3" name="Content Placeholder 2">
            <a:extLst>
              <a:ext uri="{FF2B5EF4-FFF2-40B4-BE49-F238E27FC236}">
                <a16:creationId xmlns:a16="http://schemas.microsoft.com/office/drawing/2014/main" id="{1AB7B763-1C76-4E71-B481-8295995B4DA7}"/>
              </a:ext>
            </a:extLst>
          </p:cNvPr>
          <p:cNvSpPr>
            <a:spLocks noGrp="1"/>
          </p:cNvSpPr>
          <p:nvPr>
            <p:ph idx="1"/>
          </p:nvPr>
        </p:nvSpPr>
        <p:spPr/>
        <p:txBody>
          <a:bodyPr>
            <a:normAutofit/>
          </a:bodyPr>
          <a:lstStyle/>
          <a:p>
            <a:endParaRPr lang="en-US" dirty="0"/>
          </a:p>
          <a:p>
            <a:r>
              <a:rPr lang="en-US" dirty="0"/>
              <a:t>Planning fallacy: people very often underestimate the time (and cost) needed to complete a future task or project</a:t>
            </a:r>
          </a:p>
          <a:p>
            <a:endParaRPr lang="en-US" dirty="0"/>
          </a:p>
          <a:p>
            <a:r>
              <a:rPr lang="en-US" dirty="0"/>
              <a:t>Experiment: students predict how long a seminar paper will take them</a:t>
            </a:r>
          </a:p>
          <a:p>
            <a:pPr lvl="1"/>
            <a:r>
              <a:rPr lang="en-US" dirty="0"/>
              <a:t>Average estimate: 33.9 days. </a:t>
            </a:r>
          </a:p>
          <a:p>
            <a:pPr lvl="1"/>
            <a:r>
              <a:rPr lang="en-US" dirty="0"/>
              <a:t>Average estimate "if everything went as well as it possibly could“: 27.4 days</a:t>
            </a:r>
          </a:p>
          <a:p>
            <a:pPr lvl="1"/>
            <a:r>
              <a:rPr lang="en-US" dirty="0"/>
              <a:t>Average estimate "if everything went as poorly as it possibly could" 48.6 days</a:t>
            </a:r>
          </a:p>
          <a:p>
            <a:pPr lvl="1"/>
            <a:r>
              <a:rPr lang="en-US" dirty="0"/>
              <a:t>Actual average completion time: 55.5 days</a:t>
            </a:r>
            <a:endParaRPr lang="he-IL" dirty="0"/>
          </a:p>
        </p:txBody>
      </p:sp>
    </p:spTree>
    <p:extLst>
      <p:ext uri="{BB962C8B-B14F-4D97-AF65-F5344CB8AC3E}">
        <p14:creationId xmlns:p14="http://schemas.microsoft.com/office/powerpoint/2010/main" val="338379719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65426-B63E-415E-A9F6-E0D1B124E66C}"/>
              </a:ext>
            </a:extLst>
          </p:cNvPr>
          <p:cNvSpPr>
            <a:spLocks noGrp="1"/>
          </p:cNvSpPr>
          <p:nvPr>
            <p:ph type="title"/>
          </p:nvPr>
        </p:nvSpPr>
        <p:spPr/>
        <p:txBody>
          <a:bodyPr/>
          <a:lstStyle/>
          <a:p>
            <a:r>
              <a:rPr lang="en-US" dirty="0"/>
              <a:t>Is it good to be accurate?</a:t>
            </a:r>
            <a:endParaRPr lang="he-IL" dirty="0"/>
          </a:p>
        </p:txBody>
      </p:sp>
      <p:sp>
        <p:nvSpPr>
          <p:cNvPr id="3" name="Content Placeholder 2">
            <a:extLst>
              <a:ext uri="{FF2B5EF4-FFF2-40B4-BE49-F238E27FC236}">
                <a16:creationId xmlns:a16="http://schemas.microsoft.com/office/drawing/2014/main" id="{1AB7B763-1C76-4E71-B481-8295995B4DA7}"/>
              </a:ext>
            </a:extLst>
          </p:cNvPr>
          <p:cNvSpPr>
            <a:spLocks noGrp="1"/>
          </p:cNvSpPr>
          <p:nvPr>
            <p:ph idx="1"/>
          </p:nvPr>
        </p:nvSpPr>
        <p:spPr/>
        <p:txBody>
          <a:bodyPr/>
          <a:lstStyle/>
          <a:p>
            <a:endParaRPr lang="en-US" dirty="0"/>
          </a:p>
          <a:p>
            <a:r>
              <a:rPr lang="en-US" dirty="0"/>
              <a:t>Planning fallacy: people very often underestimate the time (and cost) needed to complete a future task or project</a:t>
            </a:r>
          </a:p>
          <a:p>
            <a:endParaRPr lang="en-US" dirty="0"/>
          </a:p>
          <a:p>
            <a:r>
              <a:rPr lang="en-US" dirty="0"/>
              <a:t>Arguably a specific case of optimism bias</a:t>
            </a:r>
            <a:endParaRPr lang="he-IL" dirty="0"/>
          </a:p>
        </p:txBody>
      </p:sp>
    </p:spTree>
    <p:extLst>
      <p:ext uri="{BB962C8B-B14F-4D97-AF65-F5344CB8AC3E}">
        <p14:creationId xmlns:p14="http://schemas.microsoft.com/office/powerpoint/2010/main" val="405317078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65426-B63E-415E-A9F6-E0D1B124E66C}"/>
              </a:ext>
            </a:extLst>
          </p:cNvPr>
          <p:cNvSpPr>
            <a:spLocks noGrp="1"/>
          </p:cNvSpPr>
          <p:nvPr>
            <p:ph type="title"/>
          </p:nvPr>
        </p:nvSpPr>
        <p:spPr/>
        <p:txBody>
          <a:bodyPr/>
          <a:lstStyle/>
          <a:p>
            <a:r>
              <a:rPr lang="en-US" dirty="0"/>
              <a:t>Is it good to be accurate?</a:t>
            </a:r>
            <a:endParaRPr lang="he-IL" dirty="0"/>
          </a:p>
        </p:txBody>
      </p:sp>
      <p:sp>
        <p:nvSpPr>
          <p:cNvPr id="3" name="Content Placeholder 2">
            <a:extLst>
              <a:ext uri="{FF2B5EF4-FFF2-40B4-BE49-F238E27FC236}">
                <a16:creationId xmlns:a16="http://schemas.microsoft.com/office/drawing/2014/main" id="{1AB7B763-1C76-4E71-B481-8295995B4DA7}"/>
              </a:ext>
            </a:extLst>
          </p:cNvPr>
          <p:cNvSpPr>
            <a:spLocks noGrp="1"/>
          </p:cNvSpPr>
          <p:nvPr>
            <p:ph idx="1"/>
          </p:nvPr>
        </p:nvSpPr>
        <p:spPr/>
        <p:txBody>
          <a:bodyPr/>
          <a:lstStyle/>
          <a:p>
            <a:endParaRPr lang="en-US" dirty="0"/>
          </a:p>
          <a:p>
            <a:r>
              <a:rPr lang="en-US" dirty="0"/>
              <a:t>Planning fallacy: people very often underestimate the time (and cost) needed to complete a future task or project</a:t>
            </a:r>
          </a:p>
          <a:p>
            <a:endParaRPr lang="en-US" dirty="0"/>
          </a:p>
          <a:p>
            <a:r>
              <a:rPr lang="en-US" dirty="0"/>
              <a:t>The planning fallacy can easily lead to failures (overdue assignment, project failing due to insufficient budget)</a:t>
            </a:r>
            <a:endParaRPr lang="he-IL" dirty="0"/>
          </a:p>
        </p:txBody>
      </p:sp>
    </p:spTree>
    <p:extLst>
      <p:ext uri="{BB962C8B-B14F-4D97-AF65-F5344CB8AC3E}">
        <p14:creationId xmlns:p14="http://schemas.microsoft.com/office/powerpoint/2010/main" val="210609910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65426-B63E-415E-A9F6-E0D1B124E66C}"/>
              </a:ext>
            </a:extLst>
          </p:cNvPr>
          <p:cNvSpPr>
            <a:spLocks noGrp="1"/>
          </p:cNvSpPr>
          <p:nvPr>
            <p:ph type="title"/>
          </p:nvPr>
        </p:nvSpPr>
        <p:spPr/>
        <p:txBody>
          <a:bodyPr/>
          <a:lstStyle/>
          <a:p>
            <a:r>
              <a:rPr lang="en-US" dirty="0"/>
              <a:t>Is it good to be accurate?</a:t>
            </a:r>
            <a:endParaRPr lang="he-IL" dirty="0"/>
          </a:p>
        </p:txBody>
      </p:sp>
      <p:sp>
        <p:nvSpPr>
          <p:cNvPr id="3" name="Content Placeholder 2">
            <a:extLst>
              <a:ext uri="{FF2B5EF4-FFF2-40B4-BE49-F238E27FC236}">
                <a16:creationId xmlns:a16="http://schemas.microsoft.com/office/drawing/2014/main" id="{1AB7B763-1C76-4E71-B481-8295995B4DA7}"/>
              </a:ext>
            </a:extLst>
          </p:cNvPr>
          <p:cNvSpPr>
            <a:spLocks noGrp="1"/>
          </p:cNvSpPr>
          <p:nvPr>
            <p:ph idx="1"/>
          </p:nvPr>
        </p:nvSpPr>
        <p:spPr/>
        <p:txBody>
          <a:bodyPr/>
          <a:lstStyle/>
          <a:p>
            <a:endParaRPr lang="en-US" dirty="0"/>
          </a:p>
          <a:p>
            <a:r>
              <a:rPr lang="en-US" dirty="0"/>
              <a:t>Planning fallacy: people very often underestimate the time (and cost) needed to complete a future task or project</a:t>
            </a:r>
          </a:p>
          <a:p>
            <a:endParaRPr lang="en-US" dirty="0"/>
          </a:p>
          <a:p>
            <a:r>
              <a:rPr lang="en-US" dirty="0"/>
              <a:t>But, it can also be useful</a:t>
            </a:r>
          </a:p>
          <a:p>
            <a:pPr lvl="1"/>
            <a:endParaRPr lang="he-IL" dirty="0"/>
          </a:p>
        </p:txBody>
      </p:sp>
    </p:spTree>
    <p:extLst>
      <p:ext uri="{BB962C8B-B14F-4D97-AF65-F5344CB8AC3E}">
        <p14:creationId xmlns:p14="http://schemas.microsoft.com/office/powerpoint/2010/main" val="425738630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65426-B63E-415E-A9F6-E0D1B124E66C}"/>
              </a:ext>
            </a:extLst>
          </p:cNvPr>
          <p:cNvSpPr>
            <a:spLocks noGrp="1"/>
          </p:cNvSpPr>
          <p:nvPr>
            <p:ph type="title"/>
          </p:nvPr>
        </p:nvSpPr>
        <p:spPr/>
        <p:txBody>
          <a:bodyPr/>
          <a:lstStyle/>
          <a:p>
            <a:r>
              <a:rPr lang="en-US" dirty="0"/>
              <a:t>Is it good to be accurate?</a:t>
            </a:r>
            <a:endParaRPr lang="he-IL" dirty="0"/>
          </a:p>
        </p:txBody>
      </p:sp>
      <p:sp>
        <p:nvSpPr>
          <p:cNvPr id="3" name="Content Placeholder 2">
            <a:extLst>
              <a:ext uri="{FF2B5EF4-FFF2-40B4-BE49-F238E27FC236}">
                <a16:creationId xmlns:a16="http://schemas.microsoft.com/office/drawing/2014/main" id="{1AB7B763-1C76-4E71-B481-8295995B4DA7}"/>
              </a:ext>
            </a:extLst>
          </p:cNvPr>
          <p:cNvSpPr>
            <a:spLocks noGrp="1"/>
          </p:cNvSpPr>
          <p:nvPr>
            <p:ph idx="1"/>
          </p:nvPr>
        </p:nvSpPr>
        <p:spPr/>
        <p:txBody>
          <a:bodyPr/>
          <a:lstStyle/>
          <a:p>
            <a:endParaRPr lang="en-US" dirty="0"/>
          </a:p>
          <a:p>
            <a:r>
              <a:rPr lang="en-US" dirty="0"/>
              <a:t>Planning fallacy: people very often underestimate the time (and cost) needed to complete a future task or project</a:t>
            </a:r>
          </a:p>
          <a:p>
            <a:endParaRPr lang="en-US" dirty="0"/>
          </a:p>
          <a:p>
            <a:r>
              <a:rPr lang="en-US" dirty="0"/>
              <a:t>But, it can also be useful</a:t>
            </a:r>
          </a:p>
          <a:p>
            <a:pPr lvl="1"/>
            <a:r>
              <a:rPr lang="en-US" dirty="0"/>
              <a:t>Externally: easier getting funding / approval for optimistic predictions</a:t>
            </a:r>
          </a:p>
          <a:p>
            <a:pPr lvl="1"/>
            <a:endParaRPr lang="he-IL" dirty="0"/>
          </a:p>
        </p:txBody>
      </p:sp>
    </p:spTree>
    <p:extLst>
      <p:ext uri="{BB962C8B-B14F-4D97-AF65-F5344CB8AC3E}">
        <p14:creationId xmlns:p14="http://schemas.microsoft.com/office/powerpoint/2010/main" val="103402551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65426-B63E-415E-A9F6-E0D1B124E66C}"/>
              </a:ext>
            </a:extLst>
          </p:cNvPr>
          <p:cNvSpPr>
            <a:spLocks noGrp="1"/>
          </p:cNvSpPr>
          <p:nvPr>
            <p:ph type="title"/>
          </p:nvPr>
        </p:nvSpPr>
        <p:spPr/>
        <p:txBody>
          <a:bodyPr/>
          <a:lstStyle/>
          <a:p>
            <a:r>
              <a:rPr lang="en-US" dirty="0"/>
              <a:t>Is it good to be accurate?</a:t>
            </a:r>
            <a:endParaRPr lang="he-IL"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AB7B763-1C76-4E71-B481-8295995B4DA7}"/>
                  </a:ext>
                </a:extLst>
              </p:cNvPr>
              <p:cNvSpPr>
                <a:spLocks noGrp="1"/>
              </p:cNvSpPr>
              <p:nvPr>
                <p:ph idx="1"/>
              </p:nvPr>
            </p:nvSpPr>
            <p:spPr/>
            <p:txBody>
              <a:bodyPr/>
              <a:lstStyle/>
              <a:p>
                <a:endParaRPr lang="en-US" dirty="0"/>
              </a:p>
              <a:p>
                <a:r>
                  <a:rPr lang="en-US" dirty="0"/>
                  <a:t>Planning fallacy: people very often underestimate the time (and cost) needed to complete a future task or project</a:t>
                </a:r>
              </a:p>
              <a:p>
                <a:endParaRPr lang="en-US" dirty="0"/>
              </a:p>
              <a:p>
                <a:r>
                  <a:rPr lang="en-US" dirty="0"/>
                  <a:t>But, it can also be useful</a:t>
                </a:r>
              </a:p>
              <a:p>
                <a:pPr lvl="1"/>
                <a:r>
                  <a:rPr lang="en-US" dirty="0"/>
                  <a:t>Externally: easier getting funding / approval for optimistic predictions</a:t>
                </a:r>
              </a:p>
              <a:p>
                <a:pPr lvl="1"/>
                <a:r>
                  <a:rPr lang="en-US" dirty="0"/>
                  <a:t>Internally: Motivation = (utility</a:t>
                </a:r>
                <a14:m>
                  <m:oMath xmlns:m="http://schemas.openxmlformats.org/officeDocument/2006/math">
                    <m:r>
                      <a:rPr lang="en-US" b="0" i="1" smtClean="0">
                        <a:latin typeface="Cambria Math" panose="02040503050406030204" pitchFamily="18" charset="0"/>
                      </a:rPr>
                      <m:t>∗</m:t>
                    </m:r>
                  </m:oMath>
                </a14:m>
                <a:r>
                  <a:rPr lang="en-US" dirty="0"/>
                  <a:t>probability of success) - costs</a:t>
                </a:r>
                <a:endParaRPr lang="he-IL" dirty="0"/>
              </a:p>
            </p:txBody>
          </p:sp>
        </mc:Choice>
        <mc:Fallback xmlns="">
          <p:sp>
            <p:nvSpPr>
              <p:cNvPr id="3" name="Content Placeholder 2">
                <a:extLst>
                  <a:ext uri="{FF2B5EF4-FFF2-40B4-BE49-F238E27FC236}">
                    <a16:creationId xmlns:a16="http://schemas.microsoft.com/office/drawing/2014/main" id="{1AB7B763-1C76-4E71-B481-8295995B4DA7}"/>
                  </a:ext>
                </a:extLst>
              </p:cNvPr>
              <p:cNvSpPr>
                <a:spLocks noGrp="1" noRot="1" noChangeAspect="1" noMove="1" noResize="1" noEditPoints="1" noAdjustHandles="1" noChangeArrowheads="1" noChangeShapeType="1" noTextEdit="1"/>
              </p:cNvSpPr>
              <p:nvPr>
                <p:ph idx="1"/>
              </p:nvPr>
            </p:nvSpPr>
            <p:spPr>
              <a:blipFill>
                <a:blip r:embed="rId2"/>
                <a:stretch>
                  <a:fillRect l="-1043" r="-754"/>
                </a:stretch>
              </a:blipFill>
            </p:spPr>
            <p:txBody>
              <a:bodyPr/>
              <a:lstStyle/>
              <a:p>
                <a:r>
                  <a:rPr lang="he-IL">
                    <a:noFill/>
                  </a:rPr>
                  <a:t> </a:t>
                </a:r>
              </a:p>
            </p:txBody>
          </p:sp>
        </mc:Fallback>
      </mc:AlternateContent>
    </p:spTree>
    <p:extLst>
      <p:ext uri="{BB962C8B-B14F-4D97-AF65-F5344CB8AC3E}">
        <p14:creationId xmlns:p14="http://schemas.microsoft.com/office/powerpoint/2010/main" val="181889454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65426-B63E-415E-A9F6-E0D1B124E66C}"/>
              </a:ext>
            </a:extLst>
          </p:cNvPr>
          <p:cNvSpPr>
            <a:spLocks noGrp="1"/>
          </p:cNvSpPr>
          <p:nvPr>
            <p:ph type="title"/>
          </p:nvPr>
        </p:nvSpPr>
        <p:spPr/>
        <p:txBody>
          <a:bodyPr/>
          <a:lstStyle/>
          <a:p>
            <a:r>
              <a:rPr lang="en-US" dirty="0"/>
              <a:t>Is it good to be accurate?</a:t>
            </a:r>
            <a:endParaRPr lang="he-IL" dirty="0"/>
          </a:p>
        </p:txBody>
      </p:sp>
      <p:sp>
        <p:nvSpPr>
          <p:cNvPr id="3" name="Content Placeholder 2">
            <a:extLst>
              <a:ext uri="{FF2B5EF4-FFF2-40B4-BE49-F238E27FC236}">
                <a16:creationId xmlns:a16="http://schemas.microsoft.com/office/drawing/2014/main" id="{1AB7B763-1C76-4E71-B481-8295995B4DA7}"/>
              </a:ext>
            </a:extLst>
          </p:cNvPr>
          <p:cNvSpPr>
            <a:spLocks noGrp="1"/>
          </p:cNvSpPr>
          <p:nvPr>
            <p:ph idx="1"/>
          </p:nvPr>
        </p:nvSpPr>
        <p:spPr/>
        <p:txBody>
          <a:bodyPr/>
          <a:lstStyle/>
          <a:p>
            <a:endParaRPr lang="en-US" dirty="0"/>
          </a:p>
          <a:p>
            <a:r>
              <a:rPr lang="en-US" dirty="0"/>
              <a:t>Planning fallacy: people very often underestimate the time (and cost) needed to complete a future task or project</a:t>
            </a:r>
          </a:p>
          <a:p>
            <a:endParaRPr lang="en-US" dirty="0"/>
          </a:p>
          <a:p>
            <a:r>
              <a:rPr lang="en-US" dirty="0"/>
              <a:t>Counteracting the planning fallacy:</a:t>
            </a:r>
            <a:endParaRPr lang="he-IL" dirty="0"/>
          </a:p>
        </p:txBody>
      </p:sp>
    </p:spTree>
    <p:extLst>
      <p:ext uri="{BB962C8B-B14F-4D97-AF65-F5344CB8AC3E}">
        <p14:creationId xmlns:p14="http://schemas.microsoft.com/office/powerpoint/2010/main" val="401460856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65426-B63E-415E-A9F6-E0D1B124E66C}"/>
              </a:ext>
            </a:extLst>
          </p:cNvPr>
          <p:cNvSpPr>
            <a:spLocks noGrp="1"/>
          </p:cNvSpPr>
          <p:nvPr>
            <p:ph type="title"/>
          </p:nvPr>
        </p:nvSpPr>
        <p:spPr/>
        <p:txBody>
          <a:bodyPr/>
          <a:lstStyle/>
          <a:p>
            <a:r>
              <a:rPr lang="en-US" dirty="0"/>
              <a:t>Is it good to be accurate?</a:t>
            </a:r>
            <a:endParaRPr lang="he-IL" dirty="0"/>
          </a:p>
        </p:txBody>
      </p:sp>
      <p:sp>
        <p:nvSpPr>
          <p:cNvPr id="3" name="Content Placeholder 2">
            <a:extLst>
              <a:ext uri="{FF2B5EF4-FFF2-40B4-BE49-F238E27FC236}">
                <a16:creationId xmlns:a16="http://schemas.microsoft.com/office/drawing/2014/main" id="{1AB7B763-1C76-4E71-B481-8295995B4DA7}"/>
              </a:ext>
            </a:extLst>
          </p:cNvPr>
          <p:cNvSpPr>
            <a:spLocks noGrp="1"/>
          </p:cNvSpPr>
          <p:nvPr>
            <p:ph idx="1"/>
          </p:nvPr>
        </p:nvSpPr>
        <p:spPr/>
        <p:txBody>
          <a:bodyPr/>
          <a:lstStyle/>
          <a:p>
            <a:endParaRPr lang="en-US" dirty="0"/>
          </a:p>
          <a:p>
            <a:r>
              <a:rPr lang="en-US" dirty="0"/>
              <a:t>Planning fallacy: people very often underestimate the time (and cost) needed to complete a future task or project</a:t>
            </a:r>
          </a:p>
          <a:p>
            <a:endParaRPr lang="en-US" dirty="0"/>
          </a:p>
          <a:p>
            <a:r>
              <a:rPr lang="en-US" dirty="0"/>
              <a:t>Counteracting the planning fallacy:</a:t>
            </a:r>
          </a:p>
          <a:p>
            <a:pPr lvl="1"/>
            <a:r>
              <a:rPr lang="en-US" dirty="0"/>
              <a:t>Task segmentation </a:t>
            </a:r>
            <a:endParaRPr lang="he-IL" dirty="0"/>
          </a:p>
        </p:txBody>
      </p:sp>
    </p:spTree>
    <p:extLst>
      <p:ext uri="{BB962C8B-B14F-4D97-AF65-F5344CB8AC3E}">
        <p14:creationId xmlns:p14="http://schemas.microsoft.com/office/powerpoint/2010/main" val="270098560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65426-B63E-415E-A9F6-E0D1B124E66C}"/>
              </a:ext>
            </a:extLst>
          </p:cNvPr>
          <p:cNvSpPr>
            <a:spLocks noGrp="1"/>
          </p:cNvSpPr>
          <p:nvPr>
            <p:ph type="title"/>
          </p:nvPr>
        </p:nvSpPr>
        <p:spPr/>
        <p:txBody>
          <a:bodyPr/>
          <a:lstStyle/>
          <a:p>
            <a:r>
              <a:rPr lang="en-US" dirty="0"/>
              <a:t>Is it good to be accurate?</a:t>
            </a:r>
            <a:endParaRPr lang="he-IL" dirty="0"/>
          </a:p>
        </p:txBody>
      </p:sp>
      <p:sp>
        <p:nvSpPr>
          <p:cNvPr id="3" name="Content Placeholder 2">
            <a:extLst>
              <a:ext uri="{FF2B5EF4-FFF2-40B4-BE49-F238E27FC236}">
                <a16:creationId xmlns:a16="http://schemas.microsoft.com/office/drawing/2014/main" id="{1AB7B763-1C76-4E71-B481-8295995B4DA7}"/>
              </a:ext>
            </a:extLst>
          </p:cNvPr>
          <p:cNvSpPr>
            <a:spLocks noGrp="1"/>
          </p:cNvSpPr>
          <p:nvPr>
            <p:ph idx="1"/>
          </p:nvPr>
        </p:nvSpPr>
        <p:spPr/>
        <p:txBody>
          <a:bodyPr/>
          <a:lstStyle/>
          <a:p>
            <a:endParaRPr lang="en-US" dirty="0"/>
          </a:p>
          <a:p>
            <a:r>
              <a:rPr lang="en-US" dirty="0"/>
              <a:t>Planning fallacy: people very often underestimate the time (and cost) needed to complete a future task or project</a:t>
            </a:r>
          </a:p>
          <a:p>
            <a:endParaRPr lang="en-US" dirty="0"/>
          </a:p>
          <a:p>
            <a:r>
              <a:rPr lang="en-US" dirty="0"/>
              <a:t>Counteracting the planning fallacy:</a:t>
            </a:r>
          </a:p>
          <a:p>
            <a:pPr lvl="1"/>
            <a:r>
              <a:rPr lang="en-US" dirty="0"/>
              <a:t>Task segmentation </a:t>
            </a:r>
          </a:p>
          <a:p>
            <a:pPr lvl="1"/>
            <a:r>
              <a:rPr lang="en-US" dirty="0"/>
              <a:t>Estimation based on past results of similar cases</a:t>
            </a:r>
            <a:endParaRPr lang="he-IL" dirty="0"/>
          </a:p>
        </p:txBody>
      </p:sp>
    </p:spTree>
    <p:extLst>
      <p:ext uri="{BB962C8B-B14F-4D97-AF65-F5344CB8AC3E}">
        <p14:creationId xmlns:p14="http://schemas.microsoft.com/office/powerpoint/2010/main" val="48053708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E2497-2A9A-4E80-8CE2-82328E711241}"/>
              </a:ext>
            </a:extLst>
          </p:cNvPr>
          <p:cNvSpPr>
            <a:spLocks noGrp="1"/>
          </p:cNvSpPr>
          <p:nvPr>
            <p:ph type="title"/>
          </p:nvPr>
        </p:nvSpPr>
        <p:spPr/>
        <p:txBody>
          <a:bodyPr/>
          <a:lstStyle/>
          <a:p>
            <a:r>
              <a:rPr lang="en-US" dirty="0"/>
              <a:t>Summary</a:t>
            </a:r>
            <a:endParaRPr lang="he-IL" dirty="0"/>
          </a:p>
        </p:txBody>
      </p:sp>
      <p:sp>
        <p:nvSpPr>
          <p:cNvPr id="3" name="Content Placeholder 2">
            <a:extLst>
              <a:ext uri="{FF2B5EF4-FFF2-40B4-BE49-F238E27FC236}">
                <a16:creationId xmlns:a16="http://schemas.microsoft.com/office/drawing/2014/main" id="{5587028C-94A9-4844-BFE2-36C098DD142B}"/>
              </a:ext>
            </a:extLst>
          </p:cNvPr>
          <p:cNvSpPr>
            <a:spLocks noGrp="1"/>
          </p:cNvSpPr>
          <p:nvPr>
            <p:ph idx="1"/>
          </p:nvPr>
        </p:nvSpPr>
        <p:spPr/>
        <p:txBody>
          <a:bodyPr/>
          <a:lstStyle/>
          <a:p>
            <a:r>
              <a:rPr lang="en-US" dirty="0"/>
              <a:t>Calibration: </a:t>
            </a:r>
          </a:p>
          <a:p>
            <a:pPr lvl="1"/>
            <a:r>
              <a:rPr lang="en-US" dirty="0"/>
              <a:t>People tend to be uncalibrated in estimating the probability of their own predictions (usually overconfident)</a:t>
            </a:r>
          </a:p>
          <a:p>
            <a:pPr lvl="1"/>
            <a:r>
              <a:rPr lang="en-US" dirty="0"/>
              <a:t>Dunning-Kruger effect: the less skilled someone is at a task, the more they overestimate their skill level</a:t>
            </a:r>
          </a:p>
          <a:p>
            <a:pPr lvl="1"/>
            <a:r>
              <a:rPr lang="en-US" dirty="0"/>
              <a:t>To improve your calibration, test yourself</a:t>
            </a:r>
          </a:p>
          <a:p>
            <a:endParaRPr lang="en-US" dirty="0"/>
          </a:p>
          <a:p>
            <a:r>
              <a:rPr lang="en-US" dirty="0"/>
              <a:t>Planning fallacy: we consistently underestimate the cost (time / money / effort) of our own planned projects</a:t>
            </a:r>
            <a:endParaRPr lang="he-IL" dirty="0"/>
          </a:p>
        </p:txBody>
      </p:sp>
    </p:spTree>
    <p:extLst>
      <p:ext uri="{BB962C8B-B14F-4D97-AF65-F5344CB8AC3E}">
        <p14:creationId xmlns:p14="http://schemas.microsoft.com/office/powerpoint/2010/main" val="1671235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7BD25-47AC-4ADD-802E-1634B75EA922}"/>
              </a:ext>
            </a:extLst>
          </p:cNvPr>
          <p:cNvSpPr>
            <a:spLocks noGrp="1"/>
          </p:cNvSpPr>
          <p:nvPr>
            <p:ph type="title"/>
          </p:nvPr>
        </p:nvSpPr>
        <p:spPr/>
        <p:txBody>
          <a:bodyPr/>
          <a:lstStyle/>
          <a:p>
            <a:r>
              <a:rPr lang="en-US" dirty="0"/>
              <a:t>Thursday at 17:30</a:t>
            </a:r>
            <a:endParaRPr lang="he-IL" dirty="0"/>
          </a:p>
        </p:txBody>
      </p:sp>
      <p:sp>
        <p:nvSpPr>
          <p:cNvPr id="3" name="Content Placeholder 2">
            <a:extLst>
              <a:ext uri="{FF2B5EF4-FFF2-40B4-BE49-F238E27FC236}">
                <a16:creationId xmlns:a16="http://schemas.microsoft.com/office/drawing/2014/main" id="{78CD5D9A-850D-45AA-B5C9-DF463D6A50F2}"/>
              </a:ext>
            </a:extLst>
          </p:cNvPr>
          <p:cNvSpPr>
            <a:spLocks noGrp="1"/>
          </p:cNvSpPr>
          <p:nvPr>
            <p:ph idx="1"/>
          </p:nvPr>
        </p:nvSpPr>
        <p:spPr/>
        <p:txBody>
          <a:bodyPr/>
          <a:lstStyle/>
          <a:p>
            <a:endParaRPr lang="en-US" dirty="0"/>
          </a:p>
          <a:p>
            <a:r>
              <a:rPr lang="en-US" dirty="0"/>
              <a:t>Questions about subjects we covered during the course</a:t>
            </a:r>
          </a:p>
          <a:p>
            <a:endParaRPr lang="en-US" dirty="0"/>
          </a:p>
          <a:p>
            <a:r>
              <a:rPr lang="en-US" dirty="0"/>
              <a:t>Question about the final assignment</a:t>
            </a:r>
          </a:p>
        </p:txBody>
      </p:sp>
    </p:spTree>
    <p:extLst>
      <p:ext uri="{BB962C8B-B14F-4D97-AF65-F5344CB8AC3E}">
        <p14:creationId xmlns:p14="http://schemas.microsoft.com/office/powerpoint/2010/main" val="318399997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730F1-E6D9-401C-B7C5-4A6A99901644}"/>
              </a:ext>
            </a:extLst>
          </p:cNvPr>
          <p:cNvSpPr>
            <a:spLocks noGrp="1"/>
          </p:cNvSpPr>
          <p:nvPr>
            <p:ph type="title"/>
          </p:nvPr>
        </p:nvSpPr>
        <p:spPr/>
        <p:txBody>
          <a:bodyPr/>
          <a:lstStyle/>
          <a:p>
            <a:endParaRPr lang="he-IL"/>
          </a:p>
        </p:txBody>
      </p:sp>
      <p:sp>
        <p:nvSpPr>
          <p:cNvPr id="3" name="Content Placeholder 2">
            <a:extLst>
              <a:ext uri="{FF2B5EF4-FFF2-40B4-BE49-F238E27FC236}">
                <a16:creationId xmlns:a16="http://schemas.microsoft.com/office/drawing/2014/main" id="{C73E9588-5FD1-422A-B48B-8D795568EEF0}"/>
              </a:ext>
            </a:extLst>
          </p:cNvPr>
          <p:cNvSpPr>
            <a:spLocks noGrp="1"/>
          </p:cNvSpPr>
          <p:nvPr>
            <p:ph idx="1"/>
          </p:nvPr>
        </p:nvSpPr>
        <p:spPr/>
        <p:txBody>
          <a:bodyPr/>
          <a:lstStyle/>
          <a:p>
            <a:endParaRPr lang="he-IL" dirty="0"/>
          </a:p>
        </p:txBody>
      </p:sp>
      <p:sp>
        <p:nvSpPr>
          <p:cNvPr id="4" name="Rectangle 3">
            <a:extLst>
              <a:ext uri="{FF2B5EF4-FFF2-40B4-BE49-F238E27FC236}">
                <a16:creationId xmlns:a16="http://schemas.microsoft.com/office/drawing/2014/main" id="{517F87B5-2BDF-4B5A-8E7A-707AD405ADDB}"/>
              </a:ext>
            </a:extLst>
          </p:cNvPr>
          <p:cNvSpPr/>
          <p:nvPr/>
        </p:nvSpPr>
        <p:spPr>
          <a:xfrm>
            <a:off x="3048000" y="2613392"/>
            <a:ext cx="6096000" cy="1938992"/>
          </a:xfrm>
          <a:prstGeom prst="rect">
            <a:avLst/>
          </a:prstGeom>
        </p:spPr>
        <p:txBody>
          <a:bodyPr>
            <a:spAutoFit/>
          </a:bodyPr>
          <a:lstStyle/>
          <a:p>
            <a:r>
              <a:rPr lang="en-US" sz="2400" dirty="0">
                <a:solidFill>
                  <a:srgbClr val="181818"/>
                </a:solidFill>
                <a:latin typeface="Merriweather"/>
              </a:rPr>
              <a:t>“When you are dead, you do not know you are dead. It is only painful for others.</a:t>
            </a:r>
            <a:br>
              <a:rPr lang="en-US" sz="2400" dirty="0">
                <a:solidFill>
                  <a:srgbClr val="181818"/>
                </a:solidFill>
                <a:latin typeface="Merriweather"/>
              </a:rPr>
            </a:br>
            <a:r>
              <a:rPr lang="en-US" sz="2400" dirty="0">
                <a:solidFill>
                  <a:srgbClr val="181818"/>
                </a:solidFill>
                <a:latin typeface="Merriweather"/>
              </a:rPr>
              <a:t>The same applies when you are stupid.”</a:t>
            </a:r>
            <a:br>
              <a:rPr lang="en-US" sz="2400" dirty="0">
                <a:solidFill>
                  <a:srgbClr val="181818"/>
                </a:solidFill>
                <a:latin typeface="Merriweather"/>
              </a:rPr>
            </a:br>
            <a:endParaRPr lang="en-US" sz="2400" dirty="0">
              <a:solidFill>
                <a:srgbClr val="181818"/>
              </a:solidFill>
              <a:latin typeface="Merriweather"/>
            </a:endParaRPr>
          </a:p>
          <a:p>
            <a:r>
              <a:rPr lang="en-US" sz="2400" dirty="0">
                <a:solidFill>
                  <a:srgbClr val="181818"/>
                </a:solidFill>
                <a:latin typeface="Merriweather"/>
              </a:rPr>
              <a:t>― </a:t>
            </a:r>
            <a:r>
              <a:rPr lang="en-US" sz="2400" b="1" dirty="0">
                <a:solidFill>
                  <a:srgbClr val="333333"/>
                </a:solidFill>
                <a:latin typeface="Lato"/>
              </a:rPr>
              <a:t>Ricky Gervais</a:t>
            </a:r>
            <a:endParaRPr lang="he-IL" sz="2400" dirty="0"/>
          </a:p>
        </p:txBody>
      </p:sp>
    </p:spTree>
    <p:extLst>
      <p:ext uri="{BB962C8B-B14F-4D97-AF65-F5344CB8AC3E}">
        <p14:creationId xmlns:p14="http://schemas.microsoft.com/office/powerpoint/2010/main" val="9138298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6215</TotalTime>
  <Words>4016</Words>
  <Application>Microsoft Office PowerPoint</Application>
  <PresentationFormat>Widescreen</PresentationFormat>
  <Paragraphs>591</Paragraphs>
  <Slides>96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96</vt:i4>
      </vt:variant>
    </vt:vector>
  </HeadingPairs>
  <TitlesOfParts>
    <vt:vector size="102" baseType="lpstr">
      <vt:lpstr>Arial</vt:lpstr>
      <vt:lpstr>Calibri</vt:lpstr>
      <vt:lpstr>Cambria Math</vt:lpstr>
      <vt:lpstr>Lato</vt:lpstr>
      <vt:lpstr>Merriweather</vt:lpstr>
      <vt:lpstr>Office Theme</vt:lpstr>
      <vt:lpstr>PowerPoint Presentation</vt:lpstr>
      <vt:lpstr>Critical Thinking</vt:lpstr>
      <vt:lpstr>Last week: confirmation bias</vt:lpstr>
      <vt:lpstr>Last week: confirmation bias</vt:lpstr>
      <vt:lpstr>Last week: confirmation bias</vt:lpstr>
      <vt:lpstr>Last week: confirmation bias</vt:lpstr>
      <vt:lpstr>Belief perseverance</vt:lpstr>
      <vt:lpstr>Belief perseverance</vt:lpstr>
      <vt:lpstr>Primacy effect</vt:lpstr>
      <vt:lpstr>Primacy effect</vt:lpstr>
      <vt:lpstr>Primacy effect</vt:lpstr>
      <vt:lpstr>Attitude polarization</vt:lpstr>
      <vt:lpstr>Attitude polarization</vt:lpstr>
      <vt:lpstr>A course in knowing about thinking</vt:lpstr>
      <vt:lpstr>A course in knowing about thinking</vt:lpstr>
      <vt:lpstr>A course in knowing about thinking</vt:lpstr>
      <vt:lpstr>A course in knowing about thinking</vt:lpstr>
      <vt:lpstr>Evaluating our own conclusions</vt:lpstr>
      <vt:lpstr>Evaluating our own conclusions</vt:lpstr>
      <vt:lpstr>Calibration graphs</vt:lpstr>
      <vt:lpstr>Calibration graphs</vt:lpstr>
      <vt:lpstr>Calibration graphs</vt:lpstr>
      <vt:lpstr>Calibration graphs</vt:lpstr>
      <vt:lpstr>Calibration graphs</vt:lpstr>
      <vt:lpstr>Calibration graphs</vt:lpstr>
      <vt:lpstr>Calibration graphs</vt:lpstr>
      <vt:lpstr>Calibration graphs</vt:lpstr>
      <vt:lpstr>Calibration graphs</vt:lpstr>
      <vt:lpstr>Evaluating our own conclusions</vt:lpstr>
      <vt:lpstr>Evaluating our own conclusions</vt:lpstr>
      <vt:lpstr>Evaluating our own conclusions</vt:lpstr>
      <vt:lpstr>Evaluating our own conclusions</vt:lpstr>
      <vt:lpstr>Evaluating our own conclusions</vt:lpstr>
      <vt:lpstr>Evaluating our own conclusions</vt:lpstr>
      <vt:lpstr>Evaluating our own conclusions</vt:lpstr>
      <vt:lpstr>Evaluating our own conclusions</vt:lpstr>
      <vt:lpstr>Evaluating our own conclusions</vt:lpstr>
      <vt:lpstr>Evaluating our own conclusions</vt:lpstr>
      <vt:lpstr>Evaluating our own conclusions</vt:lpstr>
      <vt:lpstr>Evaluating our own conclusions</vt:lpstr>
      <vt:lpstr>Evaluating our own conclusions</vt:lpstr>
      <vt:lpstr>Dunning–Kruger effect</vt:lpstr>
      <vt:lpstr>Dunning–Kruger effect</vt:lpstr>
      <vt:lpstr>Dunning–Kruger effect</vt:lpstr>
      <vt:lpstr>Dunning–Kruger effect</vt:lpstr>
      <vt:lpstr>Dunning–Kruger effect</vt:lpstr>
      <vt:lpstr>Dunning–Kruger effect</vt:lpstr>
      <vt:lpstr>Dunning–Kruger effect</vt:lpstr>
      <vt:lpstr>Not Dunning–Kruger effect</vt:lpstr>
      <vt:lpstr>Why is it hard to know when we don’t know?</vt:lpstr>
      <vt:lpstr>Why is it hard to know when we don’t know?</vt:lpstr>
      <vt:lpstr>Why is it hard to know when we don’t know?</vt:lpstr>
      <vt:lpstr>Why is it hard to know when we don’t know?</vt:lpstr>
      <vt:lpstr>Why is it hard to know when we don’t know?</vt:lpstr>
      <vt:lpstr>Why is it hard to know when we don’t know?</vt:lpstr>
      <vt:lpstr>Why is it hard to know when we don’t know?</vt:lpstr>
      <vt:lpstr>Why is it hard to know when we don’t know?</vt:lpstr>
      <vt:lpstr>Why is it hard to know when we don’t know?</vt:lpstr>
      <vt:lpstr>Why is it hard to know when we don’t know?</vt:lpstr>
      <vt:lpstr>Why is it hard to know when we don’t know?</vt:lpstr>
      <vt:lpstr>Why is it hard to know when we don’t know?</vt:lpstr>
      <vt:lpstr>Why is it hard to know when we don’t know?</vt:lpstr>
      <vt:lpstr>Why is it hard to know when we don’t know?</vt:lpstr>
      <vt:lpstr>Why is it hard to know when we don’t know?</vt:lpstr>
      <vt:lpstr>Why is it hard to know when we don’t know?</vt:lpstr>
      <vt:lpstr>Why is it hard to know when we don’t know?</vt:lpstr>
      <vt:lpstr>Why is it hard to know when we don’t know?</vt:lpstr>
      <vt:lpstr>Why is it hard to know when we don’t know?</vt:lpstr>
      <vt:lpstr>Why is it hard to know when we don’t know?</vt:lpstr>
      <vt:lpstr>Learn to know what you know</vt:lpstr>
      <vt:lpstr>Learn to know what you know</vt:lpstr>
      <vt:lpstr>Learn to know what you know</vt:lpstr>
      <vt:lpstr>Is it good to be accurate?</vt:lpstr>
      <vt:lpstr>Is it good to be accurate?</vt:lpstr>
      <vt:lpstr>Is it good to be accurate?</vt:lpstr>
      <vt:lpstr>Is it good to be accurate?</vt:lpstr>
      <vt:lpstr>Is it good to be accurate?</vt:lpstr>
      <vt:lpstr>Is it good to be accurate?</vt:lpstr>
      <vt:lpstr>Is it good to be accurate?</vt:lpstr>
      <vt:lpstr>Is it good to be accurate?</vt:lpstr>
      <vt:lpstr>Is it good to be accurate?</vt:lpstr>
      <vt:lpstr>Is it good to be accurate?</vt:lpstr>
      <vt:lpstr>Is it good to be accurate?</vt:lpstr>
      <vt:lpstr>Is it good to be accurate?</vt:lpstr>
      <vt:lpstr>Is it good to be accurate?</vt:lpstr>
      <vt:lpstr>Is it good to be accurate?</vt:lpstr>
      <vt:lpstr>Is it good to be accurate?</vt:lpstr>
      <vt:lpstr>Is it good to be accurate?</vt:lpstr>
      <vt:lpstr>Is it good to be accurate?</vt:lpstr>
      <vt:lpstr>Is it good to be accurate?</vt:lpstr>
      <vt:lpstr>Is it good to be accurate?</vt:lpstr>
      <vt:lpstr>Is it good to be accurate?</vt:lpstr>
      <vt:lpstr>Is it good to be accurate?</vt:lpstr>
      <vt:lpstr>Summary</vt:lpstr>
      <vt:lpstr>Thursday at 17:30</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Owner</dc:creator>
  <cp:lastModifiedBy>Asael Sklar</cp:lastModifiedBy>
  <cp:revision>371</cp:revision>
  <dcterms:created xsi:type="dcterms:W3CDTF">2023-03-14T09:27:11Z</dcterms:created>
  <dcterms:modified xsi:type="dcterms:W3CDTF">2024-06-16T09:05:31Z</dcterms:modified>
</cp:coreProperties>
</file>